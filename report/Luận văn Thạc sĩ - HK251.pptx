
<file path=[Content_Types].xml><?xml version="1.0" encoding="utf-8"?>
<Types xmlns="http://schemas.openxmlformats.org/package/2006/content-types">
  <Default ContentType="application/vnd.openxmlformats-officedocument.oleObject" Extension="bin"/>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slide+xml" PartName="/ppt/slides/slide29.xml"/>
  <Override ContentType="application/vnd.openxmlformats-officedocument.presentationml.slide+xml" PartName="/ppt/slides/slide30.xml"/>
  <Override ContentType="application/vnd.openxmlformats-officedocument.presentationml.slide+xml" PartName="/ppt/slides/slide31.xml"/>
  <Override ContentType="application/vnd.openxmlformats-officedocument.presentationml.slide+xml" PartName="/ppt/slides/slide32.xml"/>
  <Override ContentType="application/vnd.openxmlformats-officedocument.presentationml.slide+xml" PartName="/ppt/slides/slide33.xml"/>
  <Override ContentType="application/vnd.openxmlformats-officedocument.presentationml.slide+xml" PartName="/ppt/slides/slide34.xml"/>
  <Override ContentType="application/vnd.openxmlformats-officedocument.presentationml.slide+xml" PartName="/ppt/slides/slide35.xml"/>
  <Override ContentType="application/vnd.openxmlformats-officedocument.presentationml.slide+xml" PartName="/ppt/slides/slide36.xml"/>
  <Override ContentType="application/vnd.openxmlformats-officedocument.presentationml.slide+xml" PartName="/ppt/slides/slide37.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Lst>
  <p:sldSz cx="18288000" cy="10287000"/>
  <p:notesSz cx="6858000" cy="9144000"/>
  <p:embeddedFontLst>
    <p:embeddedFont>
      <p:font typeface="Roboto Bold" charset="1" panose="02000000000000000000"/>
      <p:regular r:id="rId43"/>
    </p:embeddedFont>
    <p:embeddedFont>
      <p:font typeface="Roboto" charset="1" panose="02000000000000000000"/>
      <p:regular r:id="rId44"/>
    </p:embeddedFont>
    <p:embeddedFont>
      <p:font typeface="Canva Sans" charset="1" panose="020B0503030501040103"/>
      <p:regular r:id="rId4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slides/slide26.xml" Type="http://schemas.openxmlformats.org/officeDocument/2006/relationships/slide"/><Relationship Id="rId32" Target="slides/slide27.xml" Type="http://schemas.openxmlformats.org/officeDocument/2006/relationships/slide"/><Relationship Id="rId33" Target="slides/slide28.xml" Type="http://schemas.openxmlformats.org/officeDocument/2006/relationships/slide"/><Relationship Id="rId34" Target="slides/slide29.xml" Type="http://schemas.openxmlformats.org/officeDocument/2006/relationships/slide"/><Relationship Id="rId35" Target="slides/slide30.xml" Type="http://schemas.openxmlformats.org/officeDocument/2006/relationships/slide"/><Relationship Id="rId36" Target="slides/slide31.xml" Type="http://schemas.openxmlformats.org/officeDocument/2006/relationships/slide"/><Relationship Id="rId37" Target="slides/slide32.xml" Type="http://schemas.openxmlformats.org/officeDocument/2006/relationships/slide"/><Relationship Id="rId38" Target="slides/slide33.xml" Type="http://schemas.openxmlformats.org/officeDocument/2006/relationships/slide"/><Relationship Id="rId39" Target="slides/slide34.xml" Type="http://schemas.openxmlformats.org/officeDocument/2006/relationships/slide"/><Relationship Id="rId4" Target="theme/theme1.xml" Type="http://schemas.openxmlformats.org/officeDocument/2006/relationships/theme"/><Relationship Id="rId40" Target="slides/slide35.xml" Type="http://schemas.openxmlformats.org/officeDocument/2006/relationships/slide"/><Relationship Id="rId41" Target="slides/slide36.xml" Type="http://schemas.openxmlformats.org/officeDocument/2006/relationships/slide"/><Relationship Id="rId42" Target="slides/slide37.xml" Type="http://schemas.openxmlformats.org/officeDocument/2006/relationships/slide"/><Relationship Id="rId43" Target="fonts/font43.fntdata" Type="http://schemas.openxmlformats.org/officeDocument/2006/relationships/font"/><Relationship Id="rId44" Target="fonts/font44.fntdata" Type="http://schemas.openxmlformats.org/officeDocument/2006/relationships/font"/><Relationship Id="rId45" Target="fonts/font45.fntdata" Type="http://schemas.openxmlformats.org/officeDocument/2006/relationships/font"/><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 Id="rId4" Target="../media/image3.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 Id="rId3" Target="../media/image7.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9.svg" Type="http://schemas.openxmlformats.org/officeDocument/2006/relationships/image"/><Relationship Id="rId4" Target="../media/image10.png" Type="http://schemas.openxmlformats.org/officeDocument/2006/relationships/image"/><Relationship Id="rId5" Target="../media/image11.svg" Type="http://schemas.openxmlformats.org/officeDocument/2006/relationships/image"/><Relationship Id="rId6" Target="../media/image12.png" Type="http://schemas.openxmlformats.org/officeDocument/2006/relationships/image"/><Relationship Id="rId7" Target="../media/image13.svg" Type="http://schemas.openxmlformats.org/officeDocument/2006/relationships/image"/><Relationship Id="rId8" Target="../media/image14.png" Type="http://schemas.openxmlformats.org/officeDocument/2006/relationships/image"/><Relationship Id="rId9" Target="../media/image15.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6.png" Type="http://schemas.openxmlformats.org/officeDocument/2006/relationships/image"/><Relationship Id="rId3" Target="../embeddings/oleObject1.bin" Type="http://schemas.openxmlformats.org/officeDocument/2006/relationships/oleObject"/></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7.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8.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9.png" Type="http://schemas.openxmlformats.org/officeDocument/2006/relationships/image"/><Relationship Id="rId3" Target="../media/image20.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1.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2.png" Type="http://schemas.openxmlformats.org/officeDocument/2006/relationships/image"/><Relationship Id="rId3" Target="../embeddings/oleObject2.bin" Type="http://schemas.openxmlformats.org/officeDocument/2006/relationships/oleObject"/></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3.png" Type="http://schemas.openxmlformats.org/officeDocument/2006/relationships/image"/><Relationship Id="rId3" Target="../media/image24.pn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5.png" Type="http://schemas.openxmlformats.org/officeDocument/2006/relationships/image"/><Relationship Id="rId3" Target="../media/image26.pn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7.png" Type="http://schemas.openxmlformats.org/officeDocument/2006/relationships/image"/><Relationship Id="rId3" Target="../embeddings/oleObject3.bin" Type="http://schemas.openxmlformats.org/officeDocument/2006/relationships/oleObject"/></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8.png" Type="http://schemas.openxmlformats.org/officeDocument/2006/relationships/image"/></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9.png" Type="http://schemas.openxmlformats.org/officeDocument/2006/relationships/image"/><Relationship Id="rId3" Target="../media/image30.png" Type="http://schemas.openxmlformats.org/officeDocument/2006/relationships/image"/></Relationships>
</file>

<file path=ppt/slides/_rels/slide2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1.png" Type="http://schemas.openxmlformats.org/officeDocument/2006/relationships/image"/><Relationship Id="rId3" Target="../media/image32.png" Type="http://schemas.openxmlformats.org/officeDocument/2006/relationships/image"/></Relationships>
</file>

<file path=ppt/slides/_rels/slide2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3.png" Type="http://schemas.openxmlformats.org/officeDocument/2006/relationships/image"/><Relationship Id="rId3" Target="../media/image34.png" Type="http://schemas.openxmlformats.org/officeDocument/2006/relationships/image"/><Relationship Id="rId4" Target="../media/image35.png" Type="http://schemas.openxmlformats.org/officeDocument/2006/relationships/image"/></Relationships>
</file>

<file path=ppt/slides/_rels/slide3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6.png" Type="http://schemas.openxmlformats.org/officeDocument/2006/relationships/image"/><Relationship Id="rId3" Target="../media/image37.png" Type="http://schemas.openxmlformats.org/officeDocument/2006/relationships/image"/></Relationships>
</file>

<file path=ppt/slides/_rels/slide3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8.png" Type="http://schemas.openxmlformats.org/officeDocument/2006/relationships/image"/><Relationship Id="rId3" Target="../media/image39.png" Type="http://schemas.openxmlformats.org/officeDocument/2006/relationships/image"/></Relationships>
</file>

<file path=ppt/slides/_rels/slide3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0.png" Type="http://schemas.openxmlformats.org/officeDocument/2006/relationships/image"/><Relationship Id="rId3" Target="../media/image41.png" Type="http://schemas.openxmlformats.org/officeDocument/2006/relationships/image"/><Relationship Id="rId4" Target="../media/image42.png" Type="http://schemas.openxmlformats.org/officeDocument/2006/relationships/image"/></Relationships>
</file>

<file path=ppt/slides/_rels/slide3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3.png" Type="http://schemas.openxmlformats.org/officeDocument/2006/relationships/image"/><Relationship Id="rId3" Target="../media/image44.png" Type="http://schemas.openxmlformats.org/officeDocument/2006/relationships/image"/><Relationship Id="rId4" Target="../media/image45.png" Type="http://schemas.openxmlformats.org/officeDocument/2006/relationships/image"/></Relationships>
</file>

<file path=ppt/slides/_rels/slide3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6.png" Type="http://schemas.openxmlformats.org/officeDocument/2006/relationships/image"/></Relationships>
</file>

<file path=ppt/slides/_rels/slide3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7.jpeg" Type="http://schemas.openxmlformats.org/officeDocument/2006/relationships/image"/><Relationship Id="rId3" Target="https://youtu.be/4EW6mPyeZ2I" TargetMode="External" Type="http://schemas.openxmlformats.org/officeDocument/2006/relationships/video"/></Relationships>
</file>

<file path=ppt/slides/_rels/slide36.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3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56.png" Type="http://schemas.openxmlformats.org/officeDocument/2006/relationships/image"/><Relationship Id="rId11" Target="../media/image57.svg" Type="http://schemas.openxmlformats.org/officeDocument/2006/relationships/image"/><Relationship Id="rId12" Target="../media/image58.png" Type="http://schemas.openxmlformats.org/officeDocument/2006/relationships/image"/><Relationship Id="rId13" Target="../media/image59.svg" Type="http://schemas.openxmlformats.org/officeDocument/2006/relationships/image"/><Relationship Id="rId14" Target="../media/image60.png" Type="http://schemas.openxmlformats.org/officeDocument/2006/relationships/image"/><Relationship Id="rId15" Target="../media/image61.svg" Type="http://schemas.openxmlformats.org/officeDocument/2006/relationships/image"/><Relationship Id="rId16" Target="../media/image62.png" Type="http://schemas.openxmlformats.org/officeDocument/2006/relationships/image"/><Relationship Id="rId17" Target="../media/image63.svg" Type="http://schemas.openxmlformats.org/officeDocument/2006/relationships/image"/><Relationship Id="rId18" Target="../media/image64.png" Type="http://schemas.openxmlformats.org/officeDocument/2006/relationships/image"/><Relationship Id="rId19" Target="../media/image65.svg" Type="http://schemas.openxmlformats.org/officeDocument/2006/relationships/image"/><Relationship Id="rId2" Target="../media/image48.png" Type="http://schemas.openxmlformats.org/officeDocument/2006/relationships/image"/><Relationship Id="rId20" Target="../media/image66.png" Type="http://schemas.openxmlformats.org/officeDocument/2006/relationships/image"/><Relationship Id="rId21" Target="../media/image67.svg" Type="http://schemas.openxmlformats.org/officeDocument/2006/relationships/image"/><Relationship Id="rId22" Target="../media/image68.png" Type="http://schemas.openxmlformats.org/officeDocument/2006/relationships/image"/><Relationship Id="rId23" Target="../media/image69.svg" Type="http://schemas.openxmlformats.org/officeDocument/2006/relationships/image"/><Relationship Id="rId24" Target="../media/image70.png" Type="http://schemas.openxmlformats.org/officeDocument/2006/relationships/image"/><Relationship Id="rId25" Target="../media/image71.svg" Type="http://schemas.openxmlformats.org/officeDocument/2006/relationships/image"/><Relationship Id="rId26" Target="../media/image72.png" Type="http://schemas.openxmlformats.org/officeDocument/2006/relationships/image"/><Relationship Id="rId27" Target="../media/image73.svg" Type="http://schemas.openxmlformats.org/officeDocument/2006/relationships/image"/><Relationship Id="rId28" Target="../media/image74.png" Type="http://schemas.openxmlformats.org/officeDocument/2006/relationships/image"/><Relationship Id="rId29" Target="../media/image75.svg" Type="http://schemas.openxmlformats.org/officeDocument/2006/relationships/image"/><Relationship Id="rId3" Target="../media/image49.svg" Type="http://schemas.openxmlformats.org/officeDocument/2006/relationships/image"/><Relationship Id="rId30" Target="../media/image76.png" Type="http://schemas.openxmlformats.org/officeDocument/2006/relationships/image"/><Relationship Id="rId31" Target="../media/image77.svg" Type="http://schemas.openxmlformats.org/officeDocument/2006/relationships/image"/><Relationship Id="rId32" Target="../media/image78.png" Type="http://schemas.openxmlformats.org/officeDocument/2006/relationships/image"/><Relationship Id="rId33" Target="../media/image79.svg" Type="http://schemas.openxmlformats.org/officeDocument/2006/relationships/image"/><Relationship Id="rId34" Target="../media/image80.png" Type="http://schemas.openxmlformats.org/officeDocument/2006/relationships/image"/><Relationship Id="rId35" Target="../media/image81.svg" Type="http://schemas.openxmlformats.org/officeDocument/2006/relationships/image"/><Relationship Id="rId36" Target="../media/image82.png" Type="http://schemas.openxmlformats.org/officeDocument/2006/relationships/image"/><Relationship Id="rId37" Target="../media/image83.svg" Type="http://schemas.openxmlformats.org/officeDocument/2006/relationships/image"/><Relationship Id="rId4" Target="../media/image50.png" Type="http://schemas.openxmlformats.org/officeDocument/2006/relationships/image"/><Relationship Id="rId5" Target="../media/image51.svg" Type="http://schemas.openxmlformats.org/officeDocument/2006/relationships/image"/><Relationship Id="rId6" Target="../media/image52.png" Type="http://schemas.openxmlformats.org/officeDocument/2006/relationships/image"/><Relationship Id="rId7" Target="../media/image53.svg" Type="http://schemas.openxmlformats.org/officeDocument/2006/relationships/image"/><Relationship Id="rId8" Target="../media/image54.png" Type="http://schemas.openxmlformats.org/officeDocument/2006/relationships/image"/><Relationship Id="rId9" Target="../media/image55.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true" flipV="false" rot="0">
            <a:off x="-962015" y="-971676"/>
            <a:ext cx="6478833" cy="7353277"/>
          </a:xfrm>
          <a:custGeom>
            <a:avLst/>
            <a:gdLst/>
            <a:ahLst/>
            <a:cxnLst/>
            <a:rect r="r" b="b" t="t" l="l"/>
            <a:pathLst>
              <a:path h="7353277" w="6478833">
                <a:moveTo>
                  <a:pt x="6478833" y="0"/>
                </a:moveTo>
                <a:lnTo>
                  <a:pt x="0" y="0"/>
                </a:lnTo>
                <a:lnTo>
                  <a:pt x="0" y="7353277"/>
                </a:lnTo>
                <a:lnTo>
                  <a:pt x="6478833" y="7353277"/>
                </a:lnTo>
                <a:lnTo>
                  <a:pt x="6478833" y="0"/>
                </a:lnTo>
                <a:close/>
              </a:path>
            </a:pathLst>
          </a:custGeom>
          <a:blipFill>
            <a:blip r:embed="rId2"/>
            <a:stretch>
              <a:fillRect l="0" t="0" r="0" b="0"/>
            </a:stretch>
          </a:blipFill>
        </p:spPr>
      </p:sp>
      <p:sp>
        <p:nvSpPr>
          <p:cNvPr name="Freeform 3" id="3"/>
          <p:cNvSpPr/>
          <p:nvPr/>
        </p:nvSpPr>
        <p:spPr>
          <a:xfrm flipH="true" flipV="false" rot="0">
            <a:off x="12097896" y="3215619"/>
            <a:ext cx="7129077" cy="7109862"/>
          </a:xfrm>
          <a:custGeom>
            <a:avLst/>
            <a:gdLst/>
            <a:ahLst/>
            <a:cxnLst/>
            <a:rect r="r" b="b" t="t" l="l"/>
            <a:pathLst>
              <a:path h="7109862" w="7129077">
                <a:moveTo>
                  <a:pt x="7129077" y="0"/>
                </a:moveTo>
                <a:lnTo>
                  <a:pt x="0" y="0"/>
                </a:lnTo>
                <a:lnTo>
                  <a:pt x="0" y="7109861"/>
                </a:lnTo>
                <a:lnTo>
                  <a:pt x="7129077" y="7109861"/>
                </a:lnTo>
                <a:lnTo>
                  <a:pt x="7129077" y="0"/>
                </a:lnTo>
                <a:close/>
              </a:path>
            </a:pathLst>
          </a:custGeom>
          <a:blipFill>
            <a:blip r:embed="rId3"/>
            <a:stretch>
              <a:fillRect l="0" t="0" r="0" b="0"/>
            </a:stretch>
          </a:blipFill>
        </p:spPr>
      </p:sp>
      <p:sp>
        <p:nvSpPr>
          <p:cNvPr name="Freeform 4" id="4"/>
          <p:cNvSpPr/>
          <p:nvPr/>
        </p:nvSpPr>
        <p:spPr>
          <a:xfrm flipH="false" flipV="false" rot="0">
            <a:off x="15098325" y="595939"/>
            <a:ext cx="1522114" cy="1537335"/>
          </a:xfrm>
          <a:custGeom>
            <a:avLst/>
            <a:gdLst/>
            <a:ahLst/>
            <a:cxnLst/>
            <a:rect r="r" b="b" t="t" l="l"/>
            <a:pathLst>
              <a:path h="1537335" w="1522114">
                <a:moveTo>
                  <a:pt x="0" y="0"/>
                </a:moveTo>
                <a:lnTo>
                  <a:pt x="1522113" y="0"/>
                </a:lnTo>
                <a:lnTo>
                  <a:pt x="1522113" y="1537335"/>
                </a:lnTo>
                <a:lnTo>
                  <a:pt x="0" y="1537335"/>
                </a:lnTo>
                <a:lnTo>
                  <a:pt x="0" y="0"/>
                </a:lnTo>
                <a:close/>
              </a:path>
            </a:pathLst>
          </a:custGeom>
          <a:blipFill>
            <a:blip r:embed="rId4"/>
            <a:stretch>
              <a:fillRect l="0" t="0" r="0" b="0"/>
            </a:stretch>
          </a:blipFill>
        </p:spPr>
      </p:sp>
      <p:sp>
        <p:nvSpPr>
          <p:cNvPr name="TextBox 5" id="5"/>
          <p:cNvSpPr txBox="true"/>
          <p:nvPr/>
        </p:nvSpPr>
        <p:spPr>
          <a:xfrm rot="0">
            <a:off x="5260882" y="510214"/>
            <a:ext cx="8028186" cy="1623060"/>
          </a:xfrm>
          <a:prstGeom prst="rect">
            <a:avLst/>
          </a:prstGeom>
        </p:spPr>
        <p:txBody>
          <a:bodyPr anchor="t" rtlCol="false" tIns="0" lIns="0" bIns="0" rIns="0">
            <a:spAutoFit/>
          </a:bodyPr>
          <a:lstStyle/>
          <a:p>
            <a:pPr algn="ctr">
              <a:lnSpc>
                <a:spcPts val="4320"/>
              </a:lnSpc>
              <a:spcBef>
                <a:spcPct val="0"/>
              </a:spcBef>
            </a:pPr>
            <a:r>
              <a:rPr lang="en-US" b="true" sz="3000">
                <a:solidFill>
                  <a:srgbClr val="1025A1"/>
                </a:solidFill>
                <a:latin typeface="Roboto Bold"/>
                <a:ea typeface="Roboto Bold"/>
                <a:cs typeface="Roboto Bold"/>
                <a:sym typeface="Roboto Bold"/>
              </a:rPr>
              <a:t>ĐẠI HỌC QUỐC GIA THÀ</a:t>
            </a:r>
            <a:r>
              <a:rPr lang="en-US" b="true" sz="3000">
                <a:solidFill>
                  <a:srgbClr val="1025A1"/>
                </a:solidFill>
                <a:latin typeface="Roboto Bold"/>
                <a:ea typeface="Roboto Bold"/>
                <a:cs typeface="Roboto Bold"/>
                <a:sym typeface="Roboto Bold"/>
              </a:rPr>
              <a:t>NH PHỐ HỒ CHÍ MINH</a:t>
            </a:r>
          </a:p>
          <a:p>
            <a:pPr algn="ctr">
              <a:lnSpc>
                <a:spcPts val="4320"/>
              </a:lnSpc>
              <a:spcBef>
                <a:spcPct val="0"/>
              </a:spcBef>
            </a:pPr>
            <a:r>
              <a:rPr lang="en-US" b="true" sz="3000">
                <a:solidFill>
                  <a:srgbClr val="1025A1"/>
                </a:solidFill>
                <a:latin typeface="Roboto Bold"/>
                <a:ea typeface="Roboto Bold"/>
                <a:cs typeface="Roboto Bold"/>
                <a:sym typeface="Roboto Bold"/>
              </a:rPr>
              <a:t>TRƯỜNG ĐẠI HỌC BÁCH KHOA</a:t>
            </a:r>
          </a:p>
          <a:p>
            <a:pPr algn="ctr">
              <a:lnSpc>
                <a:spcPts val="4320"/>
              </a:lnSpc>
              <a:spcBef>
                <a:spcPct val="0"/>
              </a:spcBef>
            </a:pPr>
            <a:r>
              <a:rPr lang="en-US" b="true" sz="3000">
                <a:solidFill>
                  <a:srgbClr val="1025A1"/>
                </a:solidFill>
                <a:latin typeface="Roboto Bold"/>
                <a:ea typeface="Roboto Bold"/>
                <a:cs typeface="Roboto Bold"/>
                <a:sym typeface="Roboto Bold"/>
              </a:rPr>
              <a:t>KHOA KHOA HỌC VÀ KỸ THUẬT MÁY TÍNH</a:t>
            </a:r>
          </a:p>
        </p:txBody>
      </p:sp>
      <p:sp>
        <p:nvSpPr>
          <p:cNvPr name="TextBox 6" id="6"/>
          <p:cNvSpPr txBox="true"/>
          <p:nvPr/>
        </p:nvSpPr>
        <p:spPr>
          <a:xfrm rot="0">
            <a:off x="4365348" y="4220840"/>
            <a:ext cx="9557305" cy="2381250"/>
          </a:xfrm>
          <a:prstGeom prst="rect">
            <a:avLst/>
          </a:prstGeom>
        </p:spPr>
        <p:txBody>
          <a:bodyPr anchor="t" rtlCol="false" tIns="0" lIns="0" bIns="0" rIns="0">
            <a:spAutoFit/>
          </a:bodyPr>
          <a:lstStyle/>
          <a:p>
            <a:pPr algn="ctr">
              <a:lnSpc>
                <a:spcPts val="6299"/>
              </a:lnSpc>
            </a:pPr>
            <a:r>
              <a:rPr lang="en-US" b="true" sz="4500">
                <a:solidFill>
                  <a:srgbClr val="1488DB"/>
                </a:solidFill>
                <a:latin typeface="Roboto Bold"/>
                <a:ea typeface="Roboto Bold"/>
                <a:cs typeface="Roboto Bold"/>
                <a:sym typeface="Roboto Bold"/>
              </a:rPr>
              <a:t>XÂY DỰNG HỆ THỐNG CHĂM SÓC</a:t>
            </a:r>
          </a:p>
          <a:p>
            <a:pPr algn="ctr">
              <a:lnSpc>
                <a:spcPts val="6299"/>
              </a:lnSpc>
            </a:pPr>
            <a:r>
              <a:rPr lang="en-US" b="true" sz="4500">
                <a:solidFill>
                  <a:srgbClr val="1488DB"/>
                </a:solidFill>
                <a:latin typeface="Roboto Bold"/>
                <a:ea typeface="Roboto Bold"/>
                <a:cs typeface="Roboto Bold"/>
                <a:sym typeface="Roboto Bold"/>
              </a:rPr>
              <a:t>SỨC KHOẺ ĐIỆN TỬ VỚI THIẾT BỊ</a:t>
            </a:r>
          </a:p>
          <a:p>
            <a:pPr algn="ctr">
              <a:lnSpc>
                <a:spcPts val="6299"/>
              </a:lnSpc>
              <a:spcBef>
                <a:spcPct val="0"/>
              </a:spcBef>
            </a:pPr>
            <a:r>
              <a:rPr lang="en-US" b="true" sz="4500">
                <a:solidFill>
                  <a:srgbClr val="1488DB"/>
                </a:solidFill>
                <a:latin typeface="Roboto Bold"/>
                <a:ea typeface="Roboto Bold"/>
                <a:cs typeface="Roboto Bold"/>
                <a:sym typeface="Roboto Bold"/>
              </a:rPr>
              <a:t>THEO DÕI SỨC KHOẺ THÔNG MINH</a:t>
            </a:r>
          </a:p>
        </p:txBody>
      </p:sp>
      <p:sp>
        <p:nvSpPr>
          <p:cNvPr name="TextBox 7" id="7"/>
          <p:cNvSpPr txBox="true"/>
          <p:nvPr/>
        </p:nvSpPr>
        <p:spPr>
          <a:xfrm rot="0">
            <a:off x="5933384" y="7630790"/>
            <a:ext cx="6421233" cy="860425"/>
          </a:xfrm>
          <a:prstGeom prst="rect">
            <a:avLst/>
          </a:prstGeom>
        </p:spPr>
        <p:txBody>
          <a:bodyPr anchor="t" rtlCol="false" tIns="0" lIns="0" bIns="0" rIns="0">
            <a:spAutoFit/>
          </a:bodyPr>
          <a:lstStyle/>
          <a:p>
            <a:pPr algn="ctr">
              <a:lnSpc>
                <a:spcPts val="3499"/>
              </a:lnSpc>
            </a:pPr>
            <a:r>
              <a:rPr lang="en-US" b="true" sz="2499">
                <a:solidFill>
                  <a:srgbClr val="000000"/>
                </a:solidFill>
                <a:latin typeface="Roboto Bold"/>
                <a:ea typeface="Roboto Bold"/>
                <a:cs typeface="Roboto Bold"/>
                <a:sym typeface="Roboto Bold"/>
              </a:rPr>
              <a:t> Giảng viên Hướng dẫn: </a:t>
            </a:r>
            <a:r>
              <a:rPr lang="en-US" sz="2499">
                <a:solidFill>
                  <a:srgbClr val="000000"/>
                </a:solidFill>
                <a:latin typeface="Roboto"/>
                <a:ea typeface="Roboto"/>
                <a:cs typeface="Roboto"/>
                <a:sym typeface="Roboto"/>
              </a:rPr>
              <a:t>TS. Lê Trọng Nhân </a:t>
            </a:r>
          </a:p>
          <a:p>
            <a:pPr algn="ctr">
              <a:lnSpc>
                <a:spcPts val="3499"/>
              </a:lnSpc>
              <a:spcBef>
                <a:spcPct val="0"/>
              </a:spcBef>
            </a:pPr>
            <a:r>
              <a:rPr lang="en-US" b="true" sz="2499">
                <a:solidFill>
                  <a:srgbClr val="000000"/>
                </a:solidFill>
                <a:latin typeface="Roboto Bold"/>
                <a:ea typeface="Roboto Bold"/>
                <a:cs typeface="Roboto Bold"/>
                <a:sym typeface="Roboto Bold"/>
              </a:rPr>
              <a:t>Sinh viên thực hiện: </a:t>
            </a:r>
            <a:r>
              <a:rPr lang="en-US" sz="2499">
                <a:solidFill>
                  <a:srgbClr val="000000"/>
                </a:solidFill>
                <a:latin typeface="Roboto"/>
                <a:ea typeface="Roboto"/>
                <a:cs typeface="Roboto"/>
                <a:sym typeface="Roboto"/>
              </a:rPr>
              <a:t>Lê Đạt - 2370389</a:t>
            </a:r>
          </a:p>
        </p:txBody>
      </p:sp>
      <p:sp>
        <p:nvSpPr>
          <p:cNvPr name="TextBox 8" id="8"/>
          <p:cNvSpPr txBox="true"/>
          <p:nvPr/>
        </p:nvSpPr>
        <p:spPr>
          <a:xfrm rot="0">
            <a:off x="6736786" y="2919882"/>
            <a:ext cx="5076379" cy="533400"/>
          </a:xfrm>
          <a:prstGeom prst="rect">
            <a:avLst/>
          </a:prstGeom>
        </p:spPr>
        <p:txBody>
          <a:bodyPr anchor="t" rtlCol="false" tIns="0" lIns="0" bIns="0" rIns="0">
            <a:spAutoFit/>
          </a:bodyPr>
          <a:lstStyle/>
          <a:p>
            <a:pPr algn="ctr">
              <a:lnSpc>
                <a:spcPts val="4200"/>
              </a:lnSpc>
              <a:spcBef>
                <a:spcPct val="0"/>
              </a:spcBef>
            </a:pPr>
            <a:r>
              <a:rPr lang="en-US" b="true" sz="3000">
                <a:solidFill>
                  <a:srgbClr val="000000"/>
                </a:solidFill>
                <a:latin typeface="Roboto Bold"/>
                <a:ea typeface="Roboto Bold"/>
                <a:cs typeface="Roboto Bold"/>
                <a:sym typeface="Roboto Bold"/>
              </a:rPr>
              <a:t>BÁO CÁO LUẬN VĂN THẠC SĨ</a:t>
            </a:r>
          </a:p>
        </p:txBody>
      </p:sp>
      <p:sp>
        <p:nvSpPr>
          <p:cNvPr name="TextBox 9" id="9"/>
          <p:cNvSpPr txBox="true"/>
          <p:nvPr/>
        </p:nvSpPr>
        <p:spPr>
          <a:xfrm rot="0">
            <a:off x="7635404" y="3641798"/>
            <a:ext cx="3017193" cy="428626"/>
          </a:xfrm>
          <a:prstGeom prst="rect">
            <a:avLst/>
          </a:prstGeom>
        </p:spPr>
        <p:txBody>
          <a:bodyPr anchor="t" rtlCol="false" tIns="0" lIns="0" bIns="0" rIns="0">
            <a:spAutoFit/>
          </a:bodyPr>
          <a:lstStyle/>
          <a:p>
            <a:pPr algn="ctr">
              <a:lnSpc>
                <a:spcPts val="3599"/>
              </a:lnSpc>
              <a:spcBef>
                <a:spcPct val="0"/>
              </a:spcBef>
            </a:pPr>
            <a:r>
              <a:rPr lang="en-US" b="true" sz="2499">
                <a:solidFill>
                  <a:srgbClr val="000000"/>
                </a:solidFill>
                <a:latin typeface="Roboto Bold"/>
                <a:ea typeface="Roboto Bold"/>
                <a:cs typeface="Roboto Bold"/>
                <a:sym typeface="Roboto Bold"/>
              </a:rPr>
              <a:t>(HƯỚNG ỨNG DỤNG)</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12150317" y="0"/>
            <a:ext cx="6137684" cy="6127944"/>
            <a:chOff x="0" y="0"/>
            <a:chExt cx="8183578" cy="8170592"/>
          </a:xfrm>
        </p:grpSpPr>
        <p:sp>
          <p:nvSpPr>
            <p:cNvPr name="Freeform 3" id="3"/>
            <p:cNvSpPr/>
            <p:nvPr/>
          </p:nvSpPr>
          <p:spPr>
            <a:xfrm flipH="false" flipV="false" rot="0">
              <a:off x="0" y="0"/>
              <a:ext cx="8183626" cy="8170545"/>
            </a:xfrm>
            <a:custGeom>
              <a:avLst/>
              <a:gdLst/>
              <a:ahLst/>
              <a:cxnLst/>
              <a:rect r="r" b="b" t="t" l="l"/>
              <a:pathLst>
                <a:path h="8170545" w="8183626">
                  <a:moveTo>
                    <a:pt x="0" y="0"/>
                  </a:moveTo>
                  <a:lnTo>
                    <a:pt x="8183626" y="0"/>
                  </a:lnTo>
                  <a:lnTo>
                    <a:pt x="8183626" y="8170545"/>
                  </a:lnTo>
                  <a:lnTo>
                    <a:pt x="0" y="8170545"/>
                  </a:lnTo>
                  <a:lnTo>
                    <a:pt x="0" y="0"/>
                  </a:lnTo>
                  <a:close/>
                </a:path>
              </a:pathLst>
            </a:custGeom>
            <a:blipFill>
              <a:blip r:embed="rId2"/>
              <a:stretch>
                <a:fillRect l="0" t="-15057" r="-15172" b="0"/>
              </a:stretch>
            </a:blipFill>
          </p:spPr>
        </p:sp>
      </p:grpSp>
      <p:sp>
        <p:nvSpPr>
          <p:cNvPr name="AutoShape 4" id="4"/>
          <p:cNvSpPr/>
          <p:nvPr/>
        </p:nvSpPr>
        <p:spPr>
          <a:xfrm>
            <a:off x="1028737" y="1056473"/>
            <a:ext cx="7296656" cy="19050"/>
          </a:xfrm>
          <a:prstGeom prst="line">
            <a:avLst/>
          </a:prstGeom>
          <a:ln cap="rnd" w="28575">
            <a:solidFill>
              <a:srgbClr val="264C9A"/>
            </a:solidFill>
            <a:prstDash val="solid"/>
            <a:headEnd type="none" len="sm" w="sm"/>
            <a:tailEnd type="none" len="sm" w="sm"/>
          </a:ln>
        </p:spPr>
      </p:sp>
      <p:grpSp>
        <p:nvGrpSpPr>
          <p:cNvPr name="Group 5" id="5"/>
          <p:cNvGrpSpPr/>
          <p:nvPr/>
        </p:nvGrpSpPr>
        <p:grpSpPr>
          <a:xfrm rot="0">
            <a:off x="1028738" y="1412911"/>
            <a:ext cx="1312902" cy="1312902"/>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975A7"/>
            </a:soli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8" id="8"/>
          <p:cNvGrpSpPr/>
          <p:nvPr/>
        </p:nvGrpSpPr>
        <p:grpSpPr>
          <a:xfrm rot="0">
            <a:off x="1047288" y="3067464"/>
            <a:ext cx="1312902" cy="1312902"/>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4F0F4"/>
            </a:soli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11" id="11"/>
          <p:cNvGrpSpPr/>
          <p:nvPr/>
        </p:nvGrpSpPr>
        <p:grpSpPr>
          <a:xfrm rot="0">
            <a:off x="1047288" y="6548851"/>
            <a:ext cx="1312902" cy="1312902"/>
            <a:chOff x="0" y="0"/>
            <a:chExt cx="812800" cy="812800"/>
          </a:xfrm>
        </p:grpSpPr>
        <p:sp>
          <p:nvSpPr>
            <p:cNvPr name="Freeform 12" id="12"/>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4F0F4"/>
            </a:solidFill>
          </p:spPr>
        </p:sp>
        <p:sp>
          <p:nvSpPr>
            <p:cNvPr name="TextBox 13" id="13"/>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14" id="14"/>
          <p:cNvGrpSpPr/>
          <p:nvPr/>
        </p:nvGrpSpPr>
        <p:grpSpPr>
          <a:xfrm rot="0">
            <a:off x="1047288" y="8280853"/>
            <a:ext cx="1312902" cy="1312902"/>
            <a:chOff x="0" y="0"/>
            <a:chExt cx="812800" cy="812800"/>
          </a:xfrm>
        </p:grpSpPr>
        <p:sp>
          <p:nvSpPr>
            <p:cNvPr name="Freeform 15" id="1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975A7"/>
            </a:solidFill>
          </p:spPr>
        </p:sp>
        <p:sp>
          <p:nvSpPr>
            <p:cNvPr name="TextBox 16" id="16"/>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17" id="17"/>
          <p:cNvGrpSpPr/>
          <p:nvPr/>
        </p:nvGrpSpPr>
        <p:grpSpPr>
          <a:xfrm rot="0">
            <a:off x="1047288" y="4815042"/>
            <a:ext cx="1312902" cy="1312902"/>
            <a:chOff x="0" y="0"/>
            <a:chExt cx="812800" cy="812800"/>
          </a:xfrm>
        </p:grpSpPr>
        <p:sp>
          <p:nvSpPr>
            <p:cNvPr name="Freeform 18" id="1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975A7"/>
            </a:solidFill>
          </p:spPr>
        </p:sp>
        <p:sp>
          <p:nvSpPr>
            <p:cNvPr name="TextBox 19" id="19"/>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sp>
        <p:nvSpPr>
          <p:cNvPr name="TextBox 20" id="20"/>
          <p:cNvSpPr txBox="true"/>
          <p:nvPr/>
        </p:nvSpPr>
        <p:spPr>
          <a:xfrm rot="0">
            <a:off x="1028700" y="161925"/>
            <a:ext cx="3327142" cy="866775"/>
          </a:xfrm>
          <a:prstGeom prst="rect">
            <a:avLst/>
          </a:prstGeom>
        </p:spPr>
        <p:txBody>
          <a:bodyPr anchor="t" rtlCol="false" tIns="0" lIns="0" bIns="0" rIns="0">
            <a:spAutoFit/>
          </a:bodyPr>
          <a:lstStyle/>
          <a:p>
            <a:pPr algn="just">
              <a:lnSpc>
                <a:spcPts val="6720"/>
              </a:lnSpc>
            </a:pPr>
            <a:r>
              <a:rPr lang="en-US" sz="5600" b="true">
                <a:solidFill>
                  <a:srgbClr val="081861"/>
                </a:solidFill>
                <a:latin typeface="Roboto Bold"/>
                <a:ea typeface="Roboto Bold"/>
                <a:cs typeface="Roboto Bold"/>
                <a:sym typeface="Roboto Bold"/>
              </a:rPr>
              <a:t>NỘI DUNG</a:t>
            </a:r>
          </a:p>
        </p:txBody>
      </p:sp>
      <p:sp>
        <p:nvSpPr>
          <p:cNvPr name="TextBox 21" id="21"/>
          <p:cNvSpPr txBox="true"/>
          <p:nvPr/>
        </p:nvSpPr>
        <p:spPr>
          <a:xfrm rot="0">
            <a:off x="2692271" y="1773839"/>
            <a:ext cx="5818648" cy="600075"/>
          </a:xfrm>
          <a:prstGeom prst="rect">
            <a:avLst/>
          </a:prstGeom>
        </p:spPr>
        <p:txBody>
          <a:bodyPr anchor="t" rtlCol="false" tIns="0" lIns="0" bIns="0" rIns="0">
            <a:spAutoFit/>
          </a:bodyPr>
          <a:lstStyle/>
          <a:p>
            <a:pPr algn="l">
              <a:lnSpc>
                <a:spcPts val="4799"/>
              </a:lnSpc>
            </a:pPr>
            <a:r>
              <a:rPr lang="en-US" b="true" sz="3999" spc="615">
                <a:solidFill>
                  <a:srgbClr val="081861"/>
                </a:solidFill>
                <a:latin typeface="Roboto Bold"/>
                <a:ea typeface="Roboto Bold"/>
                <a:cs typeface="Roboto Bold"/>
                <a:sym typeface="Roboto Bold"/>
              </a:rPr>
              <a:t>TỔNG QUAN ĐỀ TÀI</a:t>
            </a:r>
          </a:p>
        </p:txBody>
      </p:sp>
      <p:sp>
        <p:nvSpPr>
          <p:cNvPr name="TextBox 22" id="22"/>
          <p:cNvSpPr txBox="true"/>
          <p:nvPr/>
        </p:nvSpPr>
        <p:spPr>
          <a:xfrm rot="0">
            <a:off x="2683682" y="3469289"/>
            <a:ext cx="7601139" cy="600075"/>
          </a:xfrm>
          <a:prstGeom prst="rect">
            <a:avLst/>
          </a:prstGeom>
        </p:spPr>
        <p:txBody>
          <a:bodyPr anchor="t" rtlCol="false" tIns="0" lIns="0" bIns="0" rIns="0">
            <a:spAutoFit/>
          </a:bodyPr>
          <a:lstStyle/>
          <a:p>
            <a:pPr algn="l">
              <a:lnSpc>
                <a:spcPts val="4799"/>
              </a:lnSpc>
            </a:pPr>
            <a:r>
              <a:rPr lang="en-US" b="true" sz="3999" spc="421">
                <a:solidFill>
                  <a:srgbClr val="081861"/>
                </a:solidFill>
                <a:latin typeface="Roboto Bold"/>
                <a:ea typeface="Roboto Bold"/>
                <a:cs typeface="Roboto Bold"/>
                <a:sym typeface="Roboto Bold"/>
              </a:rPr>
              <a:t>TÓM TẮT NỘI DUNG ĐỀ TÀI</a:t>
            </a:r>
          </a:p>
        </p:txBody>
      </p:sp>
      <p:sp>
        <p:nvSpPr>
          <p:cNvPr name="TextBox 23" id="23"/>
          <p:cNvSpPr txBox="true"/>
          <p:nvPr/>
        </p:nvSpPr>
        <p:spPr>
          <a:xfrm rot="0">
            <a:off x="2692271" y="6905264"/>
            <a:ext cx="8857139" cy="600075"/>
          </a:xfrm>
          <a:prstGeom prst="rect">
            <a:avLst/>
          </a:prstGeom>
        </p:spPr>
        <p:txBody>
          <a:bodyPr anchor="t" rtlCol="false" tIns="0" lIns="0" bIns="0" rIns="0">
            <a:spAutoFit/>
          </a:bodyPr>
          <a:lstStyle/>
          <a:p>
            <a:pPr algn="l">
              <a:lnSpc>
                <a:spcPts val="4799"/>
              </a:lnSpc>
            </a:pPr>
            <a:r>
              <a:rPr lang="en-US" b="true" sz="3999" spc="307">
                <a:solidFill>
                  <a:srgbClr val="081861"/>
                </a:solidFill>
                <a:latin typeface="Roboto Bold"/>
                <a:ea typeface="Roboto Bold"/>
                <a:cs typeface="Roboto Bold"/>
                <a:sym typeface="Roboto Bold"/>
              </a:rPr>
              <a:t>BÁO CÁO KẾT QUẢ THỰC HIỆN</a:t>
            </a:r>
          </a:p>
        </p:txBody>
      </p:sp>
      <p:sp>
        <p:nvSpPr>
          <p:cNvPr name="TextBox 24" id="24"/>
          <p:cNvSpPr txBox="true"/>
          <p:nvPr/>
        </p:nvSpPr>
        <p:spPr>
          <a:xfrm rot="0">
            <a:off x="2782505" y="8679356"/>
            <a:ext cx="7715949" cy="600075"/>
          </a:xfrm>
          <a:prstGeom prst="rect">
            <a:avLst/>
          </a:prstGeom>
        </p:spPr>
        <p:txBody>
          <a:bodyPr anchor="t" rtlCol="false" tIns="0" lIns="0" bIns="0" rIns="0">
            <a:spAutoFit/>
          </a:bodyPr>
          <a:lstStyle/>
          <a:p>
            <a:pPr algn="l">
              <a:lnSpc>
                <a:spcPts val="4799"/>
              </a:lnSpc>
            </a:pPr>
            <a:r>
              <a:rPr lang="en-US" b="true" sz="3999" spc="470">
                <a:solidFill>
                  <a:srgbClr val="081861"/>
                </a:solidFill>
                <a:latin typeface="Roboto Bold"/>
                <a:ea typeface="Roboto Bold"/>
                <a:cs typeface="Roboto Bold"/>
                <a:sym typeface="Roboto Bold"/>
              </a:rPr>
              <a:t>ĐỊNH HƯỚNG PHÁT TRIỂN</a:t>
            </a:r>
          </a:p>
        </p:txBody>
      </p:sp>
      <p:sp>
        <p:nvSpPr>
          <p:cNvPr name="TextBox 25" id="25"/>
          <p:cNvSpPr txBox="true"/>
          <p:nvPr/>
        </p:nvSpPr>
        <p:spPr>
          <a:xfrm rot="0">
            <a:off x="1299986" y="1664302"/>
            <a:ext cx="807428" cy="819150"/>
          </a:xfrm>
          <a:prstGeom prst="rect">
            <a:avLst/>
          </a:prstGeom>
        </p:spPr>
        <p:txBody>
          <a:bodyPr anchor="t" rtlCol="false" tIns="0" lIns="0" bIns="0" rIns="0">
            <a:spAutoFit/>
          </a:bodyPr>
          <a:lstStyle/>
          <a:p>
            <a:pPr algn="l">
              <a:lnSpc>
                <a:spcPts val="6480"/>
              </a:lnSpc>
            </a:pPr>
            <a:r>
              <a:rPr lang="en-US" sz="5400" b="true">
                <a:solidFill>
                  <a:srgbClr val="FFFFFF"/>
                </a:solidFill>
                <a:latin typeface="Roboto Bold"/>
                <a:ea typeface="Roboto Bold"/>
                <a:cs typeface="Roboto Bold"/>
                <a:sym typeface="Roboto Bold"/>
              </a:rPr>
              <a:t>01</a:t>
            </a:r>
          </a:p>
        </p:txBody>
      </p:sp>
      <p:sp>
        <p:nvSpPr>
          <p:cNvPr name="TextBox 26" id="26"/>
          <p:cNvSpPr txBox="true"/>
          <p:nvPr/>
        </p:nvSpPr>
        <p:spPr>
          <a:xfrm rot="0">
            <a:off x="1300018" y="3314339"/>
            <a:ext cx="807440" cy="819150"/>
          </a:xfrm>
          <a:prstGeom prst="rect">
            <a:avLst/>
          </a:prstGeom>
        </p:spPr>
        <p:txBody>
          <a:bodyPr anchor="t" rtlCol="false" tIns="0" lIns="0" bIns="0" rIns="0">
            <a:spAutoFit/>
          </a:bodyPr>
          <a:lstStyle/>
          <a:p>
            <a:pPr algn="l">
              <a:lnSpc>
                <a:spcPts val="6480"/>
              </a:lnSpc>
            </a:pPr>
            <a:r>
              <a:rPr lang="en-US" sz="5400" b="true">
                <a:solidFill>
                  <a:srgbClr val="1B4290"/>
                </a:solidFill>
                <a:latin typeface="Roboto Bold"/>
                <a:ea typeface="Roboto Bold"/>
                <a:cs typeface="Roboto Bold"/>
                <a:sym typeface="Roboto Bold"/>
              </a:rPr>
              <a:t>02</a:t>
            </a:r>
          </a:p>
        </p:txBody>
      </p:sp>
      <p:sp>
        <p:nvSpPr>
          <p:cNvPr name="TextBox 27" id="27"/>
          <p:cNvSpPr txBox="true"/>
          <p:nvPr/>
        </p:nvSpPr>
        <p:spPr>
          <a:xfrm rot="0">
            <a:off x="1308449" y="6795727"/>
            <a:ext cx="790578" cy="819150"/>
          </a:xfrm>
          <a:prstGeom prst="rect">
            <a:avLst/>
          </a:prstGeom>
        </p:spPr>
        <p:txBody>
          <a:bodyPr anchor="t" rtlCol="false" tIns="0" lIns="0" bIns="0" rIns="0">
            <a:spAutoFit/>
          </a:bodyPr>
          <a:lstStyle/>
          <a:p>
            <a:pPr algn="l">
              <a:lnSpc>
                <a:spcPts val="6480"/>
              </a:lnSpc>
            </a:pPr>
            <a:r>
              <a:rPr lang="en-US" sz="5400" b="true">
                <a:solidFill>
                  <a:srgbClr val="1B4290"/>
                </a:solidFill>
                <a:latin typeface="Roboto Bold"/>
                <a:ea typeface="Roboto Bold"/>
                <a:cs typeface="Roboto Bold"/>
                <a:sym typeface="Roboto Bold"/>
              </a:rPr>
              <a:t>04</a:t>
            </a:r>
          </a:p>
        </p:txBody>
      </p:sp>
      <p:sp>
        <p:nvSpPr>
          <p:cNvPr name="TextBox 28" id="28"/>
          <p:cNvSpPr txBox="true"/>
          <p:nvPr/>
        </p:nvSpPr>
        <p:spPr>
          <a:xfrm rot="0">
            <a:off x="1295175" y="8536252"/>
            <a:ext cx="817050" cy="819150"/>
          </a:xfrm>
          <a:prstGeom prst="rect">
            <a:avLst/>
          </a:prstGeom>
        </p:spPr>
        <p:txBody>
          <a:bodyPr anchor="t" rtlCol="false" tIns="0" lIns="0" bIns="0" rIns="0">
            <a:spAutoFit/>
          </a:bodyPr>
          <a:lstStyle/>
          <a:p>
            <a:pPr algn="l">
              <a:lnSpc>
                <a:spcPts val="6480"/>
              </a:lnSpc>
            </a:pPr>
            <a:r>
              <a:rPr lang="en-US" sz="5400" b="true">
                <a:solidFill>
                  <a:srgbClr val="FFFFFF"/>
                </a:solidFill>
                <a:latin typeface="Roboto Bold"/>
                <a:ea typeface="Roboto Bold"/>
                <a:cs typeface="Roboto Bold"/>
                <a:sym typeface="Roboto Bold"/>
              </a:rPr>
              <a:t>05</a:t>
            </a:r>
          </a:p>
        </p:txBody>
      </p:sp>
      <p:sp>
        <p:nvSpPr>
          <p:cNvPr name="TextBox 29" id="29"/>
          <p:cNvSpPr txBox="true"/>
          <p:nvPr/>
        </p:nvSpPr>
        <p:spPr>
          <a:xfrm rot="0">
            <a:off x="2692271" y="5164739"/>
            <a:ext cx="5341342" cy="600075"/>
          </a:xfrm>
          <a:prstGeom prst="rect">
            <a:avLst/>
          </a:prstGeom>
        </p:spPr>
        <p:txBody>
          <a:bodyPr anchor="t" rtlCol="false" tIns="0" lIns="0" bIns="0" rIns="0">
            <a:spAutoFit/>
          </a:bodyPr>
          <a:lstStyle/>
          <a:p>
            <a:pPr algn="l">
              <a:lnSpc>
                <a:spcPts val="4799"/>
              </a:lnSpc>
            </a:pPr>
            <a:r>
              <a:rPr lang="en-US" b="true" sz="3999" spc="421">
                <a:solidFill>
                  <a:srgbClr val="081861"/>
                </a:solidFill>
                <a:latin typeface="Roboto Bold"/>
                <a:ea typeface="Roboto Bold"/>
                <a:cs typeface="Roboto Bold"/>
                <a:sym typeface="Roboto Bold"/>
              </a:rPr>
              <a:t>CƠ SỞ LÝ THUYẾT</a:t>
            </a:r>
          </a:p>
        </p:txBody>
      </p:sp>
      <p:sp>
        <p:nvSpPr>
          <p:cNvPr name="TextBox 30" id="30"/>
          <p:cNvSpPr txBox="true"/>
          <p:nvPr/>
        </p:nvSpPr>
        <p:spPr>
          <a:xfrm rot="0">
            <a:off x="1300607" y="5055202"/>
            <a:ext cx="806264" cy="819150"/>
          </a:xfrm>
          <a:prstGeom prst="rect">
            <a:avLst/>
          </a:prstGeom>
        </p:spPr>
        <p:txBody>
          <a:bodyPr anchor="t" rtlCol="false" tIns="0" lIns="0" bIns="0" rIns="0">
            <a:spAutoFit/>
          </a:bodyPr>
          <a:lstStyle/>
          <a:p>
            <a:pPr algn="l">
              <a:lnSpc>
                <a:spcPts val="6480"/>
              </a:lnSpc>
            </a:pPr>
            <a:r>
              <a:rPr lang="en-US" sz="5400" b="true">
                <a:solidFill>
                  <a:srgbClr val="FFFFFF"/>
                </a:solidFill>
                <a:latin typeface="Roboto Bold"/>
                <a:ea typeface="Roboto Bold"/>
                <a:cs typeface="Roboto Bold"/>
                <a:sym typeface="Roboto Bold"/>
              </a:rPr>
              <a:t>03</a:t>
            </a:r>
          </a:p>
        </p:txBody>
      </p:sp>
    </p:spTree>
  </p:cSld>
  <p:clrMapOvr>
    <a:masterClrMapping/>
  </p:clrMapOvr>
  <p:transition spd="med">
    <p:push dir="l"/>
  </p:transition>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12150317" y="0"/>
            <a:ext cx="6137684" cy="6127944"/>
            <a:chOff x="0" y="0"/>
            <a:chExt cx="8183578" cy="8170592"/>
          </a:xfrm>
        </p:grpSpPr>
        <p:sp>
          <p:nvSpPr>
            <p:cNvPr name="Freeform 3" id="3"/>
            <p:cNvSpPr/>
            <p:nvPr/>
          </p:nvSpPr>
          <p:spPr>
            <a:xfrm flipH="false" flipV="false" rot="0">
              <a:off x="0" y="0"/>
              <a:ext cx="8183626" cy="8170545"/>
            </a:xfrm>
            <a:custGeom>
              <a:avLst/>
              <a:gdLst/>
              <a:ahLst/>
              <a:cxnLst/>
              <a:rect r="r" b="b" t="t" l="l"/>
              <a:pathLst>
                <a:path h="8170545" w="8183626">
                  <a:moveTo>
                    <a:pt x="0" y="0"/>
                  </a:moveTo>
                  <a:lnTo>
                    <a:pt x="8183626" y="0"/>
                  </a:lnTo>
                  <a:lnTo>
                    <a:pt x="8183626" y="8170545"/>
                  </a:lnTo>
                  <a:lnTo>
                    <a:pt x="0" y="8170545"/>
                  </a:lnTo>
                  <a:lnTo>
                    <a:pt x="0" y="0"/>
                  </a:lnTo>
                  <a:close/>
                </a:path>
              </a:pathLst>
            </a:custGeom>
            <a:blipFill>
              <a:blip r:embed="rId2"/>
              <a:stretch>
                <a:fillRect l="0" t="-15057" r="-15172" b="0"/>
              </a:stretch>
            </a:blipFill>
          </p:spPr>
        </p:sp>
      </p:grpSp>
      <p:sp>
        <p:nvSpPr>
          <p:cNvPr name="AutoShape 4" id="4"/>
          <p:cNvSpPr/>
          <p:nvPr/>
        </p:nvSpPr>
        <p:spPr>
          <a:xfrm>
            <a:off x="1028737" y="1056473"/>
            <a:ext cx="7296656" cy="19050"/>
          </a:xfrm>
          <a:prstGeom prst="line">
            <a:avLst/>
          </a:prstGeom>
          <a:ln cap="rnd" w="28575">
            <a:solidFill>
              <a:srgbClr val="264C9A"/>
            </a:solidFill>
            <a:prstDash val="solid"/>
            <a:headEnd type="none" len="sm" w="sm"/>
            <a:tailEnd type="none" len="sm" w="sm"/>
          </a:ln>
        </p:spPr>
      </p:sp>
      <p:grpSp>
        <p:nvGrpSpPr>
          <p:cNvPr name="Group 5" id="5"/>
          <p:cNvGrpSpPr/>
          <p:nvPr/>
        </p:nvGrpSpPr>
        <p:grpSpPr>
          <a:xfrm rot="0">
            <a:off x="1027841" y="1412911"/>
            <a:ext cx="1312902" cy="1312902"/>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975A7"/>
            </a:soli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8" id="8"/>
          <p:cNvGrpSpPr/>
          <p:nvPr/>
        </p:nvGrpSpPr>
        <p:grpSpPr>
          <a:xfrm rot="0">
            <a:off x="1047288" y="3067464"/>
            <a:ext cx="1312902" cy="1312902"/>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4F0F4"/>
            </a:soli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11" id="11"/>
          <p:cNvGrpSpPr/>
          <p:nvPr/>
        </p:nvGrpSpPr>
        <p:grpSpPr>
          <a:xfrm rot="0">
            <a:off x="1047288" y="6548851"/>
            <a:ext cx="1312902" cy="1312902"/>
            <a:chOff x="0" y="0"/>
            <a:chExt cx="812800" cy="812800"/>
          </a:xfrm>
        </p:grpSpPr>
        <p:sp>
          <p:nvSpPr>
            <p:cNvPr name="Freeform 12" id="12"/>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4F0F4"/>
            </a:solidFill>
          </p:spPr>
        </p:sp>
        <p:sp>
          <p:nvSpPr>
            <p:cNvPr name="TextBox 13" id="13"/>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14" id="14"/>
          <p:cNvGrpSpPr/>
          <p:nvPr/>
        </p:nvGrpSpPr>
        <p:grpSpPr>
          <a:xfrm rot="0">
            <a:off x="1047288" y="8280853"/>
            <a:ext cx="1312902" cy="1312902"/>
            <a:chOff x="0" y="0"/>
            <a:chExt cx="812800" cy="812800"/>
          </a:xfrm>
        </p:grpSpPr>
        <p:sp>
          <p:nvSpPr>
            <p:cNvPr name="Freeform 15" id="1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975A7"/>
            </a:solidFill>
          </p:spPr>
        </p:sp>
        <p:sp>
          <p:nvSpPr>
            <p:cNvPr name="TextBox 16" id="16"/>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17" id="17"/>
          <p:cNvGrpSpPr/>
          <p:nvPr/>
        </p:nvGrpSpPr>
        <p:grpSpPr>
          <a:xfrm rot="0">
            <a:off x="1047288" y="4815042"/>
            <a:ext cx="1312902" cy="1312902"/>
            <a:chOff x="0" y="0"/>
            <a:chExt cx="812800" cy="812800"/>
          </a:xfrm>
        </p:grpSpPr>
        <p:sp>
          <p:nvSpPr>
            <p:cNvPr name="Freeform 18" id="1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975A7"/>
            </a:solidFill>
          </p:spPr>
        </p:sp>
        <p:sp>
          <p:nvSpPr>
            <p:cNvPr name="TextBox 19" id="19"/>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20" id="20"/>
          <p:cNvGrpSpPr/>
          <p:nvPr/>
        </p:nvGrpSpPr>
        <p:grpSpPr>
          <a:xfrm rot="0">
            <a:off x="-2409787" y="1549384"/>
            <a:ext cx="3086100" cy="1039956"/>
            <a:chOff x="0" y="0"/>
            <a:chExt cx="812800" cy="273898"/>
          </a:xfrm>
        </p:grpSpPr>
        <p:sp>
          <p:nvSpPr>
            <p:cNvPr name="Freeform 21" id="21"/>
            <p:cNvSpPr/>
            <p:nvPr/>
          </p:nvSpPr>
          <p:spPr>
            <a:xfrm flipH="false" flipV="false" rot="0">
              <a:off x="0" y="0"/>
              <a:ext cx="812800" cy="273898"/>
            </a:xfrm>
            <a:custGeom>
              <a:avLst/>
              <a:gdLst/>
              <a:ahLst/>
              <a:cxnLst/>
              <a:rect r="r" b="b" t="t" l="l"/>
              <a:pathLst>
                <a:path h="273898" w="812800">
                  <a:moveTo>
                    <a:pt x="609600" y="0"/>
                  </a:moveTo>
                  <a:lnTo>
                    <a:pt x="0" y="0"/>
                  </a:lnTo>
                  <a:lnTo>
                    <a:pt x="0" y="273898"/>
                  </a:lnTo>
                  <a:lnTo>
                    <a:pt x="609600" y="273898"/>
                  </a:lnTo>
                  <a:lnTo>
                    <a:pt x="812800" y="136949"/>
                  </a:lnTo>
                  <a:lnTo>
                    <a:pt x="609600" y="0"/>
                  </a:lnTo>
                  <a:close/>
                </a:path>
              </a:pathLst>
            </a:custGeom>
            <a:solidFill>
              <a:srgbClr val="081861"/>
            </a:solidFill>
          </p:spPr>
        </p:sp>
        <p:sp>
          <p:nvSpPr>
            <p:cNvPr name="TextBox 22" id="22"/>
            <p:cNvSpPr txBox="true"/>
            <p:nvPr/>
          </p:nvSpPr>
          <p:spPr>
            <a:xfrm>
              <a:off x="0" y="-47625"/>
              <a:ext cx="698500" cy="321523"/>
            </a:xfrm>
            <a:prstGeom prst="rect">
              <a:avLst/>
            </a:prstGeom>
          </p:spPr>
          <p:txBody>
            <a:bodyPr anchor="ctr" rtlCol="false" tIns="50800" lIns="50800" bIns="50800" rIns="50800"/>
            <a:lstStyle/>
            <a:p>
              <a:pPr algn="ctr">
                <a:lnSpc>
                  <a:spcPts val="2592"/>
                </a:lnSpc>
              </a:pPr>
            </a:p>
          </p:txBody>
        </p:sp>
      </p:grpSp>
      <p:sp>
        <p:nvSpPr>
          <p:cNvPr name="TextBox 23" id="23"/>
          <p:cNvSpPr txBox="true"/>
          <p:nvPr/>
        </p:nvSpPr>
        <p:spPr>
          <a:xfrm rot="0">
            <a:off x="1028700" y="161925"/>
            <a:ext cx="3327142" cy="866775"/>
          </a:xfrm>
          <a:prstGeom prst="rect">
            <a:avLst/>
          </a:prstGeom>
        </p:spPr>
        <p:txBody>
          <a:bodyPr anchor="t" rtlCol="false" tIns="0" lIns="0" bIns="0" rIns="0">
            <a:spAutoFit/>
          </a:bodyPr>
          <a:lstStyle/>
          <a:p>
            <a:pPr algn="just">
              <a:lnSpc>
                <a:spcPts val="6720"/>
              </a:lnSpc>
            </a:pPr>
            <a:r>
              <a:rPr lang="en-US" sz="5600" b="true">
                <a:solidFill>
                  <a:srgbClr val="081861"/>
                </a:solidFill>
                <a:latin typeface="Roboto Bold"/>
                <a:ea typeface="Roboto Bold"/>
                <a:cs typeface="Roboto Bold"/>
                <a:sym typeface="Roboto Bold"/>
              </a:rPr>
              <a:t>NỘI DUNG</a:t>
            </a:r>
          </a:p>
        </p:txBody>
      </p:sp>
      <p:sp>
        <p:nvSpPr>
          <p:cNvPr name="TextBox 24" id="24"/>
          <p:cNvSpPr txBox="true"/>
          <p:nvPr/>
        </p:nvSpPr>
        <p:spPr>
          <a:xfrm rot="0">
            <a:off x="2692271" y="1773839"/>
            <a:ext cx="5818648" cy="600075"/>
          </a:xfrm>
          <a:prstGeom prst="rect">
            <a:avLst/>
          </a:prstGeom>
        </p:spPr>
        <p:txBody>
          <a:bodyPr anchor="t" rtlCol="false" tIns="0" lIns="0" bIns="0" rIns="0">
            <a:spAutoFit/>
          </a:bodyPr>
          <a:lstStyle/>
          <a:p>
            <a:pPr algn="l">
              <a:lnSpc>
                <a:spcPts val="4799"/>
              </a:lnSpc>
            </a:pPr>
            <a:r>
              <a:rPr lang="en-US" b="true" sz="3999" spc="615">
                <a:solidFill>
                  <a:srgbClr val="081861"/>
                </a:solidFill>
                <a:latin typeface="Roboto Bold"/>
                <a:ea typeface="Roboto Bold"/>
                <a:cs typeface="Roboto Bold"/>
                <a:sym typeface="Roboto Bold"/>
              </a:rPr>
              <a:t>TỔNG QUAN ĐỀ TÀI</a:t>
            </a:r>
          </a:p>
        </p:txBody>
      </p:sp>
      <p:sp>
        <p:nvSpPr>
          <p:cNvPr name="TextBox 25" id="25"/>
          <p:cNvSpPr txBox="true"/>
          <p:nvPr/>
        </p:nvSpPr>
        <p:spPr>
          <a:xfrm rot="0">
            <a:off x="2683682" y="3469289"/>
            <a:ext cx="7601139" cy="600075"/>
          </a:xfrm>
          <a:prstGeom prst="rect">
            <a:avLst/>
          </a:prstGeom>
        </p:spPr>
        <p:txBody>
          <a:bodyPr anchor="t" rtlCol="false" tIns="0" lIns="0" bIns="0" rIns="0">
            <a:spAutoFit/>
          </a:bodyPr>
          <a:lstStyle/>
          <a:p>
            <a:pPr algn="l">
              <a:lnSpc>
                <a:spcPts val="4799"/>
              </a:lnSpc>
            </a:pPr>
            <a:r>
              <a:rPr lang="en-US" b="true" sz="3999" spc="421">
                <a:solidFill>
                  <a:srgbClr val="081861"/>
                </a:solidFill>
                <a:latin typeface="Roboto Bold"/>
                <a:ea typeface="Roboto Bold"/>
                <a:cs typeface="Roboto Bold"/>
                <a:sym typeface="Roboto Bold"/>
              </a:rPr>
              <a:t>TÓM TẮT NỘI DUNG ĐỀ TÀI</a:t>
            </a:r>
          </a:p>
        </p:txBody>
      </p:sp>
      <p:sp>
        <p:nvSpPr>
          <p:cNvPr name="TextBox 26" id="26"/>
          <p:cNvSpPr txBox="true"/>
          <p:nvPr/>
        </p:nvSpPr>
        <p:spPr>
          <a:xfrm rot="0">
            <a:off x="2692271" y="6905264"/>
            <a:ext cx="8857139" cy="600075"/>
          </a:xfrm>
          <a:prstGeom prst="rect">
            <a:avLst/>
          </a:prstGeom>
        </p:spPr>
        <p:txBody>
          <a:bodyPr anchor="t" rtlCol="false" tIns="0" lIns="0" bIns="0" rIns="0">
            <a:spAutoFit/>
          </a:bodyPr>
          <a:lstStyle/>
          <a:p>
            <a:pPr algn="l">
              <a:lnSpc>
                <a:spcPts val="4799"/>
              </a:lnSpc>
            </a:pPr>
            <a:r>
              <a:rPr lang="en-US" b="true" sz="3999" spc="307">
                <a:solidFill>
                  <a:srgbClr val="081861"/>
                </a:solidFill>
                <a:latin typeface="Roboto Bold"/>
                <a:ea typeface="Roboto Bold"/>
                <a:cs typeface="Roboto Bold"/>
                <a:sym typeface="Roboto Bold"/>
              </a:rPr>
              <a:t>BÁO CÁO KẾT QUẢ THỰC HIỆN</a:t>
            </a:r>
          </a:p>
        </p:txBody>
      </p:sp>
      <p:sp>
        <p:nvSpPr>
          <p:cNvPr name="TextBox 27" id="27"/>
          <p:cNvSpPr txBox="true"/>
          <p:nvPr/>
        </p:nvSpPr>
        <p:spPr>
          <a:xfrm rot="0">
            <a:off x="2782505" y="8679356"/>
            <a:ext cx="7715949" cy="600075"/>
          </a:xfrm>
          <a:prstGeom prst="rect">
            <a:avLst/>
          </a:prstGeom>
        </p:spPr>
        <p:txBody>
          <a:bodyPr anchor="t" rtlCol="false" tIns="0" lIns="0" bIns="0" rIns="0">
            <a:spAutoFit/>
          </a:bodyPr>
          <a:lstStyle/>
          <a:p>
            <a:pPr algn="l">
              <a:lnSpc>
                <a:spcPts val="4799"/>
              </a:lnSpc>
            </a:pPr>
            <a:r>
              <a:rPr lang="en-US" b="true" sz="3999" spc="470">
                <a:solidFill>
                  <a:srgbClr val="081861"/>
                </a:solidFill>
                <a:latin typeface="Roboto Bold"/>
                <a:ea typeface="Roboto Bold"/>
                <a:cs typeface="Roboto Bold"/>
                <a:sym typeface="Roboto Bold"/>
              </a:rPr>
              <a:t>ĐỊNH HƯỚNG PHÁT TRIỂN</a:t>
            </a:r>
          </a:p>
        </p:txBody>
      </p:sp>
      <p:sp>
        <p:nvSpPr>
          <p:cNvPr name="TextBox 28" id="28"/>
          <p:cNvSpPr txBox="true"/>
          <p:nvPr/>
        </p:nvSpPr>
        <p:spPr>
          <a:xfrm rot="0">
            <a:off x="1299986" y="1664302"/>
            <a:ext cx="807428" cy="819150"/>
          </a:xfrm>
          <a:prstGeom prst="rect">
            <a:avLst/>
          </a:prstGeom>
        </p:spPr>
        <p:txBody>
          <a:bodyPr anchor="t" rtlCol="false" tIns="0" lIns="0" bIns="0" rIns="0">
            <a:spAutoFit/>
          </a:bodyPr>
          <a:lstStyle/>
          <a:p>
            <a:pPr algn="l">
              <a:lnSpc>
                <a:spcPts val="6480"/>
              </a:lnSpc>
            </a:pPr>
            <a:r>
              <a:rPr lang="en-US" sz="5400" b="true">
                <a:solidFill>
                  <a:srgbClr val="FFFFFF"/>
                </a:solidFill>
                <a:latin typeface="Roboto Bold"/>
                <a:ea typeface="Roboto Bold"/>
                <a:cs typeface="Roboto Bold"/>
                <a:sym typeface="Roboto Bold"/>
              </a:rPr>
              <a:t>01</a:t>
            </a:r>
          </a:p>
        </p:txBody>
      </p:sp>
      <p:sp>
        <p:nvSpPr>
          <p:cNvPr name="TextBox 29" id="29"/>
          <p:cNvSpPr txBox="true"/>
          <p:nvPr/>
        </p:nvSpPr>
        <p:spPr>
          <a:xfrm rot="0">
            <a:off x="1300018" y="3314339"/>
            <a:ext cx="807440" cy="819150"/>
          </a:xfrm>
          <a:prstGeom prst="rect">
            <a:avLst/>
          </a:prstGeom>
        </p:spPr>
        <p:txBody>
          <a:bodyPr anchor="t" rtlCol="false" tIns="0" lIns="0" bIns="0" rIns="0">
            <a:spAutoFit/>
          </a:bodyPr>
          <a:lstStyle/>
          <a:p>
            <a:pPr algn="l">
              <a:lnSpc>
                <a:spcPts val="6480"/>
              </a:lnSpc>
            </a:pPr>
            <a:r>
              <a:rPr lang="en-US" sz="5400" b="true">
                <a:solidFill>
                  <a:srgbClr val="1B4290"/>
                </a:solidFill>
                <a:latin typeface="Roboto Bold"/>
                <a:ea typeface="Roboto Bold"/>
                <a:cs typeface="Roboto Bold"/>
                <a:sym typeface="Roboto Bold"/>
              </a:rPr>
              <a:t>02</a:t>
            </a:r>
          </a:p>
        </p:txBody>
      </p:sp>
      <p:sp>
        <p:nvSpPr>
          <p:cNvPr name="TextBox 30" id="30"/>
          <p:cNvSpPr txBox="true"/>
          <p:nvPr/>
        </p:nvSpPr>
        <p:spPr>
          <a:xfrm rot="0">
            <a:off x="1308449" y="6795727"/>
            <a:ext cx="790578" cy="819150"/>
          </a:xfrm>
          <a:prstGeom prst="rect">
            <a:avLst/>
          </a:prstGeom>
        </p:spPr>
        <p:txBody>
          <a:bodyPr anchor="t" rtlCol="false" tIns="0" lIns="0" bIns="0" rIns="0">
            <a:spAutoFit/>
          </a:bodyPr>
          <a:lstStyle/>
          <a:p>
            <a:pPr algn="l">
              <a:lnSpc>
                <a:spcPts val="6480"/>
              </a:lnSpc>
            </a:pPr>
            <a:r>
              <a:rPr lang="en-US" sz="5400" b="true">
                <a:solidFill>
                  <a:srgbClr val="1B4290"/>
                </a:solidFill>
                <a:latin typeface="Roboto Bold"/>
                <a:ea typeface="Roboto Bold"/>
                <a:cs typeface="Roboto Bold"/>
                <a:sym typeface="Roboto Bold"/>
              </a:rPr>
              <a:t>04</a:t>
            </a:r>
          </a:p>
        </p:txBody>
      </p:sp>
      <p:sp>
        <p:nvSpPr>
          <p:cNvPr name="TextBox 31" id="31"/>
          <p:cNvSpPr txBox="true"/>
          <p:nvPr/>
        </p:nvSpPr>
        <p:spPr>
          <a:xfrm rot="0">
            <a:off x="1295175" y="8536252"/>
            <a:ext cx="817050" cy="819150"/>
          </a:xfrm>
          <a:prstGeom prst="rect">
            <a:avLst/>
          </a:prstGeom>
        </p:spPr>
        <p:txBody>
          <a:bodyPr anchor="t" rtlCol="false" tIns="0" lIns="0" bIns="0" rIns="0">
            <a:spAutoFit/>
          </a:bodyPr>
          <a:lstStyle/>
          <a:p>
            <a:pPr algn="l">
              <a:lnSpc>
                <a:spcPts val="6480"/>
              </a:lnSpc>
            </a:pPr>
            <a:r>
              <a:rPr lang="en-US" sz="5400" b="true">
                <a:solidFill>
                  <a:srgbClr val="FFFFFF"/>
                </a:solidFill>
                <a:latin typeface="Roboto Bold"/>
                <a:ea typeface="Roboto Bold"/>
                <a:cs typeface="Roboto Bold"/>
                <a:sym typeface="Roboto Bold"/>
              </a:rPr>
              <a:t>05</a:t>
            </a:r>
          </a:p>
        </p:txBody>
      </p:sp>
      <p:sp>
        <p:nvSpPr>
          <p:cNvPr name="TextBox 32" id="32"/>
          <p:cNvSpPr txBox="true"/>
          <p:nvPr/>
        </p:nvSpPr>
        <p:spPr>
          <a:xfrm rot="0">
            <a:off x="2692271" y="5164739"/>
            <a:ext cx="5341342" cy="600075"/>
          </a:xfrm>
          <a:prstGeom prst="rect">
            <a:avLst/>
          </a:prstGeom>
        </p:spPr>
        <p:txBody>
          <a:bodyPr anchor="t" rtlCol="false" tIns="0" lIns="0" bIns="0" rIns="0">
            <a:spAutoFit/>
          </a:bodyPr>
          <a:lstStyle/>
          <a:p>
            <a:pPr algn="l">
              <a:lnSpc>
                <a:spcPts val="4799"/>
              </a:lnSpc>
            </a:pPr>
            <a:r>
              <a:rPr lang="en-US" b="true" sz="3999" spc="421">
                <a:solidFill>
                  <a:srgbClr val="081861"/>
                </a:solidFill>
                <a:latin typeface="Roboto Bold"/>
                <a:ea typeface="Roboto Bold"/>
                <a:cs typeface="Roboto Bold"/>
                <a:sym typeface="Roboto Bold"/>
              </a:rPr>
              <a:t>CƠ SỞ LÝ THUYẾT</a:t>
            </a:r>
          </a:p>
        </p:txBody>
      </p:sp>
      <p:sp>
        <p:nvSpPr>
          <p:cNvPr name="TextBox 33" id="33"/>
          <p:cNvSpPr txBox="true"/>
          <p:nvPr/>
        </p:nvSpPr>
        <p:spPr>
          <a:xfrm rot="0">
            <a:off x="1300607" y="5055202"/>
            <a:ext cx="806264" cy="819150"/>
          </a:xfrm>
          <a:prstGeom prst="rect">
            <a:avLst/>
          </a:prstGeom>
        </p:spPr>
        <p:txBody>
          <a:bodyPr anchor="t" rtlCol="false" tIns="0" lIns="0" bIns="0" rIns="0">
            <a:spAutoFit/>
          </a:bodyPr>
          <a:lstStyle/>
          <a:p>
            <a:pPr algn="l">
              <a:lnSpc>
                <a:spcPts val="6480"/>
              </a:lnSpc>
            </a:pPr>
            <a:r>
              <a:rPr lang="en-US" sz="5400" b="true">
                <a:solidFill>
                  <a:srgbClr val="FFFFFF"/>
                </a:solidFill>
                <a:latin typeface="Roboto Bold"/>
                <a:ea typeface="Roboto Bold"/>
                <a:cs typeface="Roboto Bold"/>
                <a:sym typeface="Roboto Bold"/>
              </a:rPr>
              <a:t>03</a:t>
            </a:r>
          </a:p>
        </p:txBody>
      </p:sp>
    </p:spTree>
  </p:cSld>
  <p:clrMapOvr>
    <a:masterClrMapping/>
  </p:clrMapOvr>
  <p:transition spd="med">
    <p:push dir="l"/>
  </p:transition>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91467" y="421672"/>
            <a:ext cx="17828281" cy="1928850"/>
            <a:chOff x="0" y="0"/>
            <a:chExt cx="766020" cy="82876"/>
          </a:xfrm>
        </p:grpSpPr>
        <p:sp>
          <p:nvSpPr>
            <p:cNvPr name="Freeform 3" id="3"/>
            <p:cNvSpPr/>
            <p:nvPr/>
          </p:nvSpPr>
          <p:spPr>
            <a:xfrm flipH="false" flipV="false" rot="0">
              <a:off x="0" y="0"/>
              <a:ext cx="766020" cy="82876"/>
            </a:xfrm>
            <a:custGeom>
              <a:avLst/>
              <a:gdLst/>
              <a:ahLst/>
              <a:cxnLst/>
              <a:rect r="r" b="b" t="t" l="l"/>
              <a:pathLst>
                <a:path h="82876" w="766020">
                  <a:moveTo>
                    <a:pt x="41438" y="0"/>
                  </a:moveTo>
                  <a:lnTo>
                    <a:pt x="724582" y="0"/>
                  </a:lnTo>
                  <a:cubicBezTo>
                    <a:pt x="747467" y="0"/>
                    <a:pt x="766020" y="18552"/>
                    <a:pt x="766020" y="41438"/>
                  </a:cubicBezTo>
                  <a:lnTo>
                    <a:pt x="766020" y="41438"/>
                  </a:lnTo>
                  <a:cubicBezTo>
                    <a:pt x="766020" y="52428"/>
                    <a:pt x="761654" y="62968"/>
                    <a:pt x="753883" y="70739"/>
                  </a:cubicBezTo>
                  <a:cubicBezTo>
                    <a:pt x="746112" y="78510"/>
                    <a:pt x="735572" y="82876"/>
                    <a:pt x="724582" y="82876"/>
                  </a:cubicBezTo>
                  <a:lnTo>
                    <a:pt x="41438" y="82876"/>
                  </a:lnTo>
                  <a:cubicBezTo>
                    <a:pt x="18552" y="82876"/>
                    <a:pt x="0" y="64324"/>
                    <a:pt x="0" y="41438"/>
                  </a:cubicBezTo>
                  <a:lnTo>
                    <a:pt x="0" y="41438"/>
                  </a:lnTo>
                  <a:cubicBezTo>
                    <a:pt x="0" y="18552"/>
                    <a:pt x="18552" y="0"/>
                    <a:pt x="41438" y="0"/>
                  </a:cubicBezTo>
                  <a:close/>
                </a:path>
              </a:pathLst>
            </a:custGeom>
            <a:solidFill>
              <a:srgbClr val="002699"/>
            </a:solidFill>
            <a:ln cap="rnd">
              <a:noFill/>
              <a:prstDash val="solid"/>
              <a:round/>
            </a:ln>
          </p:spPr>
        </p:sp>
        <p:sp>
          <p:nvSpPr>
            <p:cNvPr name="TextBox 4" id="4"/>
            <p:cNvSpPr txBox="true"/>
            <p:nvPr/>
          </p:nvSpPr>
          <p:spPr>
            <a:xfrm>
              <a:off x="0" y="-47625"/>
              <a:ext cx="766020" cy="130501"/>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1116224" y="638175"/>
            <a:ext cx="14277782" cy="1533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1.1 NHU CẦU VỀ CHUYỂN ĐỔI SỐ TRONG Y TẾ TẠI VIỆT NAM [CDS2024]</a:t>
            </a:r>
          </a:p>
        </p:txBody>
      </p:sp>
      <p:sp>
        <p:nvSpPr>
          <p:cNvPr name="Freeform 6" id="6"/>
          <p:cNvSpPr/>
          <p:nvPr/>
        </p:nvSpPr>
        <p:spPr>
          <a:xfrm flipH="false" flipV="false" rot="0">
            <a:off x="10571020" y="4672016"/>
            <a:ext cx="6688280" cy="3762157"/>
          </a:xfrm>
          <a:custGeom>
            <a:avLst/>
            <a:gdLst/>
            <a:ahLst/>
            <a:cxnLst/>
            <a:rect r="r" b="b" t="t" l="l"/>
            <a:pathLst>
              <a:path h="3762157" w="6688280">
                <a:moveTo>
                  <a:pt x="0" y="0"/>
                </a:moveTo>
                <a:lnTo>
                  <a:pt x="6688280" y="0"/>
                </a:lnTo>
                <a:lnTo>
                  <a:pt x="6688280" y="3762158"/>
                </a:lnTo>
                <a:lnTo>
                  <a:pt x="0" y="3762158"/>
                </a:lnTo>
                <a:lnTo>
                  <a:pt x="0" y="0"/>
                </a:lnTo>
                <a:close/>
              </a:path>
            </a:pathLst>
          </a:custGeom>
          <a:blipFill>
            <a:blip r:embed="rId2"/>
            <a:stretch>
              <a:fillRect l="0" t="0" r="0" b="0"/>
            </a:stretch>
          </a:blipFill>
        </p:spPr>
      </p:sp>
      <p:sp>
        <p:nvSpPr>
          <p:cNvPr name="TextBox 7" id="7"/>
          <p:cNvSpPr txBox="true"/>
          <p:nvPr/>
        </p:nvSpPr>
        <p:spPr>
          <a:xfrm rot="0">
            <a:off x="1028700" y="2931795"/>
            <a:ext cx="14069449" cy="4337685"/>
          </a:xfrm>
          <a:prstGeom prst="rect">
            <a:avLst/>
          </a:prstGeom>
        </p:spPr>
        <p:txBody>
          <a:bodyPr anchor="t" rtlCol="false" tIns="0" lIns="0" bIns="0" rIns="0">
            <a:spAutoFit/>
          </a:bodyPr>
          <a:lstStyle/>
          <a:p>
            <a:pPr algn="l">
              <a:lnSpc>
                <a:spcPts val="4320"/>
              </a:lnSpc>
            </a:pPr>
            <a:r>
              <a:rPr lang="en-US" sz="3000">
                <a:solidFill>
                  <a:srgbClr val="000000"/>
                </a:solidFill>
                <a:latin typeface="Roboto"/>
                <a:ea typeface="Roboto"/>
                <a:cs typeface="Roboto"/>
                <a:sym typeface="Roboto"/>
              </a:rPr>
              <a:t>Y tế số ("D</a:t>
            </a:r>
            <a:r>
              <a:rPr lang="en-US" sz="3000">
                <a:solidFill>
                  <a:srgbClr val="000000"/>
                </a:solidFill>
                <a:latin typeface="Roboto"/>
                <a:ea typeface="Roboto"/>
                <a:cs typeface="Roboto"/>
                <a:sym typeface="Roboto"/>
              </a:rPr>
              <a:t>igital Health") sử dụng công nghệ số hóa để cải thiện quản lý sức khỏe, chẩn đoán, điều trị và dịch vụ y tế, kết hợp các công nghệ hiện đại như:</a:t>
            </a:r>
          </a:p>
          <a:p>
            <a:pPr algn="l" marL="647700" indent="-323850" lvl="1">
              <a:lnSpc>
                <a:spcPts val="4320"/>
              </a:lnSpc>
              <a:buFont typeface="Arial"/>
              <a:buChar char="•"/>
            </a:pPr>
            <a:r>
              <a:rPr lang="en-US" sz="3000">
                <a:solidFill>
                  <a:srgbClr val="000000"/>
                </a:solidFill>
                <a:latin typeface="Roboto"/>
                <a:ea typeface="Roboto"/>
                <a:cs typeface="Roboto"/>
                <a:sym typeface="Roboto"/>
              </a:rPr>
              <a:t>Hồ sơ y tế điện tử</a:t>
            </a:r>
          </a:p>
          <a:p>
            <a:pPr algn="l" marL="647700" indent="-323850" lvl="1">
              <a:lnSpc>
                <a:spcPts val="4320"/>
              </a:lnSpc>
              <a:buFont typeface="Arial"/>
              <a:buChar char="•"/>
            </a:pPr>
            <a:r>
              <a:rPr lang="en-US" sz="3000">
                <a:solidFill>
                  <a:srgbClr val="000000"/>
                </a:solidFill>
                <a:latin typeface="Roboto"/>
                <a:ea typeface="Roboto"/>
                <a:cs typeface="Roboto"/>
                <a:sym typeface="Roboto"/>
              </a:rPr>
              <a:t>Telehealth và Telemedicine</a:t>
            </a:r>
          </a:p>
          <a:p>
            <a:pPr algn="l" marL="647700" indent="-323850" lvl="1">
              <a:lnSpc>
                <a:spcPts val="4320"/>
              </a:lnSpc>
              <a:buFont typeface="Arial"/>
              <a:buChar char="•"/>
            </a:pPr>
            <a:r>
              <a:rPr lang="en-US" sz="3000">
                <a:solidFill>
                  <a:srgbClr val="000000"/>
                </a:solidFill>
                <a:latin typeface="Roboto"/>
                <a:ea typeface="Roboto"/>
                <a:cs typeface="Roboto"/>
                <a:sym typeface="Roboto"/>
              </a:rPr>
              <a:t>Internet of Things (IoT) trong y tế</a:t>
            </a:r>
          </a:p>
          <a:p>
            <a:pPr algn="l" marL="647700" indent="-323850" lvl="1">
              <a:lnSpc>
                <a:spcPts val="4320"/>
              </a:lnSpc>
              <a:buFont typeface="Arial"/>
              <a:buChar char="•"/>
            </a:pPr>
            <a:r>
              <a:rPr lang="en-US" sz="3000">
                <a:solidFill>
                  <a:srgbClr val="000000"/>
                </a:solidFill>
                <a:latin typeface="Roboto"/>
                <a:ea typeface="Roboto"/>
                <a:cs typeface="Roboto"/>
                <a:sym typeface="Roboto"/>
              </a:rPr>
              <a:t>Máy học (Machine Learning) và Trí tuệ nhân tạo (AI)</a:t>
            </a:r>
          </a:p>
          <a:p>
            <a:pPr algn="l" marL="647700" indent="-323850" lvl="1">
              <a:lnSpc>
                <a:spcPts val="4320"/>
              </a:lnSpc>
              <a:buFont typeface="Arial"/>
              <a:buChar char="•"/>
            </a:pPr>
            <a:r>
              <a:rPr lang="en-US" sz="3000">
                <a:solidFill>
                  <a:srgbClr val="000000"/>
                </a:solidFill>
                <a:latin typeface="Roboto"/>
                <a:ea typeface="Roboto"/>
                <a:cs typeface="Roboto"/>
                <a:sym typeface="Roboto"/>
              </a:rPr>
              <a:t>Ứng dụng di động y tế</a:t>
            </a:r>
          </a:p>
          <a:p>
            <a:pPr algn="l" marL="647700" indent="-323850" lvl="1">
              <a:lnSpc>
                <a:spcPts val="4320"/>
              </a:lnSpc>
              <a:buFont typeface="Arial"/>
              <a:buChar char="•"/>
            </a:pPr>
            <a:r>
              <a:rPr lang="en-US" sz="3000">
                <a:solidFill>
                  <a:srgbClr val="000000"/>
                </a:solidFill>
                <a:latin typeface="Roboto"/>
                <a:ea typeface="Roboto"/>
                <a:cs typeface="Roboto"/>
                <a:sym typeface="Roboto"/>
              </a:rPr>
              <a:t>Công nghệ Blockchain trong y tế</a:t>
            </a:r>
          </a:p>
        </p:txBody>
      </p:sp>
      <p:sp>
        <p:nvSpPr>
          <p:cNvPr name="TextBox 8" id="8"/>
          <p:cNvSpPr txBox="true"/>
          <p:nvPr/>
        </p:nvSpPr>
        <p:spPr>
          <a:xfrm rot="0">
            <a:off x="15936813" y="9210675"/>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4 of 37</a:t>
            </a:r>
          </a:p>
        </p:txBody>
      </p:sp>
      <p:sp>
        <p:nvSpPr>
          <p:cNvPr name="TextBox 9" id="9"/>
          <p:cNvSpPr txBox="true"/>
          <p:nvPr/>
        </p:nvSpPr>
        <p:spPr>
          <a:xfrm rot="0">
            <a:off x="1028700" y="9243315"/>
            <a:ext cx="14069449" cy="316610"/>
          </a:xfrm>
          <a:prstGeom prst="rect">
            <a:avLst/>
          </a:prstGeom>
        </p:spPr>
        <p:txBody>
          <a:bodyPr anchor="t" rtlCol="false" tIns="0" lIns="0" bIns="0" rIns="0">
            <a:spAutoFit/>
          </a:bodyPr>
          <a:lstStyle/>
          <a:p>
            <a:pPr algn="l">
              <a:lnSpc>
                <a:spcPts val="2592"/>
              </a:lnSpc>
            </a:pPr>
            <a:r>
              <a:rPr lang="en-US" sz="1800">
                <a:solidFill>
                  <a:srgbClr val="000000"/>
                </a:solidFill>
                <a:latin typeface="Roboto"/>
                <a:ea typeface="Roboto"/>
                <a:cs typeface="Roboto"/>
                <a:sym typeface="Roboto"/>
              </a:rPr>
              <a:t>[CDS2024]</a:t>
            </a:r>
            <a:r>
              <a:rPr lang="en-US" sz="1800">
                <a:solidFill>
                  <a:srgbClr val="000000"/>
                </a:solidFill>
                <a:latin typeface="Roboto"/>
                <a:ea typeface="Roboto"/>
                <a:cs typeface="Roboto"/>
                <a:sym typeface="Roboto"/>
              </a:rPr>
              <a:t> Đ. H. Lan (2024), Chuyển đổi số y tế gia tăng lợi ích cho ngườ</a:t>
            </a:r>
            <a:r>
              <a:rPr lang="en-US" sz="1800">
                <a:solidFill>
                  <a:srgbClr val="000000"/>
                </a:solidFill>
                <a:latin typeface="Roboto"/>
                <a:ea typeface="Roboto"/>
                <a:cs typeface="Roboto"/>
                <a:sym typeface="Roboto"/>
              </a:rPr>
              <a:t>i dân trong bảo vệ và chăm sóc sức khỏe toàn diện.</a:t>
            </a:r>
          </a:p>
        </p:txBody>
      </p:sp>
    </p:spTree>
  </p:cSld>
  <p:clrMapOvr>
    <a:masterClrMapping/>
  </p:clrMapOvr>
  <p:transition spd="med">
    <p:push dir="l"/>
  </p:transition>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91467" y="421672"/>
            <a:ext cx="15364399" cy="1928908"/>
            <a:chOff x="0" y="0"/>
            <a:chExt cx="660146" cy="82931"/>
          </a:xfrm>
        </p:grpSpPr>
        <p:sp>
          <p:nvSpPr>
            <p:cNvPr name="Freeform 3" id="3"/>
            <p:cNvSpPr/>
            <p:nvPr/>
          </p:nvSpPr>
          <p:spPr>
            <a:xfrm flipH="false" flipV="false" rot="0">
              <a:off x="0" y="0"/>
              <a:ext cx="660146" cy="82931"/>
            </a:xfrm>
            <a:custGeom>
              <a:avLst/>
              <a:gdLst/>
              <a:ahLst/>
              <a:cxnLst/>
              <a:rect r="r" b="b" t="t" l="l"/>
              <a:pathLst>
                <a:path h="82931" w="660146">
                  <a:moveTo>
                    <a:pt x="660146" y="41466"/>
                  </a:moveTo>
                  <a:lnTo>
                    <a:pt x="660146" y="41466"/>
                  </a:lnTo>
                  <a:cubicBezTo>
                    <a:pt x="660146" y="52463"/>
                    <a:pt x="655777" y="63010"/>
                    <a:pt x="648001" y="70786"/>
                  </a:cubicBezTo>
                  <a:cubicBezTo>
                    <a:pt x="640225" y="78562"/>
                    <a:pt x="629678" y="82931"/>
                    <a:pt x="618681" y="82931"/>
                  </a:cubicBezTo>
                  <a:lnTo>
                    <a:pt x="41466" y="82931"/>
                  </a:lnTo>
                  <a:cubicBezTo>
                    <a:pt x="30468" y="82931"/>
                    <a:pt x="19921" y="78562"/>
                    <a:pt x="12145" y="70786"/>
                  </a:cubicBezTo>
                  <a:cubicBezTo>
                    <a:pt x="4369" y="63010"/>
                    <a:pt x="0" y="52463"/>
                    <a:pt x="0" y="41466"/>
                  </a:cubicBezTo>
                  <a:lnTo>
                    <a:pt x="0" y="41466"/>
                  </a:lnTo>
                  <a:cubicBezTo>
                    <a:pt x="0" y="30468"/>
                    <a:pt x="4369" y="19921"/>
                    <a:pt x="12145" y="12145"/>
                  </a:cubicBezTo>
                  <a:cubicBezTo>
                    <a:pt x="19921" y="4369"/>
                    <a:pt x="30468" y="0"/>
                    <a:pt x="41466" y="0"/>
                  </a:cubicBezTo>
                  <a:lnTo>
                    <a:pt x="618681" y="0"/>
                  </a:lnTo>
                  <a:cubicBezTo>
                    <a:pt x="629678" y="0"/>
                    <a:pt x="640225" y="4369"/>
                    <a:pt x="648001" y="12145"/>
                  </a:cubicBezTo>
                  <a:cubicBezTo>
                    <a:pt x="655777" y="19921"/>
                    <a:pt x="660146" y="30468"/>
                    <a:pt x="660146" y="41466"/>
                  </a:cubicBezTo>
                  <a:close/>
                </a:path>
              </a:pathLst>
            </a:custGeom>
            <a:solidFill>
              <a:srgbClr val="002699"/>
            </a:solidFill>
            <a:ln cap="rnd">
              <a:noFill/>
              <a:prstDash val="solid"/>
              <a:round/>
            </a:ln>
          </p:spPr>
        </p:sp>
        <p:sp>
          <p:nvSpPr>
            <p:cNvPr name="TextBox 4" id="4"/>
            <p:cNvSpPr txBox="true"/>
            <p:nvPr/>
          </p:nvSpPr>
          <p:spPr>
            <a:xfrm>
              <a:off x="0" y="-47625"/>
              <a:ext cx="660146" cy="130556"/>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674304" y="638175"/>
            <a:ext cx="13221867" cy="1533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1.2 THỊ TRƯỜNG CÂN SỨC KHOẺ THÔNG MINH</a:t>
            </a:r>
          </a:p>
        </p:txBody>
      </p:sp>
      <p:sp>
        <p:nvSpPr>
          <p:cNvPr name="Freeform 6" id="6"/>
          <p:cNvSpPr/>
          <p:nvPr/>
        </p:nvSpPr>
        <p:spPr>
          <a:xfrm flipH="false" flipV="false" rot="0">
            <a:off x="1557405" y="4753268"/>
            <a:ext cx="8115300" cy="4505032"/>
          </a:xfrm>
          <a:custGeom>
            <a:avLst/>
            <a:gdLst/>
            <a:ahLst/>
            <a:cxnLst/>
            <a:rect r="r" b="b" t="t" l="l"/>
            <a:pathLst>
              <a:path h="4505032" w="8115300">
                <a:moveTo>
                  <a:pt x="0" y="0"/>
                </a:moveTo>
                <a:lnTo>
                  <a:pt x="8115300" y="0"/>
                </a:lnTo>
                <a:lnTo>
                  <a:pt x="8115300" y="4505032"/>
                </a:lnTo>
                <a:lnTo>
                  <a:pt x="0" y="4505032"/>
                </a:lnTo>
                <a:lnTo>
                  <a:pt x="0" y="0"/>
                </a:lnTo>
                <a:close/>
              </a:path>
            </a:pathLst>
          </a:custGeom>
          <a:blipFill>
            <a:blip r:embed="rId2"/>
            <a:stretch>
              <a:fillRect l="0" t="0" r="0" b="0"/>
            </a:stretch>
          </a:blipFill>
        </p:spPr>
      </p:sp>
      <p:sp>
        <p:nvSpPr>
          <p:cNvPr name="Freeform 7" id="7"/>
          <p:cNvSpPr/>
          <p:nvPr/>
        </p:nvSpPr>
        <p:spPr>
          <a:xfrm flipH="false" flipV="false" rot="0">
            <a:off x="10986883" y="4753268"/>
            <a:ext cx="4505032" cy="4505032"/>
          </a:xfrm>
          <a:custGeom>
            <a:avLst/>
            <a:gdLst/>
            <a:ahLst/>
            <a:cxnLst/>
            <a:rect r="r" b="b" t="t" l="l"/>
            <a:pathLst>
              <a:path h="4505032" w="4505032">
                <a:moveTo>
                  <a:pt x="0" y="0"/>
                </a:moveTo>
                <a:lnTo>
                  <a:pt x="4505032" y="0"/>
                </a:lnTo>
                <a:lnTo>
                  <a:pt x="4505032" y="4505032"/>
                </a:lnTo>
                <a:lnTo>
                  <a:pt x="0" y="4505032"/>
                </a:lnTo>
                <a:lnTo>
                  <a:pt x="0" y="0"/>
                </a:lnTo>
                <a:close/>
              </a:path>
            </a:pathLst>
          </a:custGeom>
          <a:blipFill>
            <a:blip r:embed="rId3"/>
            <a:stretch>
              <a:fillRect l="0" t="0" r="0" b="0"/>
            </a:stretch>
          </a:blipFill>
        </p:spPr>
      </p:sp>
      <p:sp>
        <p:nvSpPr>
          <p:cNvPr name="TextBox 8" id="8"/>
          <p:cNvSpPr txBox="true"/>
          <p:nvPr/>
        </p:nvSpPr>
        <p:spPr>
          <a:xfrm rot="0">
            <a:off x="1028700" y="2536938"/>
            <a:ext cx="16230600" cy="1707925"/>
          </a:xfrm>
          <a:prstGeom prst="rect">
            <a:avLst/>
          </a:prstGeom>
        </p:spPr>
        <p:txBody>
          <a:bodyPr anchor="t" rtlCol="false" tIns="0" lIns="0" bIns="0" rIns="0">
            <a:spAutoFit/>
          </a:bodyPr>
          <a:lstStyle/>
          <a:p>
            <a:pPr algn="just">
              <a:lnSpc>
                <a:spcPts val="4562"/>
              </a:lnSpc>
            </a:pPr>
            <a:r>
              <a:rPr lang="en-US" sz="3258">
                <a:solidFill>
                  <a:srgbClr val="000000"/>
                </a:solidFill>
                <a:latin typeface="Roboto"/>
                <a:ea typeface="Roboto"/>
                <a:cs typeface="Roboto"/>
                <a:sym typeface="Roboto"/>
              </a:rPr>
              <a:t>T</a:t>
            </a:r>
            <a:r>
              <a:rPr lang="en-US" sz="3258">
                <a:solidFill>
                  <a:srgbClr val="000000"/>
                </a:solidFill>
                <a:latin typeface="Roboto"/>
                <a:ea typeface="Roboto"/>
                <a:cs typeface="Roboto"/>
                <a:sym typeface="Roboto"/>
              </a:rPr>
              <a:t>hị trường cân sức khỏe thông minh đa dạng với các sản phẩm như:</a:t>
            </a:r>
          </a:p>
          <a:p>
            <a:pPr algn="just" marL="703590" indent="-351795" lvl="1">
              <a:lnSpc>
                <a:spcPts val="4562"/>
              </a:lnSpc>
              <a:buFont typeface="Arial"/>
              <a:buChar char="•"/>
            </a:pPr>
            <a:r>
              <a:rPr lang="en-US" b="true" sz="3258">
                <a:solidFill>
                  <a:srgbClr val="1B4290"/>
                </a:solidFill>
                <a:latin typeface="Roboto Bold"/>
                <a:ea typeface="Roboto Bold"/>
                <a:cs typeface="Roboto Bold"/>
                <a:sym typeface="Roboto Bold"/>
              </a:rPr>
              <a:t>Xiaomi Smart Scale 2:</a:t>
            </a:r>
            <a:r>
              <a:rPr lang="en-US" sz="3258">
                <a:solidFill>
                  <a:srgbClr val="000000"/>
                </a:solidFill>
                <a:latin typeface="Roboto"/>
                <a:ea typeface="Roboto"/>
                <a:cs typeface="Roboto"/>
                <a:sym typeface="Roboto"/>
              </a:rPr>
              <a:t> Đo cân nặng, BMI, tỷ lệ mỡ, nước, xương; kết nối Mi Fit.</a:t>
            </a:r>
          </a:p>
          <a:p>
            <a:pPr algn="just" marL="703590" indent="-351795" lvl="1">
              <a:lnSpc>
                <a:spcPts val="4562"/>
              </a:lnSpc>
              <a:buFont typeface="Arial"/>
              <a:buChar char="•"/>
            </a:pPr>
            <a:r>
              <a:rPr lang="en-US" b="true" sz="3258">
                <a:solidFill>
                  <a:srgbClr val="1B4290"/>
                </a:solidFill>
                <a:latin typeface="Roboto Bold"/>
                <a:ea typeface="Roboto Bold"/>
                <a:cs typeface="Roboto Bold"/>
                <a:sym typeface="Roboto Bold"/>
              </a:rPr>
              <a:t>CRENOT Gofit S2:</a:t>
            </a:r>
            <a:r>
              <a:rPr lang="en-US" sz="3258">
                <a:solidFill>
                  <a:srgbClr val="000000"/>
                </a:solidFill>
                <a:latin typeface="Roboto"/>
                <a:ea typeface="Roboto"/>
                <a:cs typeface="Roboto"/>
                <a:sym typeface="Roboto"/>
              </a:rPr>
              <a:t> Dùng công nghệ BIA và chip ZeroVar, đo chi tiết nhiều chỉ số.</a:t>
            </a:r>
          </a:p>
        </p:txBody>
      </p:sp>
      <p:sp>
        <p:nvSpPr>
          <p:cNvPr name="TextBox 9" id="9"/>
          <p:cNvSpPr txBox="true"/>
          <p:nvPr/>
        </p:nvSpPr>
        <p:spPr>
          <a:xfrm rot="0">
            <a:off x="15936813" y="9210675"/>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5 of 37</a:t>
            </a:r>
          </a:p>
        </p:txBody>
      </p:sp>
    </p:spTree>
  </p:cSld>
  <p:clrMapOvr>
    <a:masterClrMapping/>
  </p:clrMapOvr>
  <p:transition spd="med">
    <p:push dir="l"/>
  </p:transition>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12150317" y="0"/>
            <a:ext cx="6137684" cy="6127944"/>
            <a:chOff x="0" y="0"/>
            <a:chExt cx="8183578" cy="8170592"/>
          </a:xfrm>
        </p:grpSpPr>
        <p:sp>
          <p:nvSpPr>
            <p:cNvPr name="Freeform 3" id="3"/>
            <p:cNvSpPr/>
            <p:nvPr/>
          </p:nvSpPr>
          <p:spPr>
            <a:xfrm flipH="false" flipV="false" rot="0">
              <a:off x="0" y="0"/>
              <a:ext cx="8183626" cy="8170545"/>
            </a:xfrm>
            <a:custGeom>
              <a:avLst/>
              <a:gdLst/>
              <a:ahLst/>
              <a:cxnLst/>
              <a:rect r="r" b="b" t="t" l="l"/>
              <a:pathLst>
                <a:path h="8170545" w="8183626">
                  <a:moveTo>
                    <a:pt x="0" y="0"/>
                  </a:moveTo>
                  <a:lnTo>
                    <a:pt x="8183626" y="0"/>
                  </a:lnTo>
                  <a:lnTo>
                    <a:pt x="8183626" y="8170545"/>
                  </a:lnTo>
                  <a:lnTo>
                    <a:pt x="0" y="8170545"/>
                  </a:lnTo>
                  <a:lnTo>
                    <a:pt x="0" y="0"/>
                  </a:lnTo>
                  <a:close/>
                </a:path>
              </a:pathLst>
            </a:custGeom>
            <a:blipFill>
              <a:blip r:embed="rId2"/>
              <a:stretch>
                <a:fillRect l="0" t="-15057" r="-15172" b="0"/>
              </a:stretch>
            </a:blipFill>
          </p:spPr>
        </p:sp>
      </p:grpSp>
      <p:sp>
        <p:nvSpPr>
          <p:cNvPr name="AutoShape 4" id="4"/>
          <p:cNvSpPr/>
          <p:nvPr/>
        </p:nvSpPr>
        <p:spPr>
          <a:xfrm>
            <a:off x="1028737" y="1056473"/>
            <a:ext cx="7296656" cy="19050"/>
          </a:xfrm>
          <a:prstGeom prst="line">
            <a:avLst/>
          </a:prstGeom>
          <a:ln cap="rnd" w="28575">
            <a:solidFill>
              <a:srgbClr val="264C9A"/>
            </a:solidFill>
            <a:prstDash val="solid"/>
            <a:headEnd type="none" len="sm" w="sm"/>
            <a:tailEnd type="none" len="sm" w="sm"/>
          </a:ln>
        </p:spPr>
      </p:sp>
      <p:grpSp>
        <p:nvGrpSpPr>
          <p:cNvPr name="Group 5" id="5"/>
          <p:cNvGrpSpPr/>
          <p:nvPr/>
        </p:nvGrpSpPr>
        <p:grpSpPr>
          <a:xfrm rot="0">
            <a:off x="1028738" y="1412911"/>
            <a:ext cx="1312902" cy="1312902"/>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975A7"/>
            </a:soli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8" id="8"/>
          <p:cNvGrpSpPr/>
          <p:nvPr/>
        </p:nvGrpSpPr>
        <p:grpSpPr>
          <a:xfrm rot="0">
            <a:off x="1028700" y="3067464"/>
            <a:ext cx="1312902" cy="1312902"/>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4F0F4"/>
            </a:soli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11" id="11"/>
          <p:cNvGrpSpPr/>
          <p:nvPr/>
        </p:nvGrpSpPr>
        <p:grpSpPr>
          <a:xfrm rot="0">
            <a:off x="1047288" y="6548851"/>
            <a:ext cx="1312902" cy="1312902"/>
            <a:chOff x="0" y="0"/>
            <a:chExt cx="812800" cy="812800"/>
          </a:xfrm>
        </p:grpSpPr>
        <p:sp>
          <p:nvSpPr>
            <p:cNvPr name="Freeform 12" id="12"/>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4F0F4"/>
            </a:solidFill>
          </p:spPr>
        </p:sp>
        <p:sp>
          <p:nvSpPr>
            <p:cNvPr name="TextBox 13" id="13"/>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14" id="14"/>
          <p:cNvGrpSpPr/>
          <p:nvPr/>
        </p:nvGrpSpPr>
        <p:grpSpPr>
          <a:xfrm rot="0">
            <a:off x="1047288" y="8280853"/>
            <a:ext cx="1312902" cy="1312902"/>
            <a:chOff x="0" y="0"/>
            <a:chExt cx="812800" cy="812800"/>
          </a:xfrm>
        </p:grpSpPr>
        <p:sp>
          <p:nvSpPr>
            <p:cNvPr name="Freeform 15" id="1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975A7"/>
            </a:solidFill>
          </p:spPr>
        </p:sp>
        <p:sp>
          <p:nvSpPr>
            <p:cNvPr name="TextBox 16" id="16"/>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17" id="17"/>
          <p:cNvGrpSpPr/>
          <p:nvPr/>
        </p:nvGrpSpPr>
        <p:grpSpPr>
          <a:xfrm rot="0">
            <a:off x="1047288" y="4815042"/>
            <a:ext cx="1312902" cy="1312902"/>
            <a:chOff x="0" y="0"/>
            <a:chExt cx="812800" cy="812800"/>
          </a:xfrm>
        </p:grpSpPr>
        <p:sp>
          <p:nvSpPr>
            <p:cNvPr name="Freeform 18" id="1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975A7"/>
            </a:solidFill>
          </p:spPr>
        </p:sp>
        <p:sp>
          <p:nvSpPr>
            <p:cNvPr name="TextBox 19" id="19"/>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20" id="20"/>
          <p:cNvGrpSpPr/>
          <p:nvPr/>
        </p:nvGrpSpPr>
        <p:grpSpPr>
          <a:xfrm rot="0">
            <a:off x="-2400300" y="3249349"/>
            <a:ext cx="3086100" cy="1039956"/>
            <a:chOff x="0" y="0"/>
            <a:chExt cx="812800" cy="273898"/>
          </a:xfrm>
        </p:grpSpPr>
        <p:sp>
          <p:nvSpPr>
            <p:cNvPr name="Freeform 21" id="21"/>
            <p:cNvSpPr/>
            <p:nvPr/>
          </p:nvSpPr>
          <p:spPr>
            <a:xfrm flipH="false" flipV="false" rot="0">
              <a:off x="0" y="0"/>
              <a:ext cx="812800" cy="273898"/>
            </a:xfrm>
            <a:custGeom>
              <a:avLst/>
              <a:gdLst/>
              <a:ahLst/>
              <a:cxnLst/>
              <a:rect r="r" b="b" t="t" l="l"/>
              <a:pathLst>
                <a:path h="273898" w="812800">
                  <a:moveTo>
                    <a:pt x="609600" y="0"/>
                  </a:moveTo>
                  <a:lnTo>
                    <a:pt x="0" y="0"/>
                  </a:lnTo>
                  <a:lnTo>
                    <a:pt x="0" y="273898"/>
                  </a:lnTo>
                  <a:lnTo>
                    <a:pt x="609600" y="273898"/>
                  </a:lnTo>
                  <a:lnTo>
                    <a:pt x="812800" y="136949"/>
                  </a:lnTo>
                  <a:lnTo>
                    <a:pt x="609600" y="0"/>
                  </a:lnTo>
                  <a:close/>
                </a:path>
              </a:pathLst>
            </a:custGeom>
            <a:solidFill>
              <a:srgbClr val="01135B"/>
            </a:solidFill>
          </p:spPr>
        </p:sp>
        <p:sp>
          <p:nvSpPr>
            <p:cNvPr name="TextBox 22" id="22"/>
            <p:cNvSpPr txBox="true"/>
            <p:nvPr/>
          </p:nvSpPr>
          <p:spPr>
            <a:xfrm>
              <a:off x="0" y="-47625"/>
              <a:ext cx="698500" cy="321523"/>
            </a:xfrm>
            <a:prstGeom prst="rect">
              <a:avLst/>
            </a:prstGeom>
          </p:spPr>
          <p:txBody>
            <a:bodyPr anchor="ctr" rtlCol="false" tIns="50800" lIns="50800" bIns="50800" rIns="50800"/>
            <a:lstStyle/>
            <a:p>
              <a:pPr algn="ctr">
                <a:lnSpc>
                  <a:spcPts val="2592"/>
                </a:lnSpc>
              </a:pPr>
            </a:p>
          </p:txBody>
        </p:sp>
      </p:grpSp>
      <p:sp>
        <p:nvSpPr>
          <p:cNvPr name="TextBox 23" id="23"/>
          <p:cNvSpPr txBox="true"/>
          <p:nvPr/>
        </p:nvSpPr>
        <p:spPr>
          <a:xfrm rot="0">
            <a:off x="1028700" y="161925"/>
            <a:ext cx="3327142" cy="866775"/>
          </a:xfrm>
          <a:prstGeom prst="rect">
            <a:avLst/>
          </a:prstGeom>
        </p:spPr>
        <p:txBody>
          <a:bodyPr anchor="t" rtlCol="false" tIns="0" lIns="0" bIns="0" rIns="0">
            <a:spAutoFit/>
          </a:bodyPr>
          <a:lstStyle/>
          <a:p>
            <a:pPr algn="just">
              <a:lnSpc>
                <a:spcPts val="6720"/>
              </a:lnSpc>
            </a:pPr>
            <a:r>
              <a:rPr lang="en-US" sz="5600" b="true">
                <a:solidFill>
                  <a:srgbClr val="081861"/>
                </a:solidFill>
                <a:latin typeface="Roboto Bold"/>
                <a:ea typeface="Roboto Bold"/>
                <a:cs typeface="Roboto Bold"/>
                <a:sym typeface="Roboto Bold"/>
              </a:rPr>
              <a:t>NỘI DUNG</a:t>
            </a:r>
          </a:p>
        </p:txBody>
      </p:sp>
      <p:sp>
        <p:nvSpPr>
          <p:cNvPr name="TextBox 24" id="24"/>
          <p:cNvSpPr txBox="true"/>
          <p:nvPr/>
        </p:nvSpPr>
        <p:spPr>
          <a:xfrm rot="0">
            <a:off x="2692271" y="1773839"/>
            <a:ext cx="5818648" cy="600075"/>
          </a:xfrm>
          <a:prstGeom prst="rect">
            <a:avLst/>
          </a:prstGeom>
        </p:spPr>
        <p:txBody>
          <a:bodyPr anchor="t" rtlCol="false" tIns="0" lIns="0" bIns="0" rIns="0">
            <a:spAutoFit/>
          </a:bodyPr>
          <a:lstStyle/>
          <a:p>
            <a:pPr algn="l">
              <a:lnSpc>
                <a:spcPts val="4799"/>
              </a:lnSpc>
            </a:pPr>
            <a:r>
              <a:rPr lang="en-US" b="true" sz="3999" spc="615">
                <a:solidFill>
                  <a:srgbClr val="081861"/>
                </a:solidFill>
                <a:latin typeface="Roboto Bold"/>
                <a:ea typeface="Roboto Bold"/>
                <a:cs typeface="Roboto Bold"/>
                <a:sym typeface="Roboto Bold"/>
              </a:rPr>
              <a:t>TỔNG QUAN ĐỀ TÀI</a:t>
            </a:r>
          </a:p>
        </p:txBody>
      </p:sp>
      <p:sp>
        <p:nvSpPr>
          <p:cNvPr name="TextBox 25" id="25"/>
          <p:cNvSpPr txBox="true"/>
          <p:nvPr/>
        </p:nvSpPr>
        <p:spPr>
          <a:xfrm rot="0">
            <a:off x="2683682" y="3469289"/>
            <a:ext cx="7601139" cy="600075"/>
          </a:xfrm>
          <a:prstGeom prst="rect">
            <a:avLst/>
          </a:prstGeom>
        </p:spPr>
        <p:txBody>
          <a:bodyPr anchor="t" rtlCol="false" tIns="0" lIns="0" bIns="0" rIns="0">
            <a:spAutoFit/>
          </a:bodyPr>
          <a:lstStyle/>
          <a:p>
            <a:pPr algn="l">
              <a:lnSpc>
                <a:spcPts val="4799"/>
              </a:lnSpc>
            </a:pPr>
            <a:r>
              <a:rPr lang="en-US" b="true" sz="3999" spc="421">
                <a:solidFill>
                  <a:srgbClr val="081861"/>
                </a:solidFill>
                <a:latin typeface="Roboto Bold"/>
                <a:ea typeface="Roboto Bold"/>
                <a:cs typeface="Roboto Bold"/>
                <a:sym typeface="Roboto Bold"/>
              </a:rPr>
              <a:t>TÓM TẮT NỘI DUNG ĐỀ TÀI</a:t>
            </a:r>
          </a:p>
        </p:txBody>
      </p:sp>
      <p:sp>
        <p:nvSpPr>
          <p:cNvPr name="TextBox 26" id="26"/>
          <p:cNvSpPr txBox="true"/>
          <p:nvPr/>
        </p:nvSpPr>
        <p:spPr>
          <a:xfrm rot="0">
            <a:off x="2692271" y="6905264"/>
            <a:ext cx="8857139" cy="600075"/>
          </a:xfrm>
          <a:prstGeom prst="rect">
            <a:avLst/>
          </a:prstGeom>
        </p:spPr>
        <p:txBody>
          <a:bodyPr anchor="t" rtlCol="false" tIns="0" lIns="0" bIns="0" rIns="0">
            <a:spAutoFit/>
          </a:bodyPr>
          <a:lstStyle/>
          <a:p>
            <a:pPr algn="l">
              <a:lnSpc>
                <a:spcPts val="4799"/>
              </a:lnSpc>
            </a:pPr>
            <a:r>
              <a:rPr lang="en-US" b="true" sz="3999" spc="307">
                <a:solidFill>
                  <a:srgbClr val="081861"/>
                </a:solidFill>
                <a:latin typeface="Roboto Bold"/>
                <a:ea typeface="Roboto Bold"/>
                <a:cs typeface="Roboto Bold"/>
                <a:sym typeface="Roboto Bold"/>
              </a:rPr>
              <a:t>BÁO CÁO KẾT QUẢ THỰC HIỆN</a:t>
            </a:r>
          </a:p>
        </p:txBody>
      </p:sp>
      <p:sp>
        <p:nvSpPr>
          <p:cNvPr name="TextBox 27" id="27"/>
          <p:cNvSpPr txBox="true"/>
          <p:nvPr/>
        </p:nvSpPr>
        <p:spPr>
          <a:xfrm rot="0">
            <a:off x="2782505" y="8679356"/>
            <a:ext cx="7715949" cy="600075"/>
          </a:xfrm>
          <a:prstGeom prst="rect">
            <a:avLst/>
          </a:prstGeom>
        </p:spPr>
        <p:txBody>
          <a:bodyPr anchor="t" rtlCol="false" tIns="0" lIns="0" bIns="0" rIns="0">
            <a:spAutoFit/>
          </a:bodyPr>
          <a:lstStyle/>
          <a:p>
            <a:pPr algn="l">
              <a:lnSpc>
                <a:spcPts val="4799"/>
              </a:lnSpc>
            </a:pPr>
            <a:r>
              <a:rPr lang="en-US" b="true" sz="3999" spc="470">
                <a:solidFill>
                  <a:srgbClr val="081861"/>
                </a:solidFill>
                <a:latin typeface="Roboto Bold"/>
                <a:ea typeface="Roboto Bold"/>
                <a:cs typeface="Roboto Bold"/>
                <a:sym typeface="Roboto Bold"/>
              </a:rPr>
              <a:t>ĐỊNH HƯỚNG PHÁT TRIỂN</a:t>
            </a:r>
          </a:p>
        </p:txBody>
      </p:sp>
      <p:sp>
        <p:nvSpPr>
          <p:cNvPr name="TextBox 28" id="28"/>
          <p:cNvSpPr txBox="true"/>
          <p:nvPr/>
        </p:nvSpPr>
        <p:spPr>
          <a:xfrm rot="0">
            <a:off x="1299986" y="1664302"/>
            <a:ext cx="807428" cy="819150"/>
          </a:xfrm>
          <a:prstGeom prst="rect">
            <a:avLst/>
          </a:prstGeom>
        </p:spPr>
        <p:txBody>
          <a:bodyPr anchor="t" rtlCol="false" tIns="0" lIns="0" bIns="0" rIns="0">
            <a:spAutoFit/>
          </a:bodyPr>
          <a:lstStyle/>
          <a:p>
            <a:pPr algn="l">
              <a:lnSpc>
                <a:spcPts val="6480"/>
              </a:lnSpc>
            </a:pPr>
            <a:r>
              <a:rPr lang="en-US" sz="5400" b="true">
                <a:solidFill>
                  <a:srgbClr val="FFFFFF"/>
                </a:solidFill>
                <a:latin typeface="Roboto Bold"/>
                <a:ea typeface="Roboto Bold"/>
                <a:cs typeface="Roboto Bold"/>
                <a:sym typeface="Roboto Bold"/>
              </a:rPr>
              <a:t>01</a:t>
            </a:r>
          </a:p>
        </p:txBody>
      </p:sp>
      <p:sp>
        <p:nvSpPr>
          <p:cNvPr name="TextBox 29" id="29"/>
          <p:cNvSpPr txBox="true"/>
          <p:nvPr/>
        </p:nvSpPr>
        <p:spPr>
          <a:xfrm rot="0">
            <a:off x="1300018" y="3314339"/>
            <a:ext cx="807440" cy="819150"/>
          </a:xfrm>
          <a:prstGeom prst="rect">
            <a:avLst/>
          </a:prstGeom>
        </p:spPr>
        <p:txBody>
          <a:bodyPr anchor="t" rtlCol="false" tIns="0" lIns="0" bIns="0" rIns="0">
            <a:spAutoFit/>
          </a:bodyPr>
          <a:lstStyle/>
          <a:p>
            <a:pPr algn="l">
              <a:lnSpc>
                <a:spcPts val="6480"/>
              </a:lnSpc>
            </a:pPr>
            <a:r>
              <a:rPr lang="en-US" sz="5400" b="true">
                <a:solidFill>
                  <a:srgbClr val="1B4290"/>
                </a:solidFill>
                <a:latin typeface="Roboto Bold"/>
                <a:ea typeface="Roboto Bold"/>
                <a:cs typeface="Roboto Bold"/>
                <a:sym typeface="Roboto Bold"/>
              </a:rPr>
              <a:t>02</a:t>
            </a:r>
          </a:p>
        </p:txBody>
      </p:sp>
      <p:sp>
        <p:nvSpPr>
          <p:cNvPr name="TextBox 30" id="30"/>
          <p:cNvSpPr txBox="true"/>
          <p:nvPr/>
        </p:nvSpPr>
        <p:spPr>
          <a:xfrm rot="0">
            <a:off x="1308449" y="6795727"/>
            <a:ext cx="790578" cy="819150"/>
          </a:xfrm>
          <a:prstGeom prst="rect">
            <a:avLst/>
          </a:prstGeom>
        </p:spPr>
        <p:txBody>
          <a:bodyPr anchor="t" rtlCol="false" tIns="0" lIns="0" bIns="0" rIns="0">
            <a:spAutoFit/>
          </a:bodyPr>
          <a:lstStyle/>
          <a:p>
            <a:pPr algn="l">
              <a:lnSpc>
                <a:spcPts val="6480"/>
              </a:lnSpc>
            </a:pPr>
            <a:r>
              <a:rPr lang="en-US" sz="5400" b="true">
                <a:solidFill>
                  <a:srgbClr val="1B4290"/>
                </a:solidFill>
                <a:latin typeface="Roboto Bold"/>
                <a:ea typeface="Roboto Bold"/>
                <a:cs typeface="Roboto Bold"/>
                <a:sym typeface="Roboto Bold"/>
              </a:rPr>
              <a:t>04</a:t>
            </a:r>
          </a:p>
        </p:txBody>
      </p:sp>
      <p:sp>
        <p:nvSpPr>
          <p:cNvPr name="TextBox 31" id="31"/>
          <p:cNvSpPr txBox="true"/>
          <p:nvPr/>
        </p:nvSpPr>
        <p:spPr>
          <a:xfrm rot="0">
            <a:off x="1295175" y="8536252"/>
            <a:ext cx="817050" cy="819150"/>
          </a:xfrm>
          <a:prstGeom prst="rect">
            <a:avLst/>
          </a:prstGeom>
        </p:spPr>
        <p:txBody>
          <a:bodyPr anchor="t" rtlCol="false" tIns="0" lIns="0" bIns="0" rIns="0">
            <a:spAutoFit/>
          </a:bodyPr>
          <a:lstStyle/>
          <a:p>
            <a:pPr algn="l">
              <a:lnSpc>
                <a:spcPts val="6480"/>
              </a:lnSpc>
            </a:pPr>
            <a:r>
              <a:rPr lang="en-US" sz="5400" b="true">
                <a:solidFill>
                  <a:srgbClr val="FFFFFF"/>
                </a:solidFill>
                <a:latin typeface="Roboto Bold"/>
                <a:ea typeface="Roboto Bold"/>
                <a:cs typeface="Roboto Bold"/>
                <a:sym typeface="Roboto Bold"/>
              </a:rPr>
              <a:t>05</a:t>
            </a:r>
          </a:p>
        </p:txBody>
      </p:sp>
      <p:sp>
        <p:nvSpPr>
          <p:cNvPr name="TextBox 32" id="32"/>
          <p:cNvSpPr txBox="true"/>
          <p:nvPr/>
        </p:nvSpPr>
        <p:spPr>
          <a:xfrm rot="0">
            <a:off x="2692271" y="5164739"/>
            <a:ext cx="5341342" cy="600075"/>
          </a:xfrm>
          <a:prstGeom prst="rect">
            <a:avLst/>
          </a:prstGeom>
        </p:spPr>
        <p:txBody>
          <a:bodyPr anchor="t" rtlCol="false" tIns="0" lIns="0" bIns="0" rIns="0">
            <a:spAutoFit/>
          </a:bodyPr>
          <a:lstStyle/>
          <a:p>
            <a:pPr algn="l">
              <a:lnSpc>
                <a:spcPts val="4799"/>
              </a:lnSpc>
            </a:pPr>
            <a:r>
              <a:rPr lang="en-US" b="true" sz="3999" spc="421">
                <a:solidFill>
                  <a:srgbClr val="081861"/>
                </a:solidFill>
                <a:latin typeface="Roboto Bold"/>
                <a:ea typeface="Roboto Bold"/>
                <a:cs typeface="Roboto Bold"/>
                <a:sym typeface="Roboto Bold"/>
              </a:rPr>
              <a:t>CƠ SỞ LÝ THUYẾT</a:t>
            </a:r>
          </a:p>
        </p:txBody>
      </p:sp>
      <p:sp>
        <p:nvSpPr>
          <p:cNvPr name="TextBox 33" id="33"/>
          <p:cNvSpPr txBox="true"/>
          <p:nvPr/>
        </p:nvSpPr>
        <p:spPr>
          <a:xfrm rot="0">
            <a:off x="1300607" y="5055202"/>
            <a:ext cx="806264" cy="819150"/>
          </a:xfrm>
          <a:prstGeom prst="rect">
            <a:avLst/>
          </a:prstGeom>
        </p:spPr>
        <p:txBody>
          <a:bodyPr anchor="t" rtlCol="false" tIns="0" lIns="0" bIns="0" rIns="0">
            <a:spAutoFit/>
          </a:bodyPr>
          <a:lstStyle/>
          <a:p>
            <a:pPr algn="l">
              <a:lnSpc>
                <a:spcPts val="6480"/>
              </a:lnSpc>
            </a:pPr>
            <a:r>
              <a:rPr lang="en-US" sz="5400" b="true">
                <a:solidFill>
                  <a:srgbClr val="FFFFFF"/>
                </a:solidFill>
                <a:latin typeface="Roboto Bold"/>
                <a:ea typeface="Roboto Bold"/>
                <a:cs typeface="Roboto Bold"/>
                <a:sym typeface="Roboto Bold"/>
              </a:rPr>
              <a:t>03</a:t>
            </a:r>
          </a:p>
        </p:txBody>
      </p:sp>
    </p:spTree>
  </p:cSld>
  <p:clrMapOvr>
    <a:masterClrMapping/>
  </p:clrMapOvr>
  <p:transition spd="med">
    <p:push dir="l"/>
  </p:transition>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2429918" y="2807634"/>
            <a:ext cx="6187407" cy="3015274"/>
            <a:chOff x="0" y="0"/>
            <a:chExt cx="6886577" cy="3355997"/>
          </a:xfrm>
        </p:grpSpPr>
        <p:sp>
          <p:nvSpPr>
            <p:cNvPr name="Freeform 3" id="3"/>
            <p:cNvSpPr/>
            <p:nvPr/>
          </p:nvSpPr>
          <p:spPr>
            <a:xfrm flipH="false" flipV="false" rot="0">
              <a:off x="0" y="0"/>
              <a:ext cx="6886561" cy="3356029"/>
            </a:xfrm>
            <a:custGeom>
              <a:avLst/>
              <a:gdLst/>
              <a:ahLst/>
              <a:cxnLst/>
              <a:rect r="r" b="b" t="t" l="l"/>
              <a:pathLst>
                <a:path h="3356029" w="6886561">
                  <a:moveTo>
                    <a:pt x="0" y="482474"/>
                  </a:moveTo>
                  <a:cubicBezTo>
                    <a:pt x="0" y="215978"/>
                    <a:pt x="261199" y="0"/>
                    <a:pt x="583082" y="0"/>
                  </a:cubicBezTo>
                  <a:lnTo>
                    <a:pt x="6303478" y="0"/>
                  </a:lnTo>
                  <a:lnTo>
                    <a:pt x="6303478" y="14190"/>
                  </a:lnTo>
                  <a:lnTo>
                    <a:pt x="6303478" y="0"/>
                  </a:lnTo>
                  <a:cubicBezTo>
                    <a:pt x="6625533" y="0"/>
                    <a:pt x="6886561" y="215978"/>
                    <a:pt x="6886561" y="482474"/>
                  </a:cubicBezTo>
                  <a:lnTo>
                    <a:pt x="6869467" y="482474"/>
                  </a:lnTo>
                  <a:lnTo>
                    <a:pt x="6886561" y="482474"/>
                  </a:lnTo>
                  <a:lnTo>
                    <a:pt x="6886561" y="2873559"/>
                  </a:lnTo>
                  <a:lnTo>
                    <a:pt x="6869467" y="2873559"/>
                  </a:lnTo>
                  <a:lnTo>
                    <a:pt x="6886561" y="2873559"/>
                  </a:lnTo>
                  <a:cubicBezTo>
                    <a:pt x="6886561" y="3140054"/>
                    <a:pt x="6625361" y="3356029"/>
                    <a:pt x="6303478" y="3356029"/>
                  </a:cubicBezTo>
                  <a:lnTo>
                    <a:pt x="6303478" y="3341842"/>
                  </a:lnTo>
                  <a:lnTo>
                    <a:pt x="6303478" y="3356029"/>
                  </a:lnTo>
                  <a:lnTo>
                    <a:pt x="583082" y="3356029"/>
                  </a:lnTo>
                  <a:lnTo>
                    <a:pt x="583082" y="3341842"/>
                  </a:lnTo>
                  <a:lnTo>
                    <a:pt x="583082" y="3356029"/>
                  </a:lnTo>
                  <a:cubicBezTo>
                    <a:pt x="261199" y="3356029"/>
                    <a:pt x="0" y="3140054"/>
                    <a:pt x="0" y="2873559"/>
                  </a:cubicBezTo>
                  <a:lnTo>
                    <a:pt x="0" y="482474"/>
                  </a:lnTo>
                  <a:lnTo>
                    <a:pt x="17094" y="482474"/>
                  </a:lnTo>
                  <a:lnTo>
                    <a:pt x="0" y="482474"/>
                  </a:lnTo>
                  <a:moveTo>
                    <a:pt x="34188" y="482474"/>
                  </a:moveTo>
                  <a:lnTo>
                    <a:pt x="34188" y="2873559"/>
                  </a:lnTo>
                  <a:lnTo>
                    <a:pt x="17094" y="2873559"/>
                  </a:lnTo>
                  <a:lnTo>
                    <a:pt x="34188" y="2873559"/>
                  </a:lnTo>
                  <a:cubicBezTo>
                    <a:pt x="34188" y="3124303"/>
                    <a:pt x="279832" y="3327652"/>
                    <a:pt x="583082" y="3327652"/>
                  </a:cubicBezTo>
                  <a:lnTo>
                    <a:pt x="6303478" y="3327652"/>
                  </a:lnTo>
                  <a:cubicBezTo>
                    <a:pt x="6606729" y="3327652"/>
                    <a:pt x="6852373" y="3124303"/>
                    <a:pt x="6852373" y="2873559"/>
                  </a:cubicBezTo>
                  <a:lnTo>
                    <a:pt x="6852373" y="482474"/>
                  </a:lnTo>
                  <a:cubicBezTo>
                    <a:pt x="6852373" y="231729"/>
                    <a:pt x="6606729" y="28381"/>
                    <a:pt x="6303478" y="28381"/>
                  </a:cubicBezTo>
                  <a:lnTo>
                    <a:pt x="583082" y="28381"/>
                  </a:lnTo>
                  <a:lnTo>
                    <a:pt x="583082" y="14190"/>
                  </a:lnTo>
                  <a:lnTo>
                    <a:pt x="583082" y="28381"/>
                  </a:lnTo>
                  <a:cubicBezTo>
                    <a:pt x="279832" y="28381"/>
                    <a:pt x="34188" y="231729"/>
                    <a:pt x="34188" y="482474"/>
                  </a:cubicBezTo>
                  <a:close/>
                </a:path>
              </a:pathLst>
            </a:custGeom>
            <a:solidFill>
              <a:srgbClr val="A6A6A6"/>
            </a:solidFill>
          </p:spPr>
        </p:sp>
      </p:grpSp>
      <p:grpSp>
        <p:nvGrpSpPr>
          <p:cNvPr name="Group 4" id="4"/>
          <p:cNvGrpSpPr/>
          <p:nvPr/>
        </p:nvGrpSpPr>
        <p:grpSpPr>
          <a:xfrm rot="0">
            <a:off x="-1891467" y="421672"/>
            <a:ext cx="15135268" cy="1178735"/>
            <a:chOff x="0" y="0"/>
            <a:chExt cx="650301" cy="50678"/>
          </a:xfrm>
        </p:grpSpPr>
        <p:sp>
          <p:nvSpPr>
            <p:cNvPr name="Freeform 5" id="5"/>
            <p:cNvSpPr/>
            <p:nvPr/>
          </p:nvSpPr>
          <p:spPr>
            <a:xfrm flipH="false" flipV="false" rot="0">
              <a:off x="0" y="0"/>
              <a:ext cx="650301" cy="50678"/>
            </a:xfrm>
            <a:custGeom>
              <a:avLst/>
              <a:gdLst/>
              <a:ahLst/>
              <a:cxnLst/>
              <a:rect r="r" b="b" t="t" l="l"/>
              <a:pathLst>
                <a:path h="50678" w="650301">
                  <a:moveTo>
                    <a:pt x="650301" y="25339"/>
                  </a:moveTo>
                  <a:lnTo>
                    <a:pt x="650301" y="25339"/>
                  </a:lnTo>
                  <a:cubicBezTo>
                    <a:pt x="650301" y="32059"/>
                    <a:pt x="647631" y="38505"/>
                    <a:pt x="642880" y="43257"/>
                  </a:cubicBezTo>
                  <a:cubicBezTo>
                    <a:pt x="638127" y="48009"/>
                    <a:pt x="631682" y="50678"/>
                    <a:pt x="624962" y="50678"/>
                  </a:cubicBezTo>
                  <a:lnTo>
                    <a:pt x="25339" y="50678"/>
                  </a:lnTo>
                  <a:cubicBezTo>
                    <a:pt x="18619" y="50678"/>
                    <a:pt x="12174" y="48009"/>
                    <a:pt x="7422" y="43257"/>
                  </a:cubicBezTo>
                  <a:cubicBezTo>
                    <a:pt x="2670" y="38505"/>
                    <a:pt x="0" y="32059"/>
                    <a:pt x="0" y="25339"/>
                  </a:cubicBezTo>
                  <a:lnTo>
                    <a:pt x="0" y="25339"/>
                  </a:lnTo>
                  <a:cubicBezTo>
                    <a:pt x="0" y="18619"/>
                    <a:pt x="2670" y="12174"/>
                    <a:pt x="7422" y="7422"/>
                  </a:cubicBezTo>
                  <a:cubicBezTo>
                    <a:pt x="12174" y="2670"/>
                    <a:pt x="18619" y="0"/>
                    <a:pt x="25339" y="0"/>
                  </a:cubicBezTo>
                  <a:lnTo>
                    <a:pt x="624962" y="0"/>
                  </a:lnTo>
                  <a:cubicBezTo>
                    <a:pt x="638956" y="0"/>
                    <a:pt x="650301" y="11345"/>
                    <a:pt x="650301" y="25339"/>
                  </a:cubicBezTo>
                  <a:close/>
                </a:path>
              </a:pathLst>
            </a:custGeom>
            <a:solidFill>
              <a:srgbClr val="002699"/>
            </a:solidFill>
            <a:ln cap="rnd">
              <a:noFill/>
              <a:prstDash val="solid"/>
              <a:round/>
            </a:ln>
          </p:spPr>
        </p:sp>
        <p:sp>
          <p:nvSpPr>
            <p:cNvPr name="TextBox 6" id="6"/>
            <p:cNvSpPr txBox="true"/>
            <p:nvPr/>
          </p:nvSpPr>
          <p:spPr>
            <a:xfrm>
              <a:off x="0" y="-47625"/>
              <a:ext cx="650301" cy="98303"/>
            </a:xfrm>
            <a:prstGeom prst="rect">
              <a:avLst/>
            </a:prstGeom>
          </p:spPr>
          <p:txBody>
            <a:bodyPr anchor="ctr" rtlCol="false" tIns="50800" lIns="50800" bIns="50800" rIns="50800"/>
            <a:lstStyle/>
            <a:p>
              <a:pPr algn="ctr">
                <a:lnSpc>
                  <a:spcPts val="2592"/>
                </a:lnSpc>
              </a:pPr>
            </a:p>
          </p:txBody>
        </p:sp>
      </p:grpSp>
      <p:grpSp>
        <p:nvGrpSpPr>
          <p:cNvPr name="Group 7" id="7"/>
          <p:cNvGrpSpPr/>
          <p:nvPr/>
        </p:nvGrpSpPr>
        <p:grpSpPr>
          <a:xfrm rot="0">
            <a:off x="4750588" y="2162382"/>
            <a:ext cx="1546066" cy="1254878"/>
            <a:chOff x="0" y="0"/>
            <a:chExt cx="1720770" cy="1396678"/>
          </a:xfrm>
        </p:grpSpPr>
        <p:sp>
          <p:nvSpPr>
            <p:cNvPr name="Freeform 8" id="8"/>
            <p:cNvSpPr/>
            <p:nvPr/>
          </p:nvSpPr>
          <p:spPr>
            <a:xfrm flipH="false" flipV="false" rot="0">
              <a:off x="0" y="0"/>
              <a:ext cx="1720723" cy="1396619"/>
            </a:xfrm>
            <a:custGeom>
              <a:avLst/>
              <a:gdLst/>
              <a:ahLst/>
              <a:cxnLst/>
              <a:rect r="r" b="b" t="t" l="l"/>
              <a:pathLst>
                <a:path h="1396619" w="1720723">
                  <a:moveTo>
                    <a:pt x="0" y="348488"/>
                  </a:moveTo>
                  <a:cubicBezTo>
                    <a:pt x="0" y="156083"/>
                    <a:pt x="156083" y="0"/>
                    <a:pt x="348488" y="0"/>
                  </a:cubicBezTo>
                  <a:lnTo>
                    <a:pt x="1372235" y="0"/>
                  </a:lnTo>
                  <a:cubicBezTo>
                    <a:pt x="1564767" y="0"/>
                    <a:pt x="1720723" y="156083"/>
                    <a:pt x="1720723" y="348488"/>
                  </a:cubicBezTo>
                  <a:lnTo>
                    <a:pt x="1720723" y="1048131"/>
                  </a:lnTo>
                  <a:cubicBezTo>
                    <a:pt x="1720723" y="1240663"/>
                    <a:pt x="1564640" y="1396619"/>
                    <a:pt x="1372235" y="1396619"/>
                  </a:cubicBezTo>
                  <a:lnTo>
                    <a:pt x="348488" y="1396619"/>
                  </a:lnTo>
                  <a:cubicBezTo>
                    <a:pt x="156083" y="1396619"/>
                    <a:pt x="0" y="1240663"/>
                    <a:pt x="0" y="1048131"/>
                  </a:cubicBezTo>
                  <a:close/>
                </a:path>
              </a:pathLst>
            </a:custGeom>
            <a:solidFill>
              <a:srgbClr val="299DC0"/>
            </a:solidFill>
          </p:spPr>
        </p:sp>
      </p:grpSp>
      <p:grpSp>
        <p:nvGrpSpPr>
          <p:cNvPr name="Group 9" id="9"/>
          <p:cNvGrpSpPr/>
          <p:nvPr/>
        </p:nvGrpSpPr>
        <p:grpSpPr>
          <a:xfrm rot="0">
            <a:off x="2429918" y="6867561"/>
            <a:ext cx="6187407" cy="3015274"/>
            <a:chOff x="0" y="0"/>
            <a:chExt cx="6886577" cy="3355997"/>
          </a:xfrm>
        </p:grpSpPr>
        <p:sp>
          <p:nvSpPr>
            <p:cNvPr name="Freeform 10" id="10"/>
            <p:cNvSpPr/>
            <p:nvPr/>
          </p:nvSpPr>
          <p:spPr>
            <a:xfrm flipH="false" flipV="false" rot="0">
              <a:off x="0" y="0"/>
              <a:ext cx="6886561" cy="3356029"/>
            </a:xfrm>
            <a:custGeom>
              <a:avLst/>
              <a:gdLst/>
              <a:ahLst/>
              <a:cxnLst/>
              <a:rect r="r" b="b" t="t" l="l"/>
              <a:pathLst>
                <a:path h="3356029" w="6886561">
                  <a:moveTo>
                    <a:pt x="0" y="482474"/>
                  </a:moveTo>
                  <a:cubicBezTo>
                    <a:pt x="0" y="215978"/>
                    <a:pt x="261199" y="0"/>
                    <a:pt x="583082" y="0"/>
                  </a:cubicBezTo>
                  <a:lnTo>
                    <a:pt x="6303478" y="0"/>
                  </a:lnTo>
                  <a:lnTo>
                    <a:pt x="6303478" y="14190"/>
                  </a:lnTo>
                  <a:lnTo>
                    <a:pt x="6303478" y="0"/>
                  </a:lnTo>
                  <a:cubicBezTo>
                    <a:pt x="6625533" y="0"/>
                    <a:pt x="6886561" y="215978"/>
                    <a:pt x="6886561" y="482474"/>
                  </a:cubicBezTo>
                  <a:lnTo>
                    <a:pt x="6869467" y="482474"/>
                  </a:lnTo>
                  <a:lnTo>
                    <a:pt x="6886561" y="482474"/>
                  </a:lnTo>
                  <a:lnTo>
                    <a:pt x="6886561" y="2873559"/>
                  </a:lnTo>
                  <a:lnTo>
                    <a:pt x="6869467" y="2873559"/>
                  </a:lnTo>
                  <a:lnTo>
                    <a:pt x="6886561" y="2873559"/>
                  </a:lnTo>
                  <a:cubicBezTo>
                    <a:pt x="6886561" y="3140054"/>
                    <a:pt x="6625361" y="3356029"/>
                    <a:pt x="6303478" y="3356029"/>
                  </a:cubicBezTo>
                  <a:lnTo>
                    <a:pt x="6303478" y="3341842"/>
                  </a:lnTo>
                  <a:lnTo>
                    <a:pt x="6303478" y="3356029"/>
                  </a:lnTo>
                  <a:lnTo>
                    <a:pt x="583082" y="3356029"/>
                  </a:lnTo>
                  <a:lnTo>
                    <a:pt x="583082" y="3341842"/>
                  </a:lnTo>
                  <a:lnTo>
                    <a:pt x="583082" y="3356029"/>
                  </a:lnTo>
                  <a:cubicBezTo>
                    <a:pt x="261199" y="3356029"/>
                    <a:pt x="0" y="3140054"/>
                    <a:pt x="0" y="2873559"/>
                  </a:cubicBezTo>
                  <a:lnTo>
                    <a:pt x="0" y="482474"/>
                  </a:lnTo>
                  <a:lnTo>
                    <a:pt x="17094" y="482474"/>
                  </a:lnTo>
                  <a:lnTo>
                    <a:pt x="0" y="482474"/>
                  </a:lnTo>
                  <a:moveTo>
                    <a:pt x="34188" y="482474"/>
                  </a:moveTo>
                  <a:lnTo>
                    <a:pt x="34188" y="2873559"/>
                  </a:lnTo>
                  <a:lnTo>
                    <a:pt x="17094" y="2873559"/>
                  </a:lnTo>
                  <a:lnTo>
                    <a:pt x="34188" y="2873559"/>
                  </a:lnTo>
                  <a:cubicBezTo>
                    <a:pt x="34188" y="3124303"/>
                    <a:pt x="279832" y="3327652"/>
                    <a:pt x="583082" y="3327652"/>
                  </a:cubicBezTo>
                  <a:lnTo>
                    <a:pt x="6303478" y="3327652"/>
                  </a:lnTo>
                  <a:cubicBezTo>
                    <a:pt x="6606729" y="3327652"/>
                    <a:pt x="6852373" y="3124303"/>
                    <a:pt x="6852373" y="2873559"/>
                  </a:cubicBezTo>
                  <a:lnTo>
                    <a:pt x="6852373" y="482474"/>
                  </a:lnTo>
                  <a:cubicBezTo>
                    <a:pt x="6852373" y="231729"/>
                    <a:pt x="6606729" y="28381"/>
                    <a:pt x="6303478" y="28381"/>
                  </a:cubicBezTo>
                  <a:lnTo>
                    <a:pt x="583082" y="28381"/>
                  </a:lnTo>
                  <a:lnTo>
                    <a:pt x="583082" y="14190"/>
                  </a:lnTo>
                  <a:lnTo>
                    <a:pt x="583082" y="28381"/>
                  </a:lnTo>
                  <a:cubicBezTo>
                    <a:pt x="279832" y="28381"/>
                    <a:pt x="34188" y="231729"/>
                    <a:pt x="34188" y="482474"/>
                  </a:cubicBezTo>
                  <a:close/>
                </a:path>
              </a:pathLst>
            </a:custGeom>
            <a:solidFill>
              <a:srgbClr val="A6A6A6"/>
            </a:solidFill>
          </p:spPr>
        </p:sp>
      </p:grpSp>
      <p:sp>
        <p:nvSpPr>
          <p:cNvPr name="TextBox 11" id="11"/>
          <p:cNvSpPr txBox="true"/>
          <p:nvPr/>
        </p:nvSpPr>
        <p:spPr>
          <a:xfrm rot="0">
            <a:off x="583038" y="638175"/>
            <a:ext cx="11746702" cy="771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2.1 </a:t>
            </a:r>
            <a:r>
              <a:rPr lang="en-US" b="true" sz="5000" spc="769">
                <a:solidFill>
                  <a:srgbClr val="FFFFFF"/>
                </a:solidFill>
                <a:latin typeface="Roboto Bold"/>
                <a:ea typeface="Roboto Bold"/>
                <a:cs typeface="Roboto Bold"/>
                <a:sym typeface="Roboto Bold"/>
              </a:rPr>
              <a:t>TÓM TẮT NỘI DUNG ĐỀ TÀI</a:t>
            </a:r>
          </a:p>
        </p:txBody>
      </p:sp>
      <p:grpSp>
        <p:nvGrpSpPr>
          <p:cNvPr name="Group 12" id="12"/>
          <p:cNvGrpSpPr/>
          <p:nvPr/>
        </p:nvGrpSpPr>
        <p:grpSpPr>
          <a:xfrm rot="0">
            <a:off x="10150097" y="2807634"/>
            <a:ext cx="6187407" cy="3015274"/>
            <a:chOff x="0" y="0"/>
            <a:chExt cx="6886577" cy="3355997"/>
          </a:xfrm>
        </p:grpSpPr>
        <p:sp>
          <p:nvSpPr>
            <p:cNvPr name="Freeform 13" id="13"/>
            <p:cNvSpPr/>
            <p:nvPr/>
          </p:nvSpPr>
          <p:spPr>
            <a:xfrm flipH="false" flipV="false" rot="0">
              <a:off x="0" y="0"/>
              <a:ext cx="6886561" cy="3356029"/>
            </a:xfrm>
            <a:custGeom>
              <a:avLst/>
              <a:gdLst/>
              <a:ahLst/>
              <a:cxnLst/>
              <a:rect r="r" b="b" t="t" l="l"/>
              <a:pathLst>
                <a:path h="3356029" w="6886561">
                  <a:moveTo>
                    <a:pt x="0" y="482474"/>
                  </a:moveTo>
                  <a:cubicBezTo>
                    <a:pt x="0" y="215978"/>
                    <a:pt x="261199" y="0"/>
                    <a:pt x="583082" y="0"/>
                  </a:cubicBezTo>
                  <a:lnTo>
                    <a:pt x="6303478" y="0"/>
                  </a:lnTo>
                  <a:lnTo>
                    <a:pt x="6303478" y="14190"/>
                  </a:lnTo>
                  <a:lnTo>
                    <a:pt x="6303478" y="0"/>
                  </a:lnTo>
                  <a:cubicBezTo>
                    <a:pt x="6625533" y="0"/>
                    <a:pt x="6886561" y="215978"/>
                    <a:pt x="6886561" y="482474"/>
                  </a:cubicBezTo>
                  <a:lnTo>
                    <a:pt x="6869467" y="482474"/>
                  </a:lnTo>
                  <a:lnTo>
                    <a:pt x="6886561" y="482474"/>
                  </a:lnTo>
                  <a:lnTo>
                    <a:pt x="6886561" y="2873559"/>
                  </a:lnTo>
                  <a:lnTo>
                    <a:pt x="6869467" y="2873559"/>
                  </a:lnTo>
                  <a:lnTo>
                    <a:pt x="6886561" y="2873559"/>
                  </a:lnTo>
                  <a:cubicBezTo>
                    <a:pt x="6886561" y="3140054"/>
                    <a:pt x="6625361" y="3356029"/>
                    <a:pt x="6303478" y="3356029"/>
                  </a:cubicBezTo>
                  <a:lnTo>
                    <a:pt x="6303478" y="3341842"/>
                  </a:lnTo>
                  <a:lnTo>
                    <a:pt x="6303478" y="3356029"/>
                  </a:lnTo>
                  <a:lnTo>
                    <a:pt x="583082" y="3356029"/>
                  </a:lnTo>
                  <a:lnTo>
                    <a:pt x="583082" y="3341842"/>
                  </a:lnTo>
                  <a:lnTo>
                    <a:pt x="583082" y="3356029"/>
                  </a:lnTo>
                  <a:cubicBezTo>
                    <a:pt x="261199" y="3356029"/>
                    <a:pt x="0" y="3140054"/>
                    <a:pt x="0" y="2873559"/>
                  </a:cubicBezTo>
                  <a:lnTo>
                    <a:pt x="0" y="482474"/>
                  </a:lnTo>
                  <a:lnTo>
                    <a:pt x="17094" y="482474"/>
                  </a:lnTo>
                  <a:lnTo>
                    <a:pt x="0" y="482474"/>
                  </a:lnTo>
                  <a:moveTo>
                    <a:pt x="34188" y="482474"/>
                  </a:moveTo>
                  <a:lnTo>
                    <a:pt x="34188" y="2873559"/>
                  </a:lnTo>
                  <a:lnTo>
                    <a:pt x="17094" y="2873559"/>
                  </a:lnTo>
                  <a:lnTo>
                    <a:pt x="34188" y="2873559"/>
                  </a:lnTo>
                  <a:cubicBezTo>
                    <a:pt x="34188" y="3124303"/>
                    <a:pt x="279832" y="3327652"/>
                    <a:pt x="583082" y="3327652"/>
                  </a:cubicBezTo>
                  <a:lnTo>
                    <a:pt x="6303478" y="3327652"/>
                  </a:lnTo>
                  <a:cubicBezTo>
                    <a:pt x="6606729" y="3327652"/>
                    <a:pt x="6852373" y="3124303"/>
                    <a:pt x="6852373" y="2873559"/>
                  </a:cubicBezTo>
                  <a:lnTo>
                    <a:pt x="6852373" y="482474"/>
                  </a:lnTo>
                  <a:cubicBezTo>
                    <a:pt x="6852373" y="231729"/>
                    <a:pt x="6606729" y="28381"/>
                    <a:pt x="6303478" y="28381"/>
                  </a:cubicBezTo>
                  <a:lnTo>
                    <a:pt x="583082" y="28381"/>
                  </a:lnTo>
                  <a:lnTo>
                    <a:pt x="583082" y="14190"/>
                  </a:lnTo>
                  <a:lnTo>
                    <a:pt x="583082" y="28381"/>
                  </a:lnTo>
                  <a:cubicBezTo>
                    <a:pt x="279832" y="28381"/>
                    <a:pt x="34188" y="231729"/>
                    <a:pt x="34188" y="482474"/>
                  </a:cubicBezTo>
                  <a:close/>
                </a:path>
              </a:pathLst>
            </a:custGeom>
            <a:solidFill>
              <a:srgbClr val="A6A6A6"/>
            </a:solidFill>
          </p:spPr>
        </p:sp>
      </p:grpSp>
      <p:grpSp>
        <p:nvGrpSpPr>
          <p:cNvPr name="Group 14" id="14"/>
          <p:cNvGrpSpPr/>
          <p:nvPr/>
        </p:nvGrpSpPr>
        <p:grpSpPr>
          <a:xfrm rot="0">
            <a:off x="12470768" y="2162382"/>
            <a:ext cx="1546066" cy="1254878"/>
            <a:chOff x="0" y="0"/>
            <a:chExt cx="2061421" cy="1673171"/>
          </a:xfrm>
        </p:grpSpPr>
        <p:grpSp>
          <p:nvGrpSpPr>
            <p:cNvPr name="Group 15" id="15"/>
            <p:cNvGrpSpPr/>
            <p:nvPr/>
          </p:nvGrpSpPr>
          <p:grpSpPr>
            <a:xfrm rot="0">
              <a:off x="0" y="0"/>
              <a:ext cx="2061421" cy="1673171"/>
              <a:chOff x="0" y="0"/>
              <a:chExt cx="1720770" cy="1396678"/>
            </a:xfrm>
          </p:grpSpPr>
          <p:sp>
            <p:nvSpPr>
              <p:cNvPr name="Freeform 16" id="16"/>
              <p:cNvSpPr/>
              <p:nvPr/>
            </p:nvSpPr>
            <p:spPr>
              <a:xfrm flipH="false" flipV="false" rot="0">
                <a:off x="0" y="0"/>
                <a:ext cx="1720723" cy="1396619"/>
              </a:xfrm>
              <a:custGeom>
                <a:avLst/>
                <a:gdLst/>
                <a:ahLst/>
                <a:cxnLst/>
                <a:rect r="r" b="b" t="t" l="l"/>
                <a:pathLst>
                  <a:path h="1396619" w="1720723">
                    <a:moveTo>
                      <a:pt x="0" y="348488"/>
                    </a:moveTo>
                    <a:cubicBezTo>
                      <a:pt x="0" y="156083"/>
                      <a:pt x="156083" y="0"/>
                      <a:pt x="348488" y="0"/>
                    </a:cubicBezTo>
                    <a:lnTo>
                      <a:pt x="1372235" y="0"/>
                    </a:lnTo>
                    <a:cubicBezTo>
                      <a:pt x="1564767" y="0"/>
                      <a:pt x="1720723" y="156083"/>
                      <a:pt x="1720723" y="348488"/>
                    </a:cubicBezTo>
                    <a:lnTo>
                      <a:pt x="1720723" y="1048131"/>
                    </a:lnTo>
                    <a:cubicBezTo>
                      <a:pt x="1720723" y="1240663"/>
                      <a:pt x="1564640" y="1396619"/>
                      <a:pt x="1372235" y="1396619"/>
                    </a:cubicBezTo>
                    <a:lnTo>
                      <a:pt x="348488" y="1396619"/>
                    </a:lnTo>
                    <a:cubicBezTo>
                      <a:pt x="156083" y="1396619"/>
                      <a:pt x="0" y="1240663"/>
                      <a:pt x="0" y="1048131"/>
                    </a:cubicBezTo>
                    <a:close/>
                  </a:path>
                </a:pathLst>
              </a:custGeom>
              <a:solidFill>
                <a:srgbClr val="264C9A"/>
              </a:solidFill>
            </p:spPr>
          </p:sp>
        </p:grpSp>
        <p:sp>
          <p:nvSpPr>
            <p:cNvPr name="Freeform 17" id="17"/>
            <p:cNvSpPr/>
            <p:nvPr/>
          </p:nvSpPr>
          <p:spPr>
            <a:xfrm flipH="false" flipV="false" rot="0">
              <a:off x="605078" y="474411"/>
              <a:ext cx="851266" cy="724350"/>
            </a:xfrm>
            <a:custGeom>
              <a:avLst/>
              <a:gdLst/>
              <a:ahLst/>
              <a:cxnLst/>
              <a:rect r="r" b="b" t="t" l="l"/>
              <a:pathLst>
                <a:path h="724350" w="851266">
                  <a:moveTo>
                    <a:pt x="0" y="0"/>
                  </a:moveTo>
                  <a:lnTo>
                    <a:pt x="851266" y="0"/>
                  </a:lnTo>
                  <a:lnTo>
                    <a:pt x="851266" y="724349"/>
                  </a:lnTo>
                  <a:lnTo>
                    <a:pt x="0" y="72434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grpSp>
        <p:nvGrpSpPr>
          <p:cNvPr name="Group 18" id="18"/>
          <p:cNvGrpSpPr/>
          <p:nvPr/>
        </p:nvGrpSpPr>
        <p:grpSpPr>
          <a:xfrm rot="0">
            <a:off x="10150097" y="6854812"/>
            <a:ext cx="6187407" cy="3015274"/>
            <a:chOff x="0" y="0"/>
            <a:chExt cx="6886577" cy="3355997"/>
          </a:xfrm>
        </p:grpSpPr>
        <p:sp>
          <p:nvSpPr>
            <p:cNvPr name="Freeform 19" id="19"/>
            <p:cNvSpPr/>
            <p:nvPr/>
          </p:nvSpPr>
          <p:spPr>
            <a:xfrm flipH="false" flipV="false" rot="0">
              <a:off x="0" y="0"/>
              <a:ext cx="6886561" cy="3356029"/>
            </a:xfrm>
            <a:custGeom>
              <a:avLst/>
              <a:gdLst/>
              <a:ahLst/>
              <a:cxnLst/>
              <a:rect r="r" b="b" t="t" l="l"/>
              <a:pathLst>
                <a:path h="3356029" w="6886561">
                  <a:moveTo>
                    <a:pt x="0" y="482474"/>
                  </a:moveTo>
                  <a:cubicBezTo>
                    <a:pt x="0" y="215978"/>
                    <a:pt x="261199" y="0"/>
                    <a:pt x="583082" y="0"/>
                  </a:cubicBezTo>
                  <a:lnTo>
                    <a:pt x="6303478" y="0"/>
                  </a:lnTo>
                  <a:lnTo>
                    <a:pt x="6303478" y="14190"/>
                  </a:lnTo>
                  <a:lnTo>
                    <a:pt x="6303478" y="0"/>
                  </a:lnTo>
                  <a:cubicBezTo>
                    <a:pt x="6625533" y="0"/>
                    <a:pt x="6886561" y="215978"/>
                    <a:pt x="6886561" y="482474"/>
                  </a:cubicBezTo>
                  <a:lnTo>
                    <a:pt x="6869467" y="482474"/>
                  </a:lnTo>
                  <a:lnTo>
                    <a:pt x="6886561" y="482474"/>
                  </a:lnTo>
                  <a:lnTo>
                    <a:pt x="6886561" y="2873559"/>
                  </a:lnTo>
                  <a:lnTo>
                    <a:pt x="6869467" y="2873559"/>
                  </a:lnTo>
                  <a:lnTo>
                    <a:pt x="6886561" y="2873559"/>
                  </a:lnTo>
                  <a:cubicBezTo>
                    <a:pt x="6886561" y="3140054"/>
                    <a:pt x="6625361" y="3356029"/>
                    <a:pt x="6303478" y="3356029"/>
                  </a:cubicBezTo>
                  <a:lnTo>
                    <a:pt x="6303478" y="3341842"/>
                  </a:lnTo>
                  <a:lnTo>
                    <a:pt x="6303478" y="3356029"/>
                  </a:lnTo>
                  <a:lnTo>
                    <a:pt x="583082" y="3356029"/>
                  </a:lnTo>
                  <a:lnTo>
                    <a:pt x="583082" y="3341842"/>
                  </a:lnTo>
                  <a:lnTo>
                    <a:pt x="583082" y="3356029"/>
                  </a:lnTo>
                  <a:cubicBezTo>
                    <a:pt x="261199" y="3356029"/>
                    <a:pt x="0" y="3140054"/>
                    <a:pt x="0" y="2873559"/>
                  </a:cubicBezTo>
                  <a:lnTo>
                    <a:pt x="0" y="482474"/>
                  </a:lnTo>
                  <a:lnTo>
                    <a:pt x="17094" y="482474"/>
                  </a:lnTo>
                  <a:lnTo>
                    <a:pt x="0" y="482474"/>
                  </a:lnTo>
                  <a:moveTo>
                    <a:pt x="34188" y="482474"/>
                  </a:moveTo>
                  <a:lnTo>
                    <a:pt x="34188" y="2873559"/>
                  </a:lnTo>
                  <a:lnTo>
                    <a:pt x="17094" y="2873559"/>
                  </a:lnTo>
                  <a:lnTo>
                    <a:pt x="34188" y="2873559"/>
                  </a:lnTo>
                  <a:cubicBezTo>
                    <a:pt x="34188" y="3124303"/>
                    <a:pt x="279832" y="3327652"/>
                    <a:pt x="583082" y="3327652"/>
                  </a:cubicBezTo>
                  <a:lnTo>
                    <a:pt x="6303478" y="3327652"/>
                  </a:lnTo>
                  <a:cubicBezTo>
                    <a:pt x="6606729" y="3327652"/>
                    <a:pt x="6852373" y="3124303"/>
                    <a:pt x="6852373" y="2873559"/>
                  </a:cubicBezTo>
                  <a:lnTo>
                    <a:pt x="6852373" y="482474"/>
                  </a:lnTo>
                  <a:cubicBezTo>
                    <a:pt x="6852373" y="231729"/>
                    <a:pt x="6606729" y="28381"/>
                    <a:pt x="6303478" y="28381"/>
                  </a:cubicBezTo>
                  <a:lnTo>
                    <a:pt x="583082" y="28381"/>
                  </a:lnTo>
                  <a:lnTo>
                    <a:pt x="583082" y="14190"/>
                  </a:lnTo>
                  <a:lnTo>
                    <a:pt x="583082" y="28381"/>
                  </a:lnTo>
                  <a:cubicBezTo>
                    <a:pt x="279832" y="28381"/>
                    <a:pt x="34188" y="231729"/>
                    <a:pt x="34188" y="482474"/>
                  </a:cubicBezTo>
                  <a:close/>
                </a:path>
              </a:pathLst>
            </a:custGeom>
            <a:solidFill>
              <a:srgbClr val="A6A6A6"/>
            </a:solidFill>
          </p:spPr>
        </p:sp>
      </p:grpSp>
      <p:grpSp>
        <p:nvGrpSpPr>
          <p:cNvPr name="Group 20" id="20"/>
          <p:cNvGrpSpPr/>
          <p:nvPr/>
        </p:nvGrpSpPr>
        <p:grpSpPr>
          <a:xfrm rot="0">
            <a:off x="12470768" y="6227372"/>
            <a:ext cx="1546066" cy="1254878"/>
            <a:chOff x="0" y="0"/>
            <a:chExt cx="2061421" cy="1673171"/>
          </a:xfrm>
        </p:grpSpPr>
        <p:grpSp>
          <p:nvGrpSpPr>
            <p:cNvPr name="Group 21" id="21"/>
            <p:cNvGrpSpPr/>
            <p:nvPr/>
          </p:nvGrpSpPr>
          <p:grpSpPr>
            <a:xfrm rot="0">
              <a:off x="0" y="0"/>
              <a:ext cx="2061421" cy="1673171"/>
              <a:chOff x="0" y="0"/>
              <a:chExt cx="1720770" cy="1396678"/>
            </a:xfrm>
          </p:grpSpPr>
          <p:sp>
            <p:nvSpPr>
              <p:cNvPr name="Freeform 22" id="22"/>
              <p:cNvSpPr/>
              <p:nvPr/>
            </p:nvSpPr>
            <p:spPr>
              <a:xfrm flipH="false" flipV="false" rot="0">
                <a:off x="0" y="0"/>
                <a:ext cx="1720723" cy="1396619"/>
              </a:xfrm>
              <a:custGeom>
                <a:avLst/>
                <a:gdLst/>
                <a:ahLst/>
                <a:cxnLst/>
                <a:rect r="r" b="b" t="t" l="l"/>
                <a:pathLst>
                  <a:path h="1396619" w="1720723">
                    <a:moveTo>
                      <a:pt x="0" y="348488"/>
                    </a:moveTo>
                    <a:cubicBezTo>
                      <a:pt x="0" y="156083"/>
                      <a:pt x="156083" y="0"/>
                      <a:pt x="348488" y="0"/>
                    </a:cubicBezTo>
                    <a:lnTo>
                      <a:pt x="1372235" y="0"/>
                    </a:lnTo>
                    <a:cubicBezTo>
                      <a:pt x="1564767" y="0"/>
                      <a:pt x="1720723" y="156083"/>
                      <a:pt x="1720723" y="348488"/>
                    </a:cubicBezTo>
                    <a:lnTo>
                      <a:pt x="1720723" y="1048131"/>
                    </a:lnTo>
                    <a:cubicBezTo>
                      <a:pt x="1720723" y="1240663"/>
                      <a:pt x="1564640" y="1396619"/>
                      <a:pt x="1372235" y="1396619"/>
                    </a:cubicBezTo>
                    <a:lnTo>
                      <a:pt x="348488" y="1396619"/>
                    </a:lnTo>
                    <a:cubicBezTo>
                      <a:pt x="156083" y="1396619"/>
                      <a:pt x="0" y="1240663"/>
                      <a:pt x="0" y="1048131"/>
                    </a:cubicBezTo>
                    <a:close/>
                  </a:path>
                </a:pathLst>
              </a:custGeom>
              <a:solidFill>
                <a:srgbClr val="299DC0"/>
              </a:solidFill>
            </p:spPr>
          </p:sp>
        </p:grpSp>
        <p:sp>
          <p:nvSpPr>
            <p:cNvPr name="Freeform 23" id="23"/>
            <p:cNvSpPr/>
            <p:nvPr/>
          </p:nvSpPr>
          <p:spPr>
            <a:xfrm flipH="false" flipV="false" rot="0">
              <a:off x="535983" y="341858"/>
              <a:ext cx="989455" cy="989455"/>
            </a:xfrm>
            <a:custGeom>
              <a:avLst/>
              <a:gdLst/>
              <a:ahLst/>
              <a:cxnLst/>
              <a:rect r="r" b="b" t="t" l="l"/>
              <a:pathLst>
                <a:path h="989455" w="989455">
                  <a:moveTo>
                    <a:pt x="0" y="0"/>
                  </a:moveTo>
                  <a:lnTo>
                    <a:pt x="989455" y="0"/>
                  </a:lnTo>
                  <a:lnTo>
                    <a:pt x="989455" y="989455"/>
                  </a:lnTo>
                  <a:lnTo>
                    <a:pt x="0" y="98945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sp>
        <p:nvSpPr>
          <p:cNvPr name="Freeform 24" id="24"/>
          <p:cNvSpPr/>
          <p:nvPr/>
        </p:nvSpPr>
        <p:spPr>
          <a:xfrm flipH="false" flipV="false" rot="0">
            <a:off x="5178896" y="2445097"/>
            <a:ext cx="689449" cy="689449"/>
          </a:xfrm>
          <a:custGeom>
            <a:avLst/>
            <a:gdLst/>
            <a:ahLst/>
            <a:cxnLst/>
            <a:rect r="r" b="b" t="t" l="l"/>
            <a:pathLst>
              <a:path h="689449" w="689449">
                <a:moveTo>
                  <a:pt x="0" y="0"/>
                </a:moveTo>
                <a:lnTo>
                  <a:pt x="689449" y="0"/>
                </a:lnTo>
                <a:lnTo>
                  <a:pt x="689449" y="689449"/>
                </a:lnTo>
                <a:lnTo>
                  <a:pt x="0" y="68944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25" id="25"/>
          <p:cNvGrpSpPr/>
          <p:nvPr/>
        </p:nvGrpSpPr>
        <p:grpSpPr>
          <a:xfrm rot="0">
            <a:off x="4750588" y="6240122"/>
            <a:ext cx="1546066" cy="1254878"/>
            <a:chOff x="0" y="0"/>
            <a:chExt cx="2061421" cy="1673171"/>
          </a:xfrm>
        </p:grpSpPr>
        <p:grpSp>
          <p:nvGrpSpPr>
            <p:cNvPr name="Group 26" id="26"/>
            <p:cNvGrpSpPr/>
            <p:nvPr/>
          </p:nvGrpSpPr>
          <p:grpSpPr>
            <a:xfrm rot="0">
              <a:off x="0" y="0"/>
              <a:ext cx="2061421" cy="1673171"/>
              <a:chOff x="0" y="0"/>
              <a:chExt cx="1720770" cy="1396678"/>
            </a:xfrm>
          </p:grpSpPr>
          <p:sp>
            <p:nvSpPr>
              <p:cNvPr name="Freeform 27" id="27"/>
              <p:cNvSpPr/>
              <p:nvPr/>
            </p:nvSpPr>
            <p:spPr>
              <a:xfrm flipH="false" flipV="false" rot="0">
                <a:off x="0" y="0"/>
                <a:ext cx="1720723" cy="1396619"/>
              </a:xfrm>
              <a:custGeom>
                <a:avLst/>
                <a:gdLst/>
                <a:ahLst/>
                <a:cxnLst/>
                <a:rect r="r" b="b" t="t" l="l"/>
                <a:pathLst>
                  <a:path h="1396619" w="1720723">
                    <a:moveTo>
                      <a:pt x="0" y="348488"/>
                    </a:moveTo>
                    <a:cubicBezTo>
                      <a:pt x="0" y="156083"/>
                      <a:pt x="156083" y="0"/>
                      <a:pt x="348488" y="0"/>
                    </a:cubicBezTo>
                    <a:lnTo>
                      <a:pt x="1372235" y="0"/>
                    </a:lnTo>
                    <a:cubicBezTo>
                      <a:pt x="1564767" y="0"/>
                      <a:pt x="1720723" y="156083"/>
                      <a:pt x="1720723" y="348488"/>
                    </a:cubicBezTo>
                    <a:lnTo>
                      <a:pt x="1720723" y="1048131"/>
                    </a:lnTo>
                    <a:cubicBezTo>
                      <a:pt x="1720723" y="1240663"/>
                      <a:pt x="1564640" y="1396619"/>
                      <a:pt x="1372235" y="1396619"/>
                    </a:cubicBezTo>
                    <a:lnTo>
                      <a:pt x="348488" y="1396619"/>
                    </a:lnTo>
                    <a:cubicBezTo>
                      <a:pt x="156083" y="1396619"/>
                      <a:pt x="0" y="1240663"/>
                      <a:pt x="0" y="1048131"/>
                    </a:cubicBezTo>
                    <a:close/>
                  </a:path>
                </a:pathLst>
              </a:custGeom>
              <a:solidFill>
                <a:srgbClr val="264C9A"/>
              </a:solidFill>
            </p:spPr>
          </p:sp>
        </p:grpSp>
        <p:sp>
          <p:nvSpPr>
            <p:cNvPr name="Freeform 28" id="28"/>
            <p:cNvSpPr/>
            <p:nvPr/>
          </p:nvSpPr>
          <p:spPr>
            <a:xfrm flipH="false" flipV="false" rot="0">
              <a:off x="549985" y="405450"/>
              <a:ext cx="961452" cy="833841"/>
            </a:xfrm>
            <a:custGeom>
              <a:avLst/>
              <a:gdLst/>
              <a:ahLst/>
              <a:cxnLst/>
              <a:rect r="r" b="b" t="t" l="l"/>
              <a:pathLst>
                <a:path h="833841" w="961452">
                  <a:moveTo>
                    <a:pt x="0" y="0"/>
                  </a:moveTo>
                  <a:lnTo>
                    <a:pt x="961452" y="0"/>
                  </a:lnTo>
                  <a:lnTo>
                    <a:pt x="961452" y="833841"/>
                  </a:lnTo>
                  <a:lnTo>
                    <a:pt x="0" y="833841"/>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pSp>
      <p:sp>
        <p:nvSpPr>
          <p:cNvPr name="TextBox 29" id="29"/>
          <p:cNvSpPr txBox="true"/>
          <p:nvPr/>
        </p:nvSpPr>
        <p:spPr>
          <a:xfrm rot="0">
            <a:off x="2744894" y="3775549"/>
            <a:ext cx="5251476" cy="1485900"/>
          </a:xfrm>
          <a:prstGeom prst="rect">
            <a:avLst/>
          </a:prstGeom>
        </p:spPr>
        <p:txBody>
          <a:bodyPr anchor="t" rtlCol="false" tIns="0" lIns="0" bIns="0" rIns="0">
            <a:spAutoFit/>
          </a:bodyPr>
          <a:lstStyle/>
          <a:p>
            <a:pPr algn="just">
              <a:lnSpc>
                <a:spcPts val="2994"/>
              </a:lnSpc>
            </a:pPr>
            <a:r>
              <a:rPr lang="en-US" sz="2495">
                <a:solidFill>
                  <a:srgbClr val="262626"/>
                </a:solidFill>
                <a:latin typeface="Roboto"/>
                <a:ea typeface="Roboto"/>
                <a:cs typeface="Roboto"/>
                <a:sym typeface="Roboto"/>
              </a:rPr>
              <a:t>Thiết kế và triển khai trạm cân thông minh dựa trên </a:t>
            </a:r>
            <a:r>
              <a:rPr lang="en-US" sz="2495" b="true">
                <a:solidFill>
                  <a:srgbClr val="1B4290"/>
                </a:solidFill>
                <a:latin typeface="Roboto Bold"/>
                <a:ea typeface="Roboto Bold"/>
                <a:cs typeface="Roboto Bold"/>
                <a:sym typeface="Roboto Bold"/>
              </a:rPr>
              <a:t>CRENOT Gofit S2</a:t>
            </a:r>
            <a:r>
              <a:rPr lang="en-US" sz="2495">
                <a:solidFill>
                  <a:srgbClr val="262626"/>
                </a:solidFill>
                <a:latin typeface="Roboto"/>
                <a:ea typeface="Roboto"/>
                <a:cs typeface="Roboto"/>
                <a:sym typeface="Roboto"/>
              </a:rPr>
              <a:t>, được mở rộng với thuật toán bổ sung để tăng cường chức năng</a:t>
            </a:r>
          </a:p>
        </p:txBody>
      </p:sp>
      <p:sp>
        <p:nvSpPr>
          <p:cNvPr name="TextBox 30" id="30"/>
          <p:cNvSpPr txBox="true"/>
          <p:nvPr/>
        </p:nvSpPr>
        <p:spPr>
          <a:xfrm rot="0">
            <a:off x="2897883" y="8040866"/>
            <a:ext cx="5251476" cy="1114425"/>
          </a:xfrm>
          <a:prstGeom prst="rect">
            <a:avLst/>
          </a:prstGeom>
        </p:spPr>
        <p:txBody>
          <a:bodyPr anchor="t" rtlCol="false" tIns="0" lIns="0" bIns="0" rIns="0">
            <a:spAutoFit/>
          </a:bodyPr>
          <a:lstStyle/>
          <a:p>
            <a:pPr algn="just">
              <a:lnSpc>
                <a:spcPts val="2994"/>
              </a:lnSpc>
            </a:pPr>
            <a:r>
              <a:rPr lang="en-US" sz="2495">
                <a:solidFill>
                  <a:srgbClr val="262626"/>
                </a:solidFill>
                <a:latin typeface="Roboto"/>
                <a:ea typeface="Roboto"/>
                <a:cs typeface="Roboto"/>
                <a:sym typeface="Roboto"/>
              </a:rPr>
              <a:t>Tự động hóa quá trình đo lường, đồng bộ dữ liệu và cung cấp phân tích sức khỏe theo thời gian thực</a:t>
            </a:r>
          </a:p>
        </p:txBody>
      </p:sp>
      <p:sp>
        <p:nvSpPr>
          <p:cNvPr name="TextBox 31" id="31"/>
          <p:cNvSpPr txBox="true"/>
          <p:nvPr/>
        </p:nvSpPr>
        <p:spPr>
          <a:xfrm rot="0">
            <a:off x="10618063" y="3980940"/>
            <a:ext cx="5251476" cy="742950"/>
          </a:xfrm>
          <a:prstGeom prst="rect">
            <a:avLst/>
          </a:prstGeom>
        </p:spPr>
        <p:txBody>
          <a:bodyPr anchor="t" rtlCol="false" tIns="0" lIns="0" bIns="0" rIns="0">
            <a:spAutoFit/>
          </a:bodyPr>
          <a:lstStyle/>
          <a:p>
            <a:pPr algn="just">
              <a:lnSpc>
                <a:spcPts val="2994"/>
              </a:lnSpc>
            </a:pPr>
            <a:r>
              <a:rPr lang="en-US" sz="2495">
                <a:solidFill>
                  <a:srgbClr val="262626"/>
                </a:solidFill>
                <a:latin typeface="Roboto"/>
                <a:ea typeface="Roboto"/>
                <a:cs typeface="Roboto"/>
                <a:sym typeface="Roboto"/>
              </a:rPr>
              <a:t>Nội suy các chỉ số sức khỏe dựa trên dữ liệu thu thập được.</a:t>
            </a:r>
          </a:p>
        </p:txBody>
      </p:sp>
      <p:sp>
        <p:nvSpPr>
          <p:cNvPr name="TextBox 32" id="32"/>
          <p:cNvSpPr txBox="true"/>
          <p:nvPr/>
        </p:nvSpPr>
        <p:spPr>
          <a:xfrm rot="0">
            <a:off x="10618063" y="8040866"/>
            <a:ext cx="5251476" cy="742950"/>
          </a:xfrm>
          <a:prstGeom prst="rect">
            <a:avLst/>
          </a:prstGeom>
        </p:spPr>
        <p:txBody>
          <a:bodyPr anchor="t" rtlCol="false" tIns="0" lIns="0" bIns="0" rIns="0">
            <a:spAutoFit/>
          </a:bodyPr>
          <a:lstStyle/>
          <a:p>
            <a:pPr algn="just">
              <a:lnSpc>
                <a:spcPts val="2994"/>
              </a:lnSpc>
            </a:pPr>
            <a:r>
              <a:rPr lang="en-US" sz="2495">
                <a:solidFill>
                  <a:srgbClr val="262626"/>
                </a:solidFill>
                <a:latin typeface="Roboto"/>
                <a:ea typeface="Roboto"/>
                <a:cs typeface="Roboto"/>
                <a:sym typeface="Roboto"/>
              </a:rPr>
              <a:t>Tích hợp trí tuệ nhân tạo (AI) để đưa ra khuyến nghị sức khỏe cá nhân hóa</a:t>
            </a:r>
          </a:p>
        </p:txBody>
      </p:sp>
      <p:sp>
        <p:nvSpPr>
          <p:cNvPr name="TextBox 33" id="33"/>
          <p:cNvSpPr txBox="true"/>
          <p:nvPr/>
        </p:nvSpPr>
        <p:spPr>
          <a:xfrm rot="0">
            <a:off x="16523047" y="9684397"/>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7 of 37</a:t>
            </a:r>
          </a:p>
        </p:txBody>
      </p:sp>
    </p:spTree>
  </p:cSld>
  <p:clrMapOvr>
    <a:masterClrMapping/>
  </p:clrMapOvr>
  <p:transition spd="med">
    <p:push dir="l"/>
  </p:transition>
</p:sld>
</file>

<file path=ppt/slides/slide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91467" y="421672"/>
            <a:ext cx="15867394" cy="1156452"/>
            <a:chOff x="0" y="0"/>
            <a:chExt cx="681758" cy="49720"/>
          </a:xfrm>
        </p:grpSpPr>
        <p:sp>
          <p:nvSpPr>
            <p:cNvPr name="Freeform 3" id="3"/>
            <p:cNvSpPr/>
            <p:nvPr/>
          </p:nvSpPr>
          <p:spPr>
            <a:xfrm flipH="false" flipV="false" rot="0">
              <a:off x="0" y="0"/>
              <a:ext cx="681758" cy="49720"/>
            </a:xfrm>
            <a:custGeom>
              <a:avLst/>
              <a:gdLst/>
              <a:ahLst/>
              <a:cxnLst/>
              <a:rect r="r" b="b" t="t" l="l"/>
              <a:pathLst>
                <a:path h="49720" w="681758">
                  <a:moveTo>
                    <a:pt x="681758" y="24860"/>
                  </a:moveTo>
                  <a:lnTo>
                    <a:pt x="681758" y="24860"/>
                  </a:lnTo>
                  <a:cubicBezTo>
                    <a:pt x="681758" y="38590"/>
                    <a:pt x="670627" y="49720"/>
                    <a:pt x="656898" y="49720"/>
                  </a:cubicBezTo>
                  <a:lnTo>
                    <a:pt x="24860" y="49720"/>
                  </a:lnTo>
                  <a:cubicBezTo>
                    <a:pt x="18267" y="49720"/>
                    <a:pt x="11944" y="47101"/>
                    <a:pt x="7281" y="42439"/>
                  </a:cubicBezTo>
                  <a:cubicBezTo>
                    <a:pt x="2619" y="37777"/>
                    <a:pt x="0" y="31453"/>
                    <a:pt x="0" y="24860"/>
                  </a:cubicBezTo>
                  <a:lnTo>
                    <a:pt x="0" y="24860"/>
                  </a:lnTo>
                  <a:cubicBezTo>
                    <a:pt x="0" y="18267"/>
                    <a:pt x="2619" y="11944"/>
                    <a:pt x="7281" y="7281"/>
                  </a:cubicBezTo>
                  <a:cubicBezTo>
                    <a:pt x="11944" y="2619"/>
                    <a:pt x="18267" y="0"/>
                    <a:pt x="24860" y="0"/>
                  </a:cubicBezTo>
                  <a:lnTo>
                    <a:pt x="656898" y="0"/>
                  </a:lnTo>
                  <a:cubicBezTo>
                    <a:pt x="663491" y="0"/>
                    <a:pt x="669814" y="2619"/>
                    <a:pt x="674476" y="7281"/>
                  </a:cubicBezTo>
                  <a:cubicBezTo>
                    <a:pt x="679138" y="11944"/>
                    <a:pt x="681758" y="18267"/>
                    <a:pt x="681758" y="24860"/>
                  </a:cubicBezTo>
                  <a:close/>
                </a:path>
              </a:pathLst>
            </a:custGeom>
            <a:solidFill>
              <a:srgbClr val="002699"/>
            </a:solidFill>
            <a:ln cap="rnd">
              <a:noFill/>
              <a:prstDash val="solid"/>
              <a:round/>
            </a:ln>
          </p:spPr>
        </p:sp>
        <p:sp>
          <p:nvSpPr>
            <p:cNvPr name="TextBox 4" id="4"/>
            <p:cNvSpPr txBox="true"/>
            <p:nvPr/>
          </p:nvSpPr>
          <p:spPr>
            <a:xfrm>
              <a:off x="0" y="-47625"/>
              <a:ext cx="681758" cy="97345"/>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806400" y="638175"/>
            <a:ext cx="12807019" cy="771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2.2 </a:t>
            </a:r>
            <a:r>
              <a:rPr lang="en-US" b="true" sz="5000" spc="769">
                <a:solidFill>
                  <a:srgbClr val="FFFFFF"/>
                </a:solidFill>
                <a:latin typeface="Roboto Bold"/>
                <a:ea typeface="Roboto Bold"/>
                <a:cs typeface="Roboto Bold"/>
                <a:sym typeface="Roboto Bold"/>
              </a:rPr>
              <a:t>YÊU CẦU VÀ MỤC TIÊU ĐỀ TÀI</a:t>
            </a:r>
          </a:p>
        </p:txBody>
      </p:sp>
      <p:grpSp>
        <p:nvGrpSpPr>
          <p:cNvPr name="Group 6" id="6"/>
          <p:cNvGrpSpPr/>
          <p:nvPr/>
        </p:nvGrpSpPr>
        <p:grpSpPr>
          <a:xfrm rot="0">
            <a:off x="1443586" y="2072506"/>
            <a:ext cx="7285528" cy="7814233"/>
            <a:chOff x="0" y="0"/>
            <a:chExt cx="1918822" cy="2058070"/>
          </a:xfrm>
        </p:grpSpPr>
        <p:sp>
          <p:nvSpPr>
            <p:cNvPr name="Freeform 7" id="7"/>
            <p:cNvSpPr/>
            <p:nvPr/>
          </p:nvSpPr>
          <p:spPr>
            <a:xfrm flipH="false" flipV="false" rot="0">
              <a:off x="0" y="0"/>
              <a:ext cx="1918822" cy="2058070"/>
            </a:xfrm>
            <a:custGeom>
              <a:avLst/>
              <a:gdLst/>
              <a:ahLst/>
              <a:cxnLst/>
              <a:rect r="r" b="b" t="t" l="l"/>
              <a:pathLst>
                <a:path h="2058070" w="1918822">
                  <a:moveTo>
                    <a:pt x="54195" y="0"/>
                  </a:moveTo>
                  <a:lnTo>
                    <a:pt x="1864627" y="0"/>
                  </a:lnTo>
                  <a:cubicBezTo>
                    <a:pt x="1879001" y="0"/>
                    <a:pt x="1892785" y="5710"/>
                    <a:pt x="1902949" y="15873"/>
                  </a:cubicBezTo>
                  <a:cubicBezTo>
                    <a:pt x="1913112" y="26037"/>
                    <a:pt x="1918822" y="39821"/>
                    <a:pt x="1918822" y="54195"/>
                  </a:cubicBezTo>
                  <a:lnTo>
                    <a:pt x="1918822" y="2003875"/>
                  </a:lnTo>
                  <a:cubicBezTo>
                    <a:pt x="1918822" y="2018248"/>
                    <a:pt x="1913112" y="2032033"/>
                    <a:pt x="1902949" y="2042196"/>
                  </a:cubicBezTo>
                  <a:cubicBezTo>
                    <a:pt x="1892785" y="2052360"/>
                    <a:pt x="1879001" y="2058070"/>
                    <a:pt x="1864627" y="2058070"/>
                  </a:cubicBezTo>
                  <a:lnTo>
                    <a:pt x="54195" y="2058070"/>
                  </a:lnTo>
                  <a:cubicBezTo>
                    <a:pt x="39821" y="2058070"/>
                    <a:pt x="26037" y="2052360"/>
                    <a:pt x="15873" y="2042196"/>
                  </a:cubicBezTo>
                  <a:cubicBezTo>
                    <a:pt x="5710" y="2032033"/>
                    <a:pt x="0" y="2018248"/>
                    <a:pt x="0" y="2003875"/>
                  </a:cubicBezTo>
                  <a:lnTo>
                    <a:pt x="0" y="54195"/>
                  </a:lnTo>
                  <a:cubicBezTo>
                    <a:pt x="0" y="39821"/>
                    <a:pt x="5710" y="26037"/>
                    <a:pt x="15873" y="15873"/>
                  </a:cubicBezTo>
                  <a:cubicBezTo>
                    <a:pt x="26037" y="5710"/>
                    <a:pt x="39821" y="0"/>
                    <a:pt x="54195" y="0"/>
                  </a:cubicBezTo>
                  <a:close/>
                </a:path>
              </a:pathLst>
            </a:custGeom>
            <a:solidFill>
              <a:srgbClr val="E4F0F4"/>
            </a:solidFill>
          </p:spPr>
        </p:sp>
        <p:sp>
          <p:nvSpPr>
            <p:cNvPr name="TextBox 8" id="8"/>
            <p:cNvSpPr txBox="true"/>
            <p:nvPr/>
          </p:nvSpPr>
          <p:spPr>
            <a:xfrm>
              <a:off x="0" y="-47625"/>
              <a:ext cx="1918822" cy="2105695"/>
            </a:xfrm>
            <a:prstGeom prst="rect">
              <a:avLst/>
            </a:prstGeom>
          </p:spPr>
          <p:txBody>
            <a:bodyPr anchor="ctr" rtlCol="false" tIns="50800" lIns="50800" bIns="50800" rIns="50800"/>
            <a:lstStyle/>
            <a:p>
              <a:pPr algn="ctr">
                <a:lnSpc>
                  <a:spcPts val="2592"/>
                </a:lnSpc>
              </a:pPr>
            </a:p>
          </p:txBody>
        </p:sp>
      </p:grpSp>
      <p:sp>
        <p:nvSpPr>
          <p:cNvPr name="TextBox 9" id="9"/>
          <p:cNvSpPr txBox="true"/>
          <p:nvPr/>
        </p:nvSpPr>
        <p:spPr>
          <a:xfrm rot="0">
            <a:off x="1839069" y="2246489"/>
            <a:ext cx="3247281" cy="679450"/>
          </a:xfrm>
          <a:prstGeom prst="rect">
            <a:avLst/>
          </a:prstGeom>
        </p:spPr>
        <p:txBody>
          <a:bodyPr anchor="t" rtlCol="false" tIns="0" lIns="0" bIns="0" rIns="0">
            <a:spAutoFit/>
          </a:bodyPr>
          <a:lstStyle/>
          <a:p>
            <a:pPr algn="ctr">
              <a:lnSpc>
                <a:spcPts val="5599"/>
              </a:lnSpc>
              <a:spcBef>
                <a:spcPct val="0"/>
              </a:spcBef>
            </a:pPr>
            <a:r>
              <a:rPr lang="en-US" b="true" sz="3999">
                <a:solidFill>
                  <a:srgbClr val="1488DB"/>
                </a:solidFill>
                <a:latin typeface="Roboto Bold"/>
                <a:ea typeface="Roboto Bold"/>
                <a:cs typeface="Roboto Bold"/>
                <a:sym typeface="Roboto Bold"/>
              </a:rPr>
              <a:t>Yêu cầu đề tài</a:t>
            </a:r>
          </a:p>
        </p:txBody>
      </p:sp>
      <p:sp>
        <p:nvSpPr>
          <p:cNvPr name="TextBox 10" id="10"/>
          <p:cNvSpPr txBox="true"/>
          <p:nvPr/>
        </p:nvSpPr>
        <p:spPr>
          <a:xfrm rot="0">
            <a:off x="16789152" y="9937750"/>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8 of 37</a:t>
            </a:r>
          </a:p>
        </p:txBody>
      </p:sp>
      <p:grpSp>
        <p:nvGrpSpPr>
          <p:cNvPr name="Group 11" id="11"/>
          <p:cNvGrpSpPr/>
          <p:nvPr/>
        </p:nvGrpSpPr>
        <p:grpSpPr>
          <a:xfrm rot="0">
            <a:off x="9558886" y="2072506"/>
            <a:ext cx="7285528" cy="7814233"/>
            <a:chOff x="0" y="0"/>
            <a:chExt cx="1918822" cy="2058070"/>
          </a:xfrm>
        </p:grpSpPr>
        <p:sp>
          <p:nvSpPr>
            <p:cNvPr name="Freeform 12" id="12"/>
            <p:cNvSpPr/>
            <p:nvPr/>
          </p:nvSpPr>
          <p:spPr>
            <a:xfrm flipH="false" flipV="false" rot="0">
              <a:off x="0" y="0"/>
              <a:ext cx="1918822" cy="2058070"/>
            </a:xfrm>
            <a:custGeom>
              <a:avLst/>
              <a:gdLst/>
              <a:ahLst/>
              <a:cxnLst/>
              <a:rect r="r" b="b" t="t" l="l"/>
              <a:pathLst>
                <a:path h="2058070" w="1918822">
                  <a:moveTo>
                    <a:pt x="54195" y="0"/>
                  </a:moveTo>
                  <a:lnTo>
                    <a:pt x="1864627" y="0"/>
                  </a:lnTo>
                  <a:cubicBezTo>
                    <a:pt x="1879001" y="0"/>
                    <a:pt x="1892785" y="5710"/>
                    <a:pt x="1902949" y="15873"/>
                  </a:cubicBezTo>
                  <a:cubicBezTo>
                    <a:pt x="1913112" y="26037"/>
                    <a:pt x="1918822" y="39821"/>
                    <a:pt x="1918822" y="54195"/>
                  </a:cubicBezTo>
                  <a:lnTo>
                    <a:pt x="1918822" y="2003875"/>
                  </a:lnTo>
                  <a:cubicBezTo>
                    <a:pt x="1918822" y="2018248"/>
                    <a:pt x="1913112" y="2032033"/>
                    <a:pt x="1902949" y="2042196"/>
                  </a:cubicBezTo>
                  <a:cubicBezTo>
                    <a:pt x="1892785" y="2052360"/>
                    <a:pt x="1879001" y="2058070"/>
                    <a:pt x="1864627" y="2058070"/>
                  </a:cubicBezTo>
                  <a:lnTo>
                    <a:pt x="54195" y="2058070"/>
                  </a:lnTo>
                  <a:cubicBezTo>
                    <a:pt x="39821" y="2058070"/>
                    <a:pt x="26037" y="2052360"/>
                    <a:pt x="15873" y="2042196"/>
                  </a:cubicBezTo>
                  <a:cubicBezTo>
                    <a:pt x="5710" y="2032033"/>
                    <a:pt x="0" y="2018248"/>
                    <a:pt x="0" y="2003875"/>
                  </a:cubicBezTo>
                  <a:lnTo>
                    <a:pt x="0" y="54195"/>
                  </a:lnTo>
                  <a:cubicBezTo>
                    <a:pt x="0" y="39821"/>
                    <a:pt x="5710" y="26037"/>
                    <a:pt x="15873" y="15873"/>
                  </a:cubicBezTo>
                  <a:cubicBezTo>
                    <a:pt x="26037" y="5710"/>
                    <a:pt x="39821" y="0"/>
                    <a:pt x="54195" y="0"/>
                  </a:cubicBezTo>
                  <a:close/>
                </a:path>
              </a:pathLst>
            </a:custGeom>
            <a:solidFill>
              <a:srgbClr val="E4F0F4"/>
            </a:solidFill>
          </p:spPr>
        </p:sp>
        <p:sp>
          <p:nvSpPr>
            <p:cNvPr name="TextBox 13" id="13"/>
            <p:cNvSpPr txBox="true"/>
            <p:nvPr/>
          </p:nvSpPr>
          <p:spPr>
            <a:xfrm>
              <a:off x="0" y="-47625"/>
              <a:ext cx="1918822" cy="2105695"/>
            </a:xfrm>
            <a:prstGeom prst="rect">
              <a:avLst/>
            </a:prstGeom>
          </p:spPr>
          <p:txBody>
            <a:bodyPr anchor="ctr" rtlCol="false" tIns="50800" lIns="50800" bIns="50800" rIns="50800"/>
            <a:lstStyle/>
            <a:p>
              <a:pPr algn="ctr">
                <a:lnSpc>
                  <a:spcPts val="2592"/>
                </a:lnSpc>
              </a:pPr>
            </a:p>
          </p:txBody>
        </p:sp>
      </p:grpSp>
      <p:sp>
        <p:nvSpPr>
          <p:cNvPr name="TextBox 14" id="14"/>
          <p:cNvSpPr txBox="true"/>
          <p:nvPr/>
        </p:nvSpPr>
        <p:spPr>
          <a:xfrm rot="0">
            <a:off x="9866456" y="2246489"/>
            <a:ext cx="3412182" cy="679450"/>
          </a:xfrm>
          <a:prstGeom prst="rect">
            <a:avLst/>
          </a:prstGeom>
        </p:spPr>
        <p:txBody>
          <a:bodyPr anchor="t" rtlCol="false" tIns="0" lIns="0" bIns="0" rIns="0">
            <a:spAutoFit/>
          </a:bodyPr>
          <a:lstStyle/>
          <a:p>
            <a:pPr algn="ctr">
              <a:lnSpc>
                <a:spcPts val="5599"/>
              </a:lnSpc>
              <a:spcBef>
                <a:spcPct val="0"/>
              </a:spcBef>
            </a:pPr>
            <a:r>
              <a:rPr lang="en-US" b="true" sz="3999">
                <a:solidFill>
                  <a:srgbClr val="CB6CE6"/>
                </a:solidFill>
                <a:latin typeface="Roboto Bold"/>
                <a:ea typeface="Roboto Bold"/>
                <a:cs typeface="Roboto Bold"/>
                <a:sym typeface="Roboto Bold"/>
              </a:rPr>
              <a:t>Mục tiêu đề tài</a:t>
            </a:r>
          </a:p>
        </p:txBody>
      </p:sp>
      <p:sp>
        <p:nvSpPr>
          <p:cNvPr name="TextBox 15" id="15"/>
          <p:cNvSpPr txBox="true"/>
          <p:nvPr/>
        </p:nvSpPr>
        <p:spPr>
          <a:xfrm rot="0">
            <a:off x="1839069" y="3009899"/>
            <a:ext cx="6451975" cy="6248401"/>
          </a:xfrm>
          <a:prstGeom prst="rect">
            <a:avLst/>
          </a:prstGeom>
        </p:spPr>
        <p:txBody>
          <a:bodyPr anchor="t" rtlCol="false" tIns="0" lIns="0" bIns="0" rIns="0">
            <a:spAutoFit/>
          </a:bodyPr>
          <a:lstStyle/>
          <a:p>
            <a:pPr algn="l">
              <a:lnSpc>
                <a:spcPts val="3599"/>
              </a:lnSpc>
              <a:spcBef>
                <a:spcPct val="0"/>
              </a:spcBef>
            </a:pPr>
            <a:r>
              <a:rPr lang="en-US" sz="2499">
                <a:solidFill>
                  <a:srgbClr val="000000"/>
                </a:solidFill>
                <a:latin typeface="Roboto"/>
                <a:ea typeface="Roboto"/>
                <a:cs typeface="Roboto"/>
                <a:sym typeface="Roboto"/>
              </a:rPr>
              <a:t>✅ </a:t>
            </a:r>
            <a:r>
              <a:rPr lang="en-US" sz="2499">
                <a:solidFill>
                  <a:srgbClr val="000000"/>
                </a:solidFill>
                <a:latin typeface="Roboto"/>
                <a:ea typeface="Roboto"/>
                <a:cs typeface="Roboto"/>
                <a:sym typeface="Roboto"/>
              </a:rPr>
              <a:t>Thu thập </a:t>
            </a:r>
            <a:r>
              <a:rPr lang="en-US" b="true" sz="2499">
                <a:solidFill>
                  <a:srgbClr val="000000"/>
                </a:solidFill>
                <a:latin typeface="Roboto Bold"/>
                <a:ea typeface="Roboto Bold"/>
                <a:cs typeface="Roboto Bold"/>
                <a:sym typeface="Roboto Bold"/>
              </a:rPr>
              <a:t>dữ liệu sức khỏe</a:t>
            </a:r>
            <a:r>
              <a:rPr lang="en-US" sz="2499">
                <a:solidFill>
                  <a:srgbClr val="000000"/>
                </a:solidFill>
                <a:latin typeface="Roboto"/>
                <a:ea typeface="Roboto"/>
                <a:cs typeface="Roboto"/>
                <a:sym typeface="Roboto"/>
              </a:rPr>
              <a:t> (cân nặng, </a:t>
            </a:r>
            <a:r>
              <a:rPr lang="en-US" b="true" sz="2499">
                <a:solidFill>
                  <a:srgbClr val="000000"/>
                </a:solidFill>
                <a:latin typeface="Roboto Bold"/>
                <a:ea typeface="Roboto Bold"/>
                <a:cs typeface="Roboto Bold"/>
                <a:sym typeface="Roboto Bold"/>
              </a:rPr>
              <a:t>BIA</a:t>
            </a:r>
            <a:r>
              <a:rPr lang="en-US" sz="2499">
                <a:solidFill>
                  <a:srgbClr val="000000"/>
                </a:solidFill>
                <a:latin typeface="Roboto"/>
                <a:ea typeface="Roboto"/>
                <a:cs typeface="Roboto"/>
                <a:sym typeface="Roboto"/>
              </a:rPr>
              <a:t>) qua </a:t>
            </a:r>
            <a:r>
              <a:rPr lang="en-US" b="true" sz="2499">
                <a:solidFill>
                  <a:srgbClr val="000000"/>
                </a:solidFill>
                <a:latin typeface="Roboto Bold"/>
                <a:ea typeface="Roboto Bold"/>
                <a:cs typeface="Roboto Bold"/>
                <a:sym typeface="Roboto Bold"/>
              </a:rPr>
              <a:t>BLE </a:t>
            </a:r>
            <a:r>
              <a:rPr lang="en-US" sz="2499">
                <a:solidFill>
                  <a:srgbClr val="000000"/>
                </a:solidFill>
                <a:latin typeface="Roboto"/>
                <a:ea typeface="Roboto"/>
                <a:cs typeface="Roboto"/>
                <a:sym typeface="Roboto"/>
              </a:rPr>
              <a:t>và </a:t>
            </a:r>
            <a:r>
              <a:rPr lang="en-US" b="true" sz="2499">
                <a:solidFill>
                  <a:srgbClr val="000000"/>
                </a:solidFill>
                <a:latin typeface="Roboto Bold"/>
                <a:ea typeface="Roboto Bold"/>
                <a:cs typeface="Roboto Bold"/>
                <a:sym typeface="Roboto Bold"/>
              </a:rPr>
              <a:t>MQTT</a:t>
            </a:r>
            <a:r>
              <a:rPr lang="en-US" sz="2499">
                <a:solidFill>
                  <a:srgbClr val="000000"/>
                </a:solidFill>
                <a:latin typeface="Roboto"/>
                <a:ea typeface="Roboto"/>
                <a:cs typeface="Roboto"/>
                <a:sym typeface="Roboto"/>
              </a:rPr>
              <a:t>, định danh người dùng qua QR.</a:t>
            </a:r>
          </a:p>
          <a:p>
            <a:pPr algn="l">
              <a:lnSpc>
                <a:spcPts val="3599"/>
              </a:lnSpc>
              <a:spcBef>
                <a:spcPct val="0"/>
              </a:spcBef>
            </a:pPr>
            <a:r>
              <a:rPr lang="en-US" sz="2499">
                <a:solidFill>
                  <a:srgbClr val="000000"/>
                </a:solidFill>
                <a:latin typeface="Roboto"/>
                <a:ea typeface="Roboto"/>
                <a:cs typeface="Roboto"/>
                <a:sym typeface="Roboto"/>
              </a:rPr>
              <a:t>✅ </a:t>
            </a:r>
            <a:r>
              <a:rPr lang="en-US" b="true" sz="2499">
                <a:solidFill>
                  <a:srgbClr val="000000"/>
                </a:solidFill>
                <a:latin typeface="Roboto Bold"/>
                <a:ea typeface="Roboto Bold"/>
                <a:cs typeface="Roboto Bold"/>
                <a:sym typeface="Roboto Bold"/>
              </a:rPr>
              <a:t>Chuẩn hóa</a:t>
            </a:r>
            <a:r>
              <a:rPr lang="en-US" sz="2499">
                <a:solidFill>
                  <a:srgbClr val="000000"/>
                </a:solidFill>
                <a:latin typeface="Roboto"/>
                <a:ea typeface="Roboto"/>
                <a:cs typeface="Roboto"/>
                <a:sym typeface="Roboto"/>
              </a:rPr>
              <a:t>, </a:t>
            </a:r>
            <a:r>
              <a:rPr lang="en-US" b="true" sz="2499">
                <a:solidFill>
                  <a:srgbClr val="000000"/>
                </a:solidFill>
                <a:latin typeface="Roboto Bold"/>
                <a:ea typeface="Roboto Bold"/>
                <a:cs typeface="Roboto Bold"/>
                <a:sym typeface="Roboto Bold"/>
              </a:rPr>
              <a:t>lọc</a:t>
            </a:r>
            <a:r>
              <a:rPr lang="en-US" sz="2499">
                <a:solidFill>
                  <a:srgbClr val="000000"/>
                </a:solidFill>
                <a:latin typeface="Roboto"/>
                <a:ea typeface="Roboto"/>
                <a:cs typeface="Roboto"/>
                <a:sym typeface="Roboto"/>
              </a:rPr>
              <a:t> và </a:t>
            </a:r>
            <a:r>
              <a:rPr lang="en-US" b="true" sz="2499">
                <a:solidFill>
                  <a:srgbClr val="000000"/>
                </a:solidFill>
                <a:latin typeface="Roboto Bold"/>
                <a:ea typeface="Roboto Bold"/>
                <a:cs typeface="Roboto Bold"/>
                <a:sym typeface="Roboto Bold"/>
              </a:rPr>
              <a:t>tính toán các chỉ số</a:t>
            </a:r>
            <a:r>
              <a:rPr lang="en-US" sz="2499">
                <a:solidFill>
                  <a:srgbClr val="000000"/>
                </a:solidFill>
                <a:latin typeface="Roboto"/>
                <a:ea typeface="Roboto"/>
                <a:cs typeface="Roboto"/>
                <a:sym typeface="Roboto"/>
              </a:rPr>
              <a:t> (BMI, BMR, mỡ, cơ, xương).</a:t>
            </a:r>
          </a:p>
          <a:p>
            <a:pPr algn="l">
              <a:lnSpc>
                <a:spcPts val="3599"/>
              </a:lnSpc>
              <a:spcBef>
                <a:spcPct val="0"/>
              </a:spcBef>
            </a:pPr>
            <a:r>
              <a:rPr lang="en-US" sz="2499">
                <a:solidFill>
                  <a:srgbClr val="000000"/>
                </a:solidFill>
                <a:latin typeface="Roboto"/>
                <a:ea typeface="Roboto"/>
                <a:cs typeface="Roboto"/>
                <a:sym typeface="Roboto"/>
              </a:rPr>
              <a:t>✅ Áp dụng </a:t>
            </a:r>
            <a:r>
              <a:rPr lang="en-US" b="true" sz="2499">
                <a:solidFill>
                  <a:srgbClr val="000000"/>
                </a:solidFill>
                <a:latin typeface="Roboto Bold"/>
                <a:ea typeface="Roboto Bold"/>
                <a:cs typeface="Roboto Bold"/>
                <a:sym typeface="Roboto Bold"/>
              </a:rPr>
              <a:t>học máy (AI)</a:t>
            </a:r>
            <a:r>
              <a:rPr lang="en-US" sz="2499">
                <a:solidFill>
                  <a:srgbClr val="000000"/>
                </a:solidFill>
                <a:latin typeface="Roboto"/>
                <a:ea typeface="Roboto"/>
                <a:cs typeface="Roboto"/>
                <a:sym typeface="Roboto"/>
              </a:rPr>
              <a:t> để </a:t>
            </a:r>
            <a:r>
              <a:rPr lang="en-US" b="true" sz="2499">
                <a:solidFill>
                  <a:srgbClr val="000000"/>
                </a:solidFill>
                <a:latin typeface="Roboto Bold"/>
                <a:ea typeface="Roboto Bold"/>
                <a:cs typeface="Roboto Bold"/>
                <a:sym typeface="Roboto Bold"/>
              </a:rPr>
              <a:t>ước lượng</a:t>
            </a:r>
            <a:r>
              <a:rPr lang="en-US" sz="2499">
                <a:solidFill>
                  <a:srgbClr val="000000"/>
                </a:solidFill>
                <a:latin typeface="Roboto"/>
                <a:ea typeface="Roboto"/>
                <a:cs typeface="Roboto"/>
                <a:sym typeface="Roboto"/>
              </a:rPr>
              <a:t> và </a:t>
            </a:r>
            <a:r>
              <a:rPr lang="en-US" b="true" sz="2499">
                <a:solidFill>
                  <a:srgbClr val="000000"/>
                </a:solidFill>
                <a:latin typeface="Roboto Bold"/>
                <a:ea typeface="Roboto Bold"/>
                <a:cs typeface="Roboto Bold"/>
                <a:sym typeface="Roboto Bold"/>
              </a:rPr>
              <a:t>báo cáo độ chính xác</a:t>
            </a:r>
            <a:r>
              <a:rPr lang="en-US" sz="2499">
                <a:solidFill>
                  <a:srgbClr val="000000"/>
                </a:solidFill>
                <a:latin typeface="Roboto"/>
                <a:ea typeface="Roboto"/>
                <a:cs typeface="Roboto"/>
                <a:sym typeface="Roboto"/>
              </a:rPr>
              <a:t>.</a:t>
            </a:r>
          </a:p>
          <a:p>
            <a:pPr algn="l">
              <a:lnSpc>
                <a:spcPts val="3599"/>
              </a:lnSpc>
              <a:spcBef>
                <a:spcPct val="0"/>
              </a:spcBef>
            </a:pPr>
            <a:r>
              <a:rPr lang="en-US" sz="2499">
                <a:solidFill>
                  <a:srgbClr val="000000"/>
                </a:solidFill>
                <a:latin typeface="Roboto"/>
                <a:ea typeface="Roboto"/>
                <a:cs typeface="Roboto"/>
                <a:sym typeface="Roboto"/>
              </a:rPr>
              <a:t>✅ Tạo </a:t>
            </a:r>
            <a:r>
              <a:rPr lang="en-US" b="true" sz="2499">
                <a:solidFill>
                  <a:srgbClr val="000000"/>
                </a:solidFill>
                <a:latin typeface="Roboto Bold"/>
                <a:ea typeface="Roboto Bold"/>
                <a:cs typeface="Roboto Bold"/>
                <a:sym typeface="Roboto Bold"/>
              </a:rPr>
              <a:t>khuyến nghị dinh dưỡng</a:t>
            </a:r>
            <a:r>
              <a:rPr lang="en-US" sz="2499">
                <a:solidFill>
                  <a:srgbClr val="000000"/>
                </a:solidFill>
                <a:latin typeface="Roboto"/>
                <a:ea typeface="Roboto"/>
                <a:cs typeface="Roboto"/>
                <a:sym typeface="Roboto"/>
              </a:rPr>
              <a:t>, </a:t>
            </a:r>
            <a:r>
              <a:rPr lang="en-US" b="true" sz="2499">
                <a:solidFill>
                  <a:srgbClr val="000000"/>
                </a:solidFill>
                <a:latin typeface="Roboto Bold"/>
                <a:ea typeface="Roboto Bold"/>
                <a:cs typeface="Roboto Bold"/>
                <a:sym typeface="Roboto Bold"/>
              </a:rPr>
              <a:t>vận động cá nhân</a:t>
            </a:r>
            <a:r>
              <a:rPr lang="en-US" sz="2499">
                <a:solidFill>
                  <a:srgbClr val="000000"/>
                </a:solidFill>
                <a:latin typeface="Roboto"/>
                <a:ea typeface="Roboto"/>
                <a:cs typeface="Roboto"/>
                <a:sym typeface="Roboto"/>
              </a:rPr>
              <a:t> hóa và </a:t>
            </a:r>
            <a:r>
              <a:rPr lang="en-US" b="true" sz="2499">
                <a:solidFill>
                  <a:srgbClr val="000000"/>
                </a:solidFill>
                <a:latin typeface="Roboto Bold"/>
                <a:ea typeface="Roboto Bold"/>
                <a:cs typeface="Roboto Bold"/>
                <a:sym typeface="Roboto Bold"/>
              </a:rPr>
              <a:t>cảnh báo</a:t>
            </a:r>
            <a:r>
              <a:rPr lang="en-US" sz="2499">
                <a:solidFill>
                  <a:srgbClr val="000000"/>
                </a:solidFill>
                <a:latin typeface="Roboto"/>
                <a:ea typeface="Roboto"/>
                <a:cs typeface="Roboto"/>
                <a:sym typeface="Roboto"/>
              </a:rPr>
              <a:t>.</a:t>
            </a:r>
          </a:p>
          <a:p>
            <a:pPr algn="l">
              <a:lnSpc>
                <a:spcPts val="3599"/>
              </a:lnSpc>
              <a:spcBef>
                <a:spcPct val="0"/>
              </a:spcBef>
            </a:pPr>
            <a:r>
              <a:rPr lang="en-US" sz="2499">
                <a:solidFill>
                  <a:srgbClr val="000000"/>
                </a:solidFill>
                <a:latin typeface="Roboto"/>
                <a:ea typeface="Roboto"/>
                <a:cs typeface="Roboto"/>
                <a:sym typeface="Roboto"/>
              </a:rPr>
              <a:t>✅ Hỗ trợ bài </a:t>
            </a:r>
            <a:r>
              <a:rPr lang="en-US" b="true" sz="2499">
                <a:solidFill>
                  <a:srgbClr val="000000"/>
                </a:solidFill>
                <a:latin typeface="Roboto Bold"/>
                <a:ea typeface="Roboto Bold"/>
                <a:cs typeface="Roboto Bold"/>
                <a:sym typeface="Roboto Bold"/>
              </a:rPr>
              <a:t>kiểm tra thăng bằng</a:t>
            </a:r>
            <a:r>
              <a:rPr lang="en-US" sz="2499">
                <a:solidFill>
                  <a:srgbClr val="000000"/>
                </a:solidFill>
                <a:latin typeface="Roboto"/>
                <a:ea typeface="Roboto"/>
                <a:cs typeface="Roboto"/>
                <a:sym typeface="Roboto"/>
              </a:rPr>
              <a:t>.</a:t>
            </a:r>
          </a:p>
          <a:p>
            <a:pPr algn="l">
              <a:lnSpc>
                <a:spcPts val="3599"/>
              </a:lnSpc>
              <a:spcBef>
                <a:spcPct val="0"/>
              </a:spcBef>
            </a:pPr>
            <a:r>
              <a:rPr lang="en-US" sz="2499">
                <a:solidFill>
                  <a:srgbClr val="000000"/>
                </a:solidFill>
                <a:latin typeface="Roboto"/>
                <a:ea typeface="Roboto"/>
                <a:cs typeface="Roboto"/>
                <a:sym typeface="Roboto"/>
              </a:rPr>
              <a:t>✅ Cung cấp </a:t>
            </a:r>
            <a:r>
              <a:rPr lang="en-US" b="true" sz="2499">
                <a:solidFill>
                  <a:srgbClr val="000000"/>
                </a:solidFill>
                <a:latin typeface="Roboto Bold"/>
                <a:ea typeface="Roboto Bold"/>
                <a:cs typeface="Roboto Bold"/>
                <a:sym typeface="Roboto Bold"/>
              </a:rPr>
              <a:t>dashboard web tương tác</a:t>
            </a:r>
            <a:r>
              <a:rPr lang="en-US" sz="2499">
                <a:solidFill>
                  <a:srgbClr val="000000"/>
                </a:solidFill>
                <a:latin typeface="Roboto"/>
                <a:ea typeface="Roboto"/>
                <a:cs typeface="Roboto"/>
                <a:sym typeface="Roboto"/>
              </a:rPr>
              <a:t> để theo dõi.</a:t>
            </a:r>
          </a:p>
          <a:p>
            <a:pPr algn="l">
              <a:lnSpc>
                <a:spcPts val="3599"/>
              </a:lnSpc>
              <a:spcBef>
                <a:spcPct val="0"/>
              </a:spcBef>
            </a:pPr>
            <a:r>
              <a:rPr lang="en-US" sz="2499">
                <a:solidFill>
                  <a:srgbClr val="000000"/>
                </a:solidFill>
                <a:latin typeface="Roboto"/>
                <a:ea typeface="Roboto"/>
                <a:cs typeface="Roboto"/>
                <a:sym typeface="Roboto"/>
              </a:rPr>
              <a:t>✅ Đảm bảo </a:t>
            </a:r>
            <a:r>
              <a:rPr lang="en-US" b="true" sz="2499">
                <a:solidFill>
                  <a:srgbClr val="000000"/>
                </a:solidFill>
                <a:latin typeface="Roboto Bold"/>
                <a:ea typeface="Roboto Bold"/>
                <a:cs typeface="Roboto Bold"/>
                <a:sym typeface="Roboto Bold"/>
              </a:rPr>
              <a:t>an toàn</a:t>
            </a:r>
            <a:r>
              <a:rPr lang="en-US" sz="2499">
                <a:solidFill>
                  <a:srgbClr val="000000"/>
                </a:solidFill>
                <a:latin typeface="Roboto"/>
                <a:ea typeface="Roboto"/>
                <a:cs typeface="Roboto"/>
                <a:sym typeface="Roboto"/>
              </a:rPr>
              <a:t>, </a:t>
            </a:r>
            <a:r>
              <a:rPr lang="en-US" b="true" sz="2499">
                <a:solidFill>
                  <a:srgbClr val="000000"/>
                </a:solidFill>
                <a:latin typeface="Roboto Bold"/>
                <a:ea typeface="Roboto Bold"/>
                <a:cs typeface="Roboto Bold"/>
                <a:sym typeface="Roboto Bold"/>
              </a:rPr>
              <a:t>riêng tư dữ liệu</a:t>
            </a:r>
            <a:r>
              <a:rPr lang="en-US" sz="2499">
                <a:solidFill>
                  <a:srgbClr val="000000"/>
                </a:solidFill>
                <a:latin typeface="Roboto"/>
                <a:ea typeface="Roboto"/>
                <a:cs typeface="Roboto"/>
                <a:sym typeface="Roboto"/>
              </a:rPr>
              <a:t> và </a:t>
            </a:r>
            <a:r>
              <a:rPr lang="en-US" b="true" sz="2499">
                <a:solidFill>
                  <a:srgbClr val="000000"/>
                </a:solidFill>
                <a:latin typeface="Roboto Bold"/>
                <a:ea typeface="Roboto Bold"/>
                <a:cs typeface="Roboto Bold"/>
                <a:sym typeface="Roboto Bold"/>
              </a:rPr>
              <a:t>vận hành tin cậy</a:t>
            </a:r>
            <a:r>
              <a:rPr lang="en-US" sz="2499">
                <a:solidFill>
                  <a:srgbClr val="000000"/>
                </a:solidFill>
                <a:latin typeface="Roboto"/>
                <a:ea typeface="Roboto"/>
                <a:cs typeface="Roboto"/>
                <a:sym typeface="Roboto"/>
              </a:rPr>
              <a:t>.</a:t>
            </a:r>
          </a:p>
        </p:txBody>
      </p:sp>
      <p:sp>
        <p:nvSpPr>
          <p:cNvPr name="TextBox 16" id="16"/>
          <p:cNvSpPr txBox="true"/>
          <p:nvPr/>
        </p:nvSpPr>
        <p:spPr>
          <a:xfrm rot="0">
            <a:off x="9866456" y="3000374"/>
            <a:ext cx="6507810" cy="5121403"/>
          </a:xfrm>
          <a:prstGeom prst="rect">
            <a:avLst/>
          </a:prstGeom>
        </p:spPr>
        <p:txBody>
          <a:bodyPr anchor="t" rtlCol="false" tIns="0" lIns="0" bIns="0" rIns="0">
            <a:spAutoFit/>
          </a:bodyPr>
          <a:lstStyle/>
          <a:p>
            <a:pPr algn="l">
              <a:lnSpc>
                <a:spcPts val="3743"/>
              </a:lnSpc>
              <a:spcBef>
                <a:spcPct val="0"/>
              </a:spcBef>
            </a:pPr>
            <a:r>
              <a:rPr lang="en-US" sz="2599">
                <a:solidFill>
                  <a:srgbClr val="000000"/>
                </a:solidFill>
                <a:latin typeface="Roboto"/>
                <a:ea typeface="Roboto"/>
                <a:cs typeface="Roboto"/>
                <a:sym typeface="Roboto"/>
              </a:rPr>
              <a:t>📌 </a:t>
            </a:r>
            <a:r>
              <a:rPr lang="en-US" sz="2599">
                <a:solidFill>
                  <a:srgbClr val="000000"/>
                </a:solidFill>
                <a:latin typeface="Roboto"/>
                <a:ea typeface="Roboto"/>
                <a:cs typeface="Roboto"/>
                <a:sym typeface="Roboto"/>
              </a:rPr>
              <a:t>Xây dựng một </a:t>
            </a:r>
            <a:r>
              <a:rPr lang="en-US" b="true" sz="2599">
                <a:solidFill>
                  <a:srgbClr val="000000"/>
                </a:solidFill>
                <a:latin typeface="Roboto Bold"/>
                <a:ea typeface="Roboto Bold"/>
                <a:cs typeface="Roboto Bold"/>
                <a:sym typeface="Roboto Bold"/>
              </a:rPr>
              <a:t>pipeline dữ liệu khép kín</a:t>
            </a:r>
            <a:r>
              <a:rPr lang="en-US" sz="2599">
                <a:solidFill>
                  <a:srgbClr val="000000"/>
                </a:solidFill>
                <a:latin typeface="Roboto"/>
                <a:ea typeface="Roboto"/>
                <a:cs typeface="Roboto"/>
                <a:sym typeface="Roboto"/>
              </a:rPr>
              <a:t>: thu thập - phân tích - trực quan - khuyến nghị.</a:t>
            </a:r>
          </a:p>
          <a:p>
            <a:pPr algn="l">
              <a:lnSpc>
                <a:spcPts val="3743"/>
              </a:lnSpc>
              <a:spcBef>
                <a:spcPct val="0"/>
              </a:spcBef>
            </a:pPr>
            <a:r>
              <a:rPr lang="en-US" sz="2599">
                <a:solidFill>
                  <a:srgbClr val="000000"/>
                </a:solidFill>
                <a:latin typeface="Roboto"/>
                <a:ea typeface="Roboto"/>
                <a:cs typeface="Roboto"/>
                <a:sym typeface="Roboto"/>
              </a:rPr>
              <a:t>📌 Cung cấp </a:t>
            </a:r>
            <a:r>
              <a:rPr lang="en-US" b="true" sz="2599">
                <a:solidFill>
                  <a:srgbClr val="000000"/>
                </a:solidFill>
                <a:latin typeface="Roboto Bold"/>
                <a:ea typeface="Roboto Bold"/>
                <a:cs typeface="Roboto Bold"/>
                <a:sym typeface="Roboto Bold"/>
              </a:rPr>
              <a:t>dashboard dễ hiểu để</a:t>
            </a:r>
            <a:r>
              <a:rPr lang="en-US" sz="2599">
                <a:solidFill>
                  <a:srgbClr val="000000"/>
                </a:solidFill>
                <a:latin typeface="Roboto"/>
                <a:ea typeface="Roboto"/>
                <a:cs typeface="Roboto"/>
                <a:sym typeface="Roboto"/>
              </a:rPr>
              <a:t> theo dõi </a:t>
            </a:r>
            <a:r>
              <a:rPr lang="en-US" b="true" sz="2599">
                <a:solidFill>
                  <a:srgbClr val="000000"/>
                </a:solidFill>
                <a:latin typeface="Roboto Bold"/>
                <a:ea typeface="Roboto Bold"/>
                <a:cs typeface="Roboto Bold"/>
                <a:sym typeface="Roboto Bold"/>
              </a:rPr>
              <a:t>xu hướng dài hạn</a:t>
            </a:r>
            <a:r>
              <a:rPr lang="en-US" sz="2599">
                <a:solidFill>
                  <a:srgbClr val="000000"/>
                </a:solidFill>
                <a:latin typeface="Roboto"/>
                <a:ea typeface="Roboto"/>
                <a:cs typeface="Roboto"/>
                <a:sym typeface="Roboto"/>
              </a:rPr>
              <a:t> và </a:t>
            </a:r>
            <a:r>
              <a:rPr lang="en-US" b="true" sz="2599">
                <a:solidFill>
                  <a:srgbClr val="000000"/>
                </a:solidFill>
                <a:latin typeface="Roboto Bold"/>
                <a:ea typeface="Roboto Bold"/>
                <a:cs typeface="Roboto Bold"/>
                <a:sym typeface="Roboto Bold"/>
              </a:rPr>
              <a:t>phát hiện bất thường</a:t>
            </a:r>
            <a:r>
              <a:rPr lang="en-US" sz="2599">
                <a:solidFill>
                  <a:srgbClr val="000000"/>
                </a:solidFill>
                <a:latin typeface="Roboto"/>
                <a:ea typeface="Roboto"/>
                <a:cs typeface="Roboto"/>
                <a:sym typeface="Roboto"/>
              </a:rPr>
              <a:t>.</a:t>
            </a:r>
          </a:p>
          <a:p>
            <a:pPr algn="l">
              <a:lnSpc>
                <a:spcPts val="3743"/>
              </a:lnSpc>
              <a:spcBef>
                <a:spcPct val="0"/>
              </a:spcBef>
            </a:pPr>
            <a:r>
              <a:rPr lang="en-US" sz="2599">
                <a:solidFill>
                  <a:srgbClr val="000000"/>
                </a:solidFill>
                <a:latin typeface="Roboto"/>
                <a:ea typeface="Roboto"/>
                <a:cs typeface="Roboto"/>
                <a:sym typeface="Roboto"/>
              </a:rPr>
              <a:t>📌 Triển khai </a:t>
            </a:r>
            <a:r>
              <a:rPr lang="en-US" b="true" sz="2599">
                <a:solidFill>
                  <a:srgbClr val="000000"/>
                </a:solidFill>
                <a:latin typeface="Roboto Bold"/>
                <a:ea typeface="Roboto Bold"/>
                <a:cs typeface="Roboto Bold"/>
                <a:sym typeface="Roboto Bold"/>
              </a:rPr>
              <a:t>mô-đun học máy</a:t>
            </a:r>
            <a:r>
              <a:rPr lang="en-US" sz="2599">
                <a:solidFill>
                  <a:srgbClr val="000000"/>
                </a:solidFill>
                <a:latin typeface="Roboto"/>
                <a:ea typeface="Roboto"/>
                <a:cs typeface="Roboto"/>
                <a:sym typeface="Roboto"/>
              </a:rPr>
              <a:t> cho </a:t>
            </a:r>
            <a:r>
              <a:rPr lang="en-US" b="true" sz="2599">
                <a:solidFill>
                  <a:srgbClr val="000000"/>
                </a:solidFill>
                <a:latin typeface="Roboto Bold"/>
                <a:ea typeface="Roboto Bold"/>
                <a:cs typeface="Roboto Bold"/>
                <a:sym typeface="Roboto Bold"/>
              </a:rPr>
              <a:t>khuyến nghị thích ứng</a:t>
            </a:r>
            <a:r>
              <a:rPr lang="en-US" sz="2599">
                <a:solidFill>
                  <a:srgbClr val="000000"/>
                </a:solidFill>
                <a:latin typeface="Roboto"/>
                <a:ea typeface="Roboto"/>
                <a:cs typeface="Roboto"/>
                <a:sym typeface="Roboto"/>
              </a:rPr>
              <a:t> theo hồ sơ cá nhân.</a:t>
            </a:r>
          </a:p>
          <a:p>
            <a:pPr algn="l">
              <a:lnSpc>
                <a:spcPts val="3743"/>
              </a:lnSpc>
              <a:spcBef>
                <a:spcPct val="0"/>
              </a:spcBef>
            </a:pPr>
            <a:r>
              <a:rPr lang="en-US" sz="2599">
                <a:solidFill>
                  <a:srgbClr val="000000"/>
                </a:solidFill>
                <a:latin typeface="Roboto"/>
                <a:ea typeface="Roboto"/>
                <a:cs typeface="Roboto"/>
                <a:sym typeface="Roboto"/>
              </a:rPr>
              <a:t>📌 Đảm bảo </a:t>
            </a:r>
            <a:r>
              <a:rPr lang="en-US" b="true" sz="2599">
                <a:solidFill>
                  <a:srgbClr val="000000"/>
                </a:solidFill>
                <a:latin typeface="Roboto Bold"/>
                <a:ea typeface="Roboto Bold"/>
                <a:cs typeface="Roboto Bold"/>
                <a:sym typeface="Roboto Bold"/>
              </a:rPr>
              <a:t>quản trị dữ liệu an toàn</a:t>
            </a:r>
            <a:r>
              <a:rPr lang="en-US" sz="2599">
                <a:solidFill>
                  <a:srgbClr val="000000"/>
                </a:solidFill>
                <a:latin typeface="Roboto"/>
                <a:ea typeface="Roboto"/>
                <a:cs typeface="Roboto"/>
                <a:sym typeface="Roboto"/>
              </a:rPr>
              <a:t>, </a:t>
            </a:r>
            <a:r>
              <a:rPr lang="en-US" b="true" sz="2599">
                <a:solidFill>
                  <a:srgbClr val="000000"/>
                </a:solidFill>
                <a:latin typeface="Roboto Bold"/>
                <a:ea typeface="Roboto Bold"/>
                <a:cs typeface="Roboto Bold"/>
                <a:sym typeface="Roboto Bold"/>
              </a:rPr>
              <a:t>riêng tư</a:t>
            </a:r>
            <a:r>
              <a:rPr lang="en-US" sz="2599">
                <a:solidFill>
                  <a:srgbClr val="000000"/>
                </a:solidFill>
                <a:latin typeface="Roboto"/>
                <a:ea typeface="Roboto"/>
                <a:cs typeface="Roboto"/>
                <a:sym typeface="Roboto"/>
              </a:rPr>
              <a:t> và có </a:t>
            </a:r>
            <a:r>
              <a:rPr lang="en-US" b="true" sz="2599">
                <a:solidFill>
                  <a:srgbClr val="000000"/>
                </a:solidFill>
                <a:latin typeface="Roboto Bold"/>
                <a:ea typeface="Roboto Bold"/>
                <a:cs typeface="Roboto Bold"/>
                <a:sym typeface="Roboto Bold"/>
              </a:rPr>
              <a:t>khả năng mở rộng</a:t>
            </a:r>
            <a:r>
              <a:rPr lang="en-US" sz="2599">
                <a:solidFill>
                  <a:srgbClr val="000000"/>
                </a:solidFill>
                <a:latin typeface="Roboto"/>
                <a:ea typeface="Roboto"/>
                <a:cs typeface="Roboto"/>
                <a:sym typeface="Roboto"/>
              </a:rPr>
              <a:t>.</a:t>
            </a:r>
          </a:p>
          <a:p>
            <a:pPr algn="l">
              <a:lnSpc>
                <a:spcPts val="3743"/>
              </a:lnSpc>
              <a:spcBef>
                <a:spcPct val="0"/>
              </a:spcBef>
            </a:pPr>
            <a:r>
              <a:rPr lang="en-US" sz="2599">
                <a:solidFill>
                  <a:srgbClr val="000000"/>
                </a:solidFill>
                <a:latin typeface="Roboto"/>
                <a:ea typeface="Roboto"/>
                <a:cs typeface="Roboto"/>
                <a:sym typeface="Roboto"/>
              </a:rPr>
              <a:t>📌 </a:t>
            </a:r>
            <a:r>
              <a:rPr lang="en-US" b="true" sz="2599">
                <a:solidFill>
                  <a:srgbClr val="000000"/>
                </a:solidFill>
                <a:latin typeface="Roboto Bold"/>
                <a:ea typeface="Roboto Bold"/>
                <a:cs typeface="Roboto Bold"/>
                <a:sym typeface="Roboto Bold"/>
              </a:rPr>
              <a:t>Đánh giá hệ thống</a:t>
            </a:r>
            <a:r>
              <a:rPr lang="en-US" sz="2599">
                <a:solidFill>
                  <a:srgbClr val="000000"/>
                </a:solidFill>
                <a:latin typeface="Roboto"/>
                <a:ea typeface="Roboto"/>
                <a:cs typeface="Roboto"/>
                <a:sym typeface="Roboto"/>
              </a:rPr>
              <a:t> qua các </a:t>
            </a:r>
            <a:r>
              <a:rPr lang="en-US" b="true" sz="2599">
                <a:solidFill>
                  <a:srgbClr val="000000"/>
                </a:solidFill>
                <a:latin typeface="Roboto Bold"/>
                <a:ea typeface="Roboto Bold"/>
                <a:cs typeface="Roboto Bold"/>
                <a:sym typeface="Roboto Bold"/>
              </a:rPr>
              <a:t>chỉ số định lượng</a:t>
            </a:r>
            <a:r>
              <a:rPr lang="en-US" sz="2599">
                <a:solidFill>
                  <a:srgbClr val="000000"/>
                </a:solidFill>
                <a:latin typeface="Roboto"/>
                <a:ea typeface="Roboto"/>
                <a:cs typeface="Roboto"/>
                <a:sym typeface="Roboto"/>
              </a:rPr>
              <a:t> và </a:t>
            </a:r>
            <a:r>
              <a:rPr lang="en-US" b="true" sz="2599">
                <a:solidFill>
                  <a:srgbClr val="000000"/>
                </a:solidFill>
                <a:latin typeface="Roboto Bold"/>
                <a:ea typeface="Roboto Bold"/>
                <a:cs typeface="Roboto Bold"/>
                <a:sym typeface="Roboto Bold"/>
              </a:rPr>
              <a:t>phản hồi của người dùng</a:t>
            </a:r>
            <a:r>
              <a:rPr lang="en-US" sz="2599">
                <a:solidFill>
                  <a:srgbClr val="000000"/>
                </a:solidFill>
                <a:latin typeface="Roboto"/>
                <a:ea typeface="Roboto"/>
                <a:cs typeface="Roboto"/>
                <a:sym typeface="Roboto"/>
              </a:rPr>
              <a:t>.</a:t>
            </a:r>
          </a:p>
        </p:txBody>
      </p:sp>
    </p:spTree>
  </p:cSld>
  <p:clrMapOvr>
    <a:masterClrMapping/>
  </p:clrMapOvr>
  <p:transition spd="med">
    <p:push dir="l"/>
  </p:transition>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12150317" y="0"/>
            <a:ext cx="6137684" cy="6127944"/>
            <a:chOff x="0" y="0"/>
            <a:chExt cx="8183578" cy="8170592"/>
          </a:xfrm>
        </p:grpSpPr>
        <p:sp>
          <p:nvSpPr>
            <p:cNvPr name="Freeform 3" id="3"/>
            <p:cNvSpPr/>
            <p:nvPr/>
          </p:nvSpPr>
          <p:spPr>
            <a:xfrm flipH="false" flipV="false" rot="0">
              <a:off x="0" y="0"/>
              <a:ext cx="8183626" cy="8170545"/>
            </a:xfrm>
            <a:custGeom>
              <a:avLst/>
              <a:gdLst/>
              <a:ahLst/>
              <a:cxnLst/>
              <a:rect r="r" b="b" t="t" l="l"/>
              <a:pathLst>
                <a:path h="8170545" w="8183626">
                  <a:moveTo>
                    <a:pt x="0" y="0"/>
                  </a:moveTo>
                  <a:lnTo>
                    <a:pt x="8183626" y="0"/>
                  </a:lnTo>
                  <a:lnTo>
                    <a:pt x="8183626" y="8170545"/>
                  </a:lnTo>
                  <a:lnTo>
                    <a:pt x="0" y="8170545"/>
                  </a:lnTo>
                  <a:lnTo>
                    <a:pt x="0" y="0"/>
                  </a:lnTo>
                  <a:close/>
                </a:path>
              </a:pathLst>
            </a:custGeom>
            <a:blipFill>
              <a:blip r:embed="rId2"/>
              <a:stretch>
                <a:fillRect l="0" t="-15057" r="-15172" b="0"/>
              </a:stretch>
            </a:blipFill>
          </p:spPr>
        </p:sp>
      </p:grpSp>
      <p:sp>
        <p:nvSpPr>
          <p:cNvPr name="AutoShape 4" id="4"/>
          <p:cNvSpPr/>
          <p:nvPr/>
        </p:nvSpPr>
        <p:spPr>
          <a:xfrm>
            <a:off x="1028737" y="1056473"/>
            <a:ext cx="7296656" cy="19050"/>
          </a:xfrm>
          <a:prstGeom prst="line">
            <a:avLst/>
          </a:prstGeom>
          <a:ln cap="rnd" w="28575">
            <a:solidFill>
              <a:srgbClr val="264C9A"/>
            </a:solidFill>
            <a:prstDash val="solid"/>
            <a:headEnd type="none" len="sm" w="sm"/>
            <a:tailEnd type="none" len="sm" w="sm"/>
          </a:ln>
        </p:spPr>
      </p:sp>
      <p:grpSp>
        <p:nvGrpSpPr>
          <p:cNvPr name="Group 5" id="5"/>
          <p:cNvGrpSpPr/>
          <p:nvPr/>
        </p:nvGrpSpPr>
        <p:grpSpPr>
          <a:xfrm rot="0">
            <a:off x="1028738" y="1412911"/>
            <a:ext cx="1312902" cy="1312902"/>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975A7"/>
            </a:soli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8" id="8"/>
          <p:cNvGrpSpPr/>
          <p:nvPr/>
        </p:nvGrpSpPr>
        <p:grpSpPr>
          <a:xfrm rot="0">
            <a:off x="1028700" y="3067464"/>
            <a:ext cx="1312902" cy="1312902"/>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4F0F4"/>
            </a:soli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11" id="11"/>
          <p:cNvGrpSpPr/>
          <p:nvPr/>
        </p:nvGrpSpPr>
        <p:grpSpPr>
          <a:xfrm rot="0">
            <a:off x="1047288" y="6548851"/>
            <a:ext cx="1312902" cy="1312902"/>
            <a:chOff x="0" y="0"/>
            <a:chExt cx="812800" cy="812800"/>
          </a:xfrm>
        </p:grpSpPr>
        <p:sp>
          <p:nvSpPr>
            <p:cNvPr name="Freeform 12" id="12"/>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4F0F4"/>
            </a:solidFill>
          </p:spPr>
        </p:sp>
        <p:sp>
          <p:nvSpPr>
            <p:cNvPr name="TextBox 13" id="13"/>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14" id="14"/>
          <p:cNvGrpSpPr/>
          <p:nvPr/>
        </p:nvGrpSpPr>
        <p:grpSpPr>
          <a:xfrm rot="0">
            <a:off x="1047288" y="8280853"/>
            <a:ext cx="1312902" cy="1312902"/>
            <a:chOff x="0" y="0"/>
            <a:chExt cx="812800" cy="812800"/>
          </a:xfrm>
        </p:grpSpPr>
        <p:sp>
          <p:nvSpPr>
            <p:cNvPr name="Freeform 15" id="1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975A7"/>
            </a:solidFill>
          </p:spPr>
        </p:sp>
        <p:sp>
          <p:nvSpPr>
            <p:cNvPr name="TextBox 16" id="16"/>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17" id="17"/>
          <p:cNvGrpSpPr/>
          <p:nvPr/>
        </p:nvGrpSpPr>
        <p:grpSpPr>
          <a:xfrm rot="0">
            <a:off x="1047288" y="4815042"/>
            <a:ext cx="1312902" cy="1312902"/>
            <a:chOff x="0" y="0"/>
            <a:chExt cx="812800" cy="812800"/>
          </a:xfrm>
        </p:grpSpPr>
        <p:sp>
          <p:nvSpPr>
            <p:cNvPr name="Freeform 18" id="1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975A7"/>
            </a:solidFill>
          </p:spPr>
        </p:sp>
        <p:sp>
          <p:nvSpPr>
            <p:cNvPr name="TextBox 19" id="19"/>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20" id="20"/>
          <p:cNvGrpSpPr/>
          <p:nvPr/>
        </p:nvGrpSpPr>
        <p:grpSpPr>
          <a:xfrm rot="0">
            <a:off x="-2372187" y="4951515"/>
            <a:ext cx="3086100" cy="1039956"/>
            <a:chOff x="0" y="0"/>
            <a:chExt cx="812800" cy="273898"/>
          </a:xfrm>
        </p:grpSpPr>
        <p:sp>
          <p:nvSpPr>
            <p:cNvPr name="Freeform 21" id="21"/>
            <p:cNvSpPr/>
            <p:nvPr/>
          </p:nvSpPr>
          <p:spPr>
            <a:xfrm flipH="false" flipV="false" rot="0">
              <a:off x="0" y="0"/>
              <a:ext cx="812800" cy="273898"/>
            </a:xfrm>
            <a:custGeom>
              <a:avLst/>
              <a:gdLst/>
              <a:ahLst/>
              <a:cxnLst/>
              <a:rect r="r" b="b" t="t" l="l"/>
              <a:pathLst>
                <a:path h="273898" w="812800">
                  <a:moveTo>
                    <a:pt x="609600" y="0"/>
                  </a:moveTo>
                  <a:lnTo>
                    <a:pt x="0" y="0"/>
                  </a:lnTo>
                  <a:lnTo>
                    <a:pt x="0" y="273898"/>
                  </a:lnTo>
                  <a:lnTo>
                    <a:pt x="609600" y="273898"/>
                  </a:lnTo>
                  <a:lnTo>
                    <a:pt x="812800" y="136949"/>
                  </a:lnTo>
                  <a:lnTo>
                    <a:pt x="609600" y="0"/>
                  </a:lnTo>
                  <a:close/>
                </a:path>
              </a:pathLst>
            </a:custGeom>
            <a:solidFill>
              <a:srgbClr val="01135B"/>
            </a:solidFill>
          </p:spPr>
        </p:sp>
        <p:sp>
          <p:nvSpPr>
            <p:cNvPr name="TextBox 22" id="22"/>
            <p:cNvSpPr txBox="true"/>
            <p:nvPr/>
          </p:nvSpPr>
          <p:spPr>
            <a:xfrm>
              <a:off x="0" y="-47625"/>
              <a:ext cx="698500" cy="321523"/>
            </a:xfrm>
            <a:prstGeom prst="rect">
              <a:avLst/>
            </a:prstGeom>
          </p:spPr>
          <p:txBody>
            <a:bodyPr anchor="ctr" rtlCol="false" tIns="50800" lIns="50800" bIns="50800" rIns="50800"/>
            <a:lstStyle/>
            <a:p>
              <a:pPr algn="ctr">
                <a:lnSpc>
                  <a:spcPts val="2592"/>
                </a:lnSpc>
              </a:pPr>
            </a:p>
          </p:txBody>
        </p:sp>
      </p:grpSp>
      <p:sp>
        <p:nvSpPr>
          <p:cNvPr name="TextBox 23" id="23"/>
          <p:cNvSpPr txBox="true"/>
          <p:nvPr/>
        </p:nvSpPr>
        <p:spPr>
          <a:xfrm rot="0">
            <a:off x="1028700" y="161925"/>
            <a:ext cx="3327142" cy="866775"/>
          </a:xfrm>
          <a:prstGeom prst="rect">
            <a:avLst/>
          </a:prstGeom>
        </p:spPr>
        <p:txBody>
          <a:bodyPr anchor="t" rtlCol="false" tIns="0" lIns="0" bIns="0" rIns="0">
            <a:spAutoFit/>
          </a:bodyPr>
          <a:lstStyle/>
          <a:p>
            <a:pPr algn="just">
              <a:lnSpc>
                <a:spcPts val="6720"/>
              </a:lnSpc>
            </a:pPr>
            <a:r>
              <a:rPr lang="en-US" sz="5600" b="true">
                <a:solidFill>
                  <a:srgbClr val="081861"/>
                </a:solidFill>
                <a:latin typeface="Roboto Bold"/>
                <a:ea typeface="Roboto Bold"/>
                <a:cs typeface="Roboto Bold"/>
                <a:sym typeface="Roboto Bold"/>
              </a:rPr>
              <a:t>NỘI DUNG</a:t>
            </a:r>
          </a:p>
        </p:txBody>
      </p:sp>
      <p:sp>
        <p:nvSpPr>
          <p:cNvPr name="TextBox 24" id="24"/>
          <p:cNvSpPr txBox="true"/>
          <p:nvPr/>
        </p:nvSpPr>
        <p:spPr>
          <a:xfrm rot="0">
            <a:off x="2692271" y="1773839"/>
            <a:ext cx="5818648" cy="600075"/>
          </a:xfrm>
          <a:prstGeom prst="rect">
            <a:avLst/>
          </a:prstGeom>
        </p:spPr>
        <p:txBody>
          <a:bodyPr anchor="t" rtlCol="false" tIns="0" lIns="0" bIns="0" rIns="0">
            <a:spAutoFit/>
          </a:bodyPr>
          <a:lstStyle/>
          <a:p>
            <a:pPr algn="l">
              <a:lnSpc>
                <a:spcPts val="4799"/>
              </a:lnSpc>
            </a:pPr>
            <a:r>
              <a:rPr lang="en-US" b="true" sz="3999" spc="615">
                <a:solidFill>
                  <a:srgbClr val="081861"/>
                </a:solidFill>
                <a:latin typeface="Roboto Bold"/>
                <a:ea typeface="Roboto Bold"/>
                <a:cs typeface="Roboto Bold"/>
                <a:sym typeface="Roboto Bold"/>
              </a:rPr>
              <a:t>TỔNG QUAN ĐỀ TÀI</a:t>
            </a:r>
          </a:p>
        </p:txBody>
      </p:sp>
      <p:sp>
        <p:nvSpPr>
          <p:cNvPr name="TextBox 25" id="25"/>
          <p:cNvSpPr txBox="true"/>
          <p:nvPr/>
        </p:nvSpPr>
        <p:spPr>
          <a:xfrm rot="0">
            <a:off x="2683682" y="3469289"/>
            <a:ext cx="7601139" cy="600075"/>
          </a:xfrm>
          <a:prstGeom prst="rect">
            <a:avLst/>
          </a:prstGeom>
        </p:spPr>
        <p:txBody>
          <a:bodyPr anchor="t" rtlCol="false" tIns="0" lIns="0" bIns="0" rIns="0">
            <a:spAutoFit/>
          </a:bodyPr>
          <a:lstStyle/>
          <a:p>
            <a:pPr algn="l">
              <a:lnSpc>
                <a:spcPts val="4799"/>
              </a:lnSpc>
            </a:pPr>
            <a:r>
              <a:rPr lang="en-US" b="true" sz="3999" spc="421">
                <a:solidFill>
                  <a:srgbClr val="081861"/>
                </a:solidFill>
                <a:latin typeface="Roboto Bold"/>
                <a:ea typeface="Roboto Bold"/>
                <a:cs typeface="Roboto Bold"/>
                <a:sym typeface="Roboto Bold"/>
              </a:rPr>
              <a:t>TÓM TẮT NỘI DUNG ĐỀ TÀI</a:t>
            </a:r>
          </a:p>
        </p:txBody>
      </p:sp>
      <p:sp>
        <p:nvSpPr>
          <p:cNvPr name="TextBox 26" id="26"/>
          <p:cNvSpPr txBox="true"/>
          <p:nvPr/>
        </p:nvSpPr>
        <p:spPr>
          <a:xfrm rot="0">
            <a:off x="2692271" y="6905264"/>
            <a:ext cx="8857139" cy="600075"/>
          </a:xfrm>
          <a:prstGeom prst="rect">
            <a:avLst/>
          </a:prstGeom>
        </p:spPr>
        <p:txBody>
          <a:bodyPr anchor="t" rtlCol="false" tIns="0" lIns="0" bIns="0" rIns="0">
            <a:spAutoFit/>
          </a:bodyPr>
          <a:lstStyle/>
          <a:p>
            <a:pPr algn="l">
              <a:lnSpc>
                <a:spcPts val="4799"/>
              </a:lnSpc>
            </a:pPr>
            <a:r>
              <a:rPr lang="en-US" b="true" sz="3999" spc="307">
                <a:solidFill>
                  <a:srgbClr val="081861"/>
                </a:solidFill>
                <a:latin typeface="Roboto Bold"/>
                <a:ea typeface="Roboto Bold"/>
                <a:cs typeface="Roboto Bold"/>
                <a:sym typeface="Roboto Bold"/>
              </a:rPr>
              <a:t>BÁO CÁO KẾT QUẢ THỰC HIỆN</a:t>
            </a:r>
          </a:p>
        </p:txBody>
      </p:sp>
      <p:sp>
        <p:nvSpPr>
          <p:cNvPr name="TextBox 27" id="27"/>
          <p:cNvSpPr txBox="true"/>
          <p:nvPr/>
        </p:nvSpPr>
        <p:spPr>
          <a:xfrm rot="0">
            <a:off x="2782505" y="8679356"/>
            <a:ext cx="7715949" cy="600075"/>
          </a:xfrm>
          <a:prstGeom prst="rect">
            <a:avLst/>
          </a:prstGeom>
        </p:spPr>
        <p:txBody>
          <a:bodyPr anchor="t" rtlCol="false" tIns="0" lIns="0" bIns="0" rIns="0">
            <a:spAutoFit/>
          </a:bodyPr>
          <a:lstStyle/>
          <a:p>
            <a:pPr algn="l">
              <a:lnSpc>
                <a:spcPts val="4799"/>
              </a:lnSpc>
            </a:pPr>
            <a:r>
              <a:rPr lang="en-US" b="true" sz="3999" spc="470">
                <a:solidFill>
                  <a:srgbClr val="081861"/>
                </a:solidFill>
                <a:latin typeface="Roboto Bold"/>
                <a:ea typeface="Roboto Bold"/>
                <a:cs typeface="Roboto Bold"/>
                <a:sym typeface="Roboto Bold"/>
              </a:rPr>
              <a:t>ĐỊNH HƯỚNG PHÁT TRIỂN</a:t>
            </a:r>
          </a:p>
        </p:txBody>
      </p:sp>
      <p:sp>
        <p:nvSpPr>
          <p:cNvPr name="TextBox 28" id="28"/>
          <p:cNvSpPr txBox="true"/>
          <p:nvPr/>
        </p:nvSpPr>
        <p:spPr>
          <a:xfrm rot="0">
            <a:off x="1299986" y="1664302"/>
            <a:ext cx="807428" cy="819150"/>
          </a:xfrm>
          <a:prstGeom prst="rect">
            <a:avLst/>
          </a:prstGeom>
        </p:spPr>
        <p:txBody>
          <a:bodyPr anchor="t" rtlCol="false" tIns="0" lIns="0" bIns="0" rIns="0">
            <a:spAutoFit/>
          </a:bodyPr>
          <a:lstStyle/>
          <a:p>
            <a:pPr algn="l">
              <a:lnSpc>
                <a:spcPts val="6480"/>
              </a:lnSpc>
            </a:pPr>
            <a:r>
              <a:rPr lang="en-US" sz="5400" b="true">
                <a:solidFill>
                  <a:srgbClr val="FFFFFF"/>
                </a:solidFill>
                <a:latin typeface="Roboto Bold"/>
                <a:ea typeface="Roboto Bold"/>
                <a:cs typeface="Roboto Bold"/>
                <a:sym typeface="Roboto Bold"/>
              </a:rPr>
              <a:t>01</a:t>
            </a:r>
          </a:p>
        </p:txBody>
      </p:sp>
      <p:sp>
        <p:nvSpPr>
          <p:cNvPr name="TextBox 29" id="29"/>
          <p:cNvSpPr txBox="true"/>
          <p:nvPr/>
        </p:nvSpPr>
        <p:spPr>
          <a:xfrm rot="0">
            <a:off x="1300018" y="3314339"/>
            <a:ext cx="807440" cy="819150"/>
          </a:xfrm>
          <a:prstGeom prst="rect">
            <a:avLst/>
          </a:prstGeom>
        </p:spPr>
        <p:txBody>
          <a:bodyPr anchor="t" rtlCol="false" tIns="0" lIns="0" bIns="0" rIns="0">
            <a:spAutoFit/>
          </a:bodyPr>
          <a:lstStyle/>
          <a:p>
            <a:pPr algn="l">
              <a:lnSpc>
                <a:spcPts val="6480"/>
              </a:lnSpc>
            </a:pPr>
            <a:r>
              <a:rPr lang="en-US" sz="5400" b="true">
                <a:solidFill>
                  <a:srgbClr val="1B4290"/>
                </a:solidFill>
                <a:latin typeface="Roboto Bold"/>
                <a:ea typeface="Roboto Bold"/>
                <a:cs typeface="Roboto Bold"/>
                <a:sym typeface="Roboto Bold"/>
              </a:rPr>
              <a:t>02</a:t>
            </a:r>
          </a:p>
        </p:txBody>
      </p:sp>
      <p:sp>
        <p:nvSpPr>
          <p:cNvPr name="TextBox 30" id="30"/>
          <p:cNvSpPr txBox="true"/>
          <p:nvPr/>
        </p:nvSpPr>
        <p:spPr>
          <a:xfrm rot="0">
            <a:off x="1308449" y="6795727"/>
            <a:ext cx="790578" cy="819150"/>
          </a:xfrm>
          <a:prstGeom prst="rect">
            <a:avLst/>
          </a:prstGeom>
        </p:spPr>
        <p:txBody>
          <a:bodyPr anchor="t" rtlCol="false" tIns="0" lIns="0" bIns="0" rIns="0">
            <a:spAutoFit/>
          </a:bodyPr>
          <a:lstStyle/>
          <a:p>
            <a:pPr algn="l">
              <a:lnSpc>
                <a:spcPts val="6480"/>
              </a:lnSpc>
            </a:pPr>
            <a:r>
              <a:rPr lang="en-US" sz="5400" b="true">
                <a:solidFill>
                  <a:srgbClr val="1B4290"/>
                </a:solidFill>
                <a:latin typeface="Roboto Bold"/>
                <a:ea typeface="Roboto Bold"/>
                <a:cs typeface="Roboto Bold"/>
                <a:sym typeface="Roboto Bold"/>
              </a:rPr>
              <a:t>04</a:t>
            </a:r>
          </a:p>
        </p:txBody>
      </p:sp>
      <p:sp>
        <p:nvSpPr>
          <p:cNvPr name="TextBox 31" id="31"/>
          <p:cNvSpPr txBox="true"/>
          <p:nvPr/>
        </p:nvSpPr>
        <p:spPr>
          <a:xfrm rot="0">
            <a:off x="1295175" y="8536252"/>
            <a:ext cx="817050" cy="819150"/>
          </a:xfrm>
          <a:prstGeom prst="rect">
            <a:avLst/>
          </a:prstGeom>
        </p:spPr>
        <p:txBody>
          <a:bodyPr anchor="t" rtlCol="false" tIns="0" lIns="0" bIns="0" rIns="0">
            <a:spAutoFit/>
          </a:bodyPr>
          <a:lstStyle/>
          <a:p>
            <a:pPr algn="l">
              <a:lnSpc>
                <a:spcPts val="6480"/>
              </a:lnSpc>
            </a:pPr>
            <a:r>
              <a:rPr lang="en-US" sz="5400" b="true">
                <a:solidFill>
                  <a:srgbClr val="FFFFFF"/>
                </a:solidFill>
                <a:latin typeface="Roboto Bold"/>
                <a:ea typeface="Roboto Bold"/>
                <a:cs typeface="Roboto Bold"/>
                <a:sym typeface="Roboto Bold"/>
              </a:rPr>
              <a:t>05</a:t>
            </a:r>
          </a:p>
        </p:txBody>
      </p:sp>
      <p:sp>
        <p:nvSpPr>
          <p:cNvPr name="TextBox 32" id="32"/>
          <p:cNvSpPr txBox="true"/>
          <p:nvPr/>
        </p:nvSpPr>
        <p:spPr>
          <a:xfrm rot="0">
            <a:off x="2692271" y="5164739"/>
            <a:ext cx="5341342" cy="600075"/>
          </a:xfrm>
          <a:prstGeom prst="rect">
            <a:avLst/>
          </a:prstGeom>
        </p:spPr>
        <p:txBody>
          <a:bodyPr anchor="t" rtlCol="false" tIns="0" lIns="0" bIns="0" rIns="0">
            <a:spAutoFit/>
          </a:bodyPr>
          <a:lstStyle/>
          <a:p>
            <a:pPr algn="l">
              <a:lnSpc>
                <a:spcPts val="4799"/>
              </a:lnSpc>
            </a:pPr>
            <a:r>
              <a:rPr lang="en-US" b="true" sz="3999" spc="421">
                <a:solidFill>
                  <a:srgbClr val="081861"/>
                </a:solidFill>
                <a:latin typeface="Roboto Bold"/>
                <a:ea typeface="Roboto Bold"/>
                <a:cs typeface="Roboto Bold"/>
                <a:sym typeface="Roboto Bold"/>
              </a:rPr>
              <a:t>CƠ SỞ LÝ THUYẾT</a:t>
            </a:r>
          </a:p>
        </p:txBody>
      </p:sp>
      <p:sp>
        <p:nvSpPr>
          <p:cNvPr name="TextBox 33" id="33"/>
          <p:cNvSpPr txBox="true"/>
          <p:nvPr/>
        </p:nvSpPr>
        <p:spPr>
          <a:xfrm rot="0">
            <a:off x="1300607" y="5055202"/>
            <a:ext cx="806264" cy="819150"/>
          </a:xfrm>
          <a:prstGeom prst="rect">
            <a:avLst/>
          </a:prstGeom>
        </p:spPr>
        <p:txBody>
          <a:bodyPr anchor="t" rtlCol="false" tIns="0" lIns="0" bIns="0" rIns="0">
            <a:spAutoFit/>
          </a:bodyPr>
          <a:lstStyle/>
          <a:p>
            <a:pPr algn="l">
              <a:lnSpc>
                <a:spcPts val="6480"/>
              </a:lnSpc>
            </a:pPr>
            <a:r>
              <a:rPr lang="en-US" sz="5400" b="true">
                <a:solidFill>
                  <a:srgbClr val="FFFFFF"/>
                </a:solidFill>
                <a:latin typeface="Roboto Bold"/>
                <a:ea typeface="Roboto Bold"/>
                <a:cs typeface="Roboto Bold"/>
                <a:sym typeface="Roboto Bold"/>
              </a:rPr>
              <a:t>03</a:t>
            </a:r>
          </a:p>
        </p:txBody>
      </p:sp>
    </p:spTree>
  </p:cSld>
  <p:clrMapOvr>
    <a:masterClrMapping/>
  </p:clrMapOvr>
  <p:transition spd="med">
    <p:push dir="l"/>
  </p:transition>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91467" y="421672"/>
            <a:ext cx="19170257" cy="1928908"/>
            <a:chOff x="0" y="0"/>
            <a:chExt cx="823668" cy="82931"/>
          </a:xfrm>
        </p:grpSpPr>
        <p:sp>
          <p:nvSpPr>
            <p:cNvPr name="Freeform 3" id="3"/>
            <p:cNvSpPr/>
            <p:nvPr/>
          </p:nvSpPr>
          <p:spPr>
            <a:xfrm flipH="false" flipV="false" rot="0">
              <a:off x="0" y="0"/>
              <a:ext cx="823668" cy="82931"/>
            </a:xfrm>
            <a:custGeom>
              <a:avLst/>
              <a:gdLst/>
              <a:ahLst/>
              <a:cxnLst/>
              <a:rect r="r" b="b" t="t" l="l"/>
              <a:pathLst>
                <a:path h="82931" w="823668">
                  <a:moveTo>
                    <a:pt x="823668" y="41466"/>
                  </a:moveTo>
                  <a:lnTo>
                    <a:pt x="823668" y="41466"/>
                  </a:lnTo>
                  <a:cubicBezTo>
                    <a:pt x="823668" y="52463"/>
                    <a:pt x="819300" y="63010"/>
                    <a:pt x="811523" y="70786"/>
                  </a:cubicBezTo>
                  <a:cubicBezTo>
                    <a:pt x="803747" y="78562"/>
                    <a:pt x="793200" y="82931"/>
                    <a:pt x="782203" y="82931"/>
                  </a:cubicBezTo>
                  <a:lnTo>
                    <a:pt x="41466" y="82931"/>
                  </a:lnTo>
                  <a:cubicBezTo>
                    <a:pt x="30468" y="82931"/>
                    <a:pt x="19921" y="78562"/>
                    <a:pt x="12145" y="70786"/>
                  </a:cubicBezTo>
                  <a:cubicBezTo>
                    <a:pt x="4369" y="63010"/>
                    <a:pt x="0" y="52463"/>
                    <a:pt x="0" y="41466"/>
                  </a:cubicBezTo>
                  <a:lnTo>
                    <a:pt x="0" y="41466"/>
                  </a:lnTo>
                  <a:cubicBezTo>
                    <a:pt x="0" y="30468"/>
                    <a:pt x="4369" y="19921"/>
                    <a:pt x="12145" y="12145"/>
                  </a:cubicBezTo>
                  <a:cubicBezTo>
                    <a:pt x="19921" y="4369"/>
                    <a:pt x="30468" y="0"/>
                    <a:pt x="41466" y="0"/>
                  </a:cubicBezTo>
                  <a:lnTo>
                    <a:pt x="782203" y="0"/>
                  </a:lnTo>
                  <a:cubicBezTo>
                    <a:pt x="793200" y="0"/>
                    <a:pt x="803747" y="4369"/>
                    <a:pt x="811523" y="12145"/>
                  </a:cubicBezTo>
                  <a:cubicBezTo>
                    <a:pt x="819300" y="19921"/>
                    <a:pt x="823668" y="30468"/>
                    <a:pt x="823668" y="41466"/>
                  </a:cubicBezTo>
                  <a:close/>
                </a:path>
              </a:pathLst>
            </a:custGeom>
            <a:solidFill>
              <a:srgbClr val="002699"/>
            </a:solidFill>
            <a:ln cap="rnd">
              <a:noFill/>
              <a:prstDash val="solid"/>
              <a:round/>
            </a:ln>
          </p:spPr>
        </p:sp>
        <p:sp>
          <p:nvSpPr>
            <p:cNvPr name="TextBox 4" id="4"/>
            <p:cNvSpPr txBox="true"/>
            <p:nvPr/>
          </p:nvSpPr>
          <p:spPr>
            <a:xfrm>
              <a:off x="0" y="-47625"/>
              <a:ext cx="823668" cy="130556"/>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1266209" y="638175"/>
            <a:ext cx="14989776" cy="1533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3.1 </a:t>
            </a:r>
            <a:r>
              <a:rPr lang="en-US" b="true" sz="5000" spc="769">
                <a:solidFill>
                  <a:srgbClr val="FFFFFF"/>
                </a:solidFill>
                <a:latin typeface="Roboto Bold"/>
                <a:ea typeface="Roboto Bold"/>
                <a:cs typeface="Roboto Bold"/>
                <a:sym typeface="Roboto Bold"/>
              </a:rPr>
              <a:t>CẤU TRÚC DỮ LIỆU CÂN MI SCALE 2 [Bluetooth2024] </a:t>
            </a:r>
          </a:p>
        </p:txBody>
      </p:sp>
      <p:graphicFrame>
        <p:nvGraphicFramePr>
          <p:cNvPr name="Object 6" id="6"/>
          <p:cNvGraphicFramePr/>
          <p:nvPr/>
        </p:nvGraphicFramePr>
        <p:xfrm>
          <a:off x="7064313" y="3818164"/>
          <a:ext cx="3771900" cy="4400550"/>
        </p:xfrm>
        <a:graphic>
          <a:graphicData uri="http://schemas.openxmlformats.org/presentationml/2006/ole">
            <p:oleObj imgW="4648200" imgH="5270500" r:id="rId3" progId="Excel.Sheet.12" name="Worksheet">
              <p:embed/>
              <p:pic>
                <p:nvPicPr>
                  <p:cNvPr name="" id="0"/>
                  <p:cNvPicPr/>
                  <p:nvPr/>
                </p:nvPicPr>
                <p:blipFill>
                  <a:blip r:embed="rId2"/>
                  <a:stretch>
                    <a:fillRect/>
                  </a:stretch>
                </p:blipFill>
                <p:spPr>
                  <a:xfrm>
                    <a:off x="1270000" y="1270000"/>
                    <a:ext cx="1270000" cy="1270000"/>
                  </a:xfrm>
                  <a:prstGeom prst="rect"/>
                </p:spPr>
              </p:pic>
            </p:oleObj>
          </a:graphicData>
        </a:graphic>
      </p:graphicFrame>
      <p:sp>
        <p:nvSpPr>
          <p:cNvPr name="TextBox 7" id="7"/>
          <p:cNvSpPr txBox="true"/>
          <p:nvPr/>
        </p:nvSpPr>
        <p:spPr>
          <a:xfrm rot="0">
            <a:off x="15838587" y="9210675"/>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10 of 37</a:t>
            </a:r>
          </a:p>
        </p:txBody>
      </p:sp>
      <p:sp>
        <p:nvSpPr>
          <p:cNvPr name="TextBox 8" id="8"/>
          <p:cNvSpPr txBox="true"/>
          <p:nvPr/>
        </p:nvSpPr>
        <p:spPr>
          <a:xfrm rot="0">
            <a:off x="1028700" y="9283700"/>
            <a:ext cx="11168360" cy="276225"/>
          </a:xfrm>
          <a:prstGeom prst="rect">
            <a:avLst/>
          </a:prstGeom>
        </p:spPr>
        <p:txBody>
          <a:bodyPr anchor="t" rtlCol="false" tIns="0" lIns="0" bIns="0" rIns="0">
            <a:spAutoFit/>
          </a:bodyPr>
          <a:lstStyle/>
          <a:p>
            <a:pPr algn="ctr">
              <a:lnSpc>
                <a:spcPts val="2160"/>
              </a:lnSpc>
              <a:spcBef>
                <a:spcPct val="0"/>
              </a:spcBef>
            </a:pPr>
            <a:r>
              <a:rPr lang="en-US" sz="1800" spc="276">
                <a:solidFill>
                  <a:srgbClr val="000000"/>
                </a:solidFill>
                <a:latin typeface="Roboto"/>
                <a:ea typeface="Roboto"/>
                <a:cs typeface="Roboto"/>
                <a:sym typeface="Roboto"/>
              </a:rPr>
              <a:t>[Bluet</a:t>
            </a:r>
            <a:r>
              <a:rPr lang="en-US" sz="1800" spc="276">
                <a:solidFill>
                  <a:srgbClr val="000000"/>
                </a:solidFill>
                <a:latin typeface="Roboto"/>
                <a:ea typeface="Roboto"/>
                <a:cs typeface="Roboto"/>
                <a:sym typeface="Roboto"/>
              </a:rPr>
              <a:t>ooth2024] Bluetooth SIG Proprietary (2024). GATT Specification Supplement.</a:t>
            </a:r>
          </a:p>
        </p:txBody>
      </p:sp>
      <p:grpSp>
        <p:nvGrpSpPr>
          <p:cNvPr name="Group 9" id="9"/>
          <p:cNvGrpSpPr/>
          <p:nvPr/>
        </p:nvGrpSpPr>
        <p:grpSpPr>
          <a:xfrm rot="0">
            <a:off x="12329794" y="6270237"/>
            <a:ext cx="2336274" cy="2291377"/>
            <a:chOff x="0" y="0"/>
            <a:chExt cx="615315" cy="603490"/>
          </a:xfrm>
        </p:grpSpPr>
        <p:sp>
          <p:nvSpPr>
            <p:cNvPr name="Freeform 10" id="10"/>
            <p:cNvSpPr/>
            <p:nvPr/>
          </p:nvSpPr>
          <p:spPr>
            <a:xfrm flipH="false" flipV="false" rot="0">
              <a:off x="0" y="0"/>
              <a:ext cx="615315" cy="603490"/>
            </a:xfrm>
            <a:custGeom>
              <a:avLst/>
              <a:gdLst/>
              <a:ahLst/>
              <a:cxnLst/>
              <a:rect r="r" b="b" t="t" l="l"/>
              <a:pathLst>
                <a:path h="603490" w="615315">
                  <a:moveTo>
                    <a:pt x="99414" y="0"/>
                  </a:moveTo>
                  <a:lnTo>
                    <a:pt x="515901" y="0"/>
                  </a:lnTo>
                  <a:cubicBezTo>
                    <a:pt x="570806" y="0"/>
                    <a:pt x="615315" y="44509"/>
                    <a:pt x="615315" y="99414"/>
                  </a:cubicBezTo>
                  <a:lnTo>
                    <a:pt x="615315" y="504076"/>
                  </a:lnTo>
                  <a:cubicBezTo>
                    <a:pt x="615315" y="558981"/>
                    <a:pt x="570806" y="603490"/>
                    <a:pt x="515901" y="603490"/>
                  </a:cubicBezTo>
                  <a:lnTo>
                    <a:pt x="99414" y="603490"/>
                  </a:lnTo>
                  <a:cubicBezTo>
                    <a:pt x="44509" y="603490"/>
                    <a:pt x="0" y="558981"/>
                    <a:pt x="0" y="504076"/>
                  </a:cubicBezTo>
                  <a:lnTo>
                    <a:pt x="0" y="99414"/>
                  </a:lnTo>
                  <a:cubicBezTo>
                    <a:pt x="0" y="44509"/>
                    <a:pt x="44509" y="0"/>
                    <a:pt x="99414" y="0"/>
                  </a:cubicBezTo>
                  <a:close/>
                </a:path>
              </a:pathLst>
            </a:custGeom>
            <a:solidFill>
              <a:srgbClr val="000000">
                <a:alpha val="0"/>
              </a:srgbClr>
            </a:solidFill>
            <a:ln w="38100" cap="rnd">
              <a:solidFill>
                <a:srgbClr val="1F4290"/>
              </a:solidFill>
              <a:prstDash val="solid"/>
              <a:round/>
            </a:ln>
          </p:spPr>
        </p:sp>
        <p:sp>
          <p:nvSpPr>
            <p:cNvPr name="TextBox 11" id="11"/>
            <p:cNvSpPr txBox="true"/>
            <p:nvPr/>
          </p:nvSpPr>
          <p:spPr>
            <a:xfrm>
              <a:off x="0" y="-66675"/>
              <a:ext cx="615315" cy="670165"/>
            </a:xfrm>
            <a:prstGeom prst="rect">
              <a:avLst/>
            </a:prstGeom>
          </p:spPr>
          <p:txBody>
            <a:bodyPr anchor="ctr" rtlCol="false" tIns="50800" lIns="50800" bIns="50800" rIns="50800"/>
            <a:lstStyle/>
            <a:p>
              <a:pPr algn="just">
                <a:lnSpc>
                  <a:spcPts val="2999"/>
                </a:lnSpc>
              </a:pPr>
              <a:r>
                <a:rPr lang="en-US" sz="1999" b="true">
                  <a:solidFill>
                    <a:srgbClr val="1B4290"/>
                  </a:solidFill>
                  <a:latin typeface="Roboto Bold"/>
                  <a:ea typeface="Roboto Bold"/>
                  <a:cs typeface="Roboto Bold"/>
                  <a:sym typeface="Roboto Bold"/>
                </a:rPr>
                <a:t>Chế độ SI (Bit 0=0)</a:t>
              </a:r>
            </a:p>
            <a:p>
              <a:pPr algn="just">
                <a:lnSpc>
                  <a:spcPts val="2999"/>
                </a:lnSpc>
              </a:pPr>
              <a:r>
                <a:rPr lang="en-US" sz="1999" b="true">
                  <a:solidFill>
                    <a:srgbClr val="000000"/>
                  </a:solidFill>
                  <a:latin typeface="Roboto Bold"/>
                  <a:ea typeface="Roboto Bold"/>
                  <a:cs typeface="Roboto Bold"/>
                  <a:sym typeface="Roboto Bold"/>
                </a:rPr>
                <a:t>Đơn vị:</a:t>
              </a:r>
            </a:p>
            <a:p>
              <a:pPr algn="just">
                <a:lnSpc>
                  <a:spcPts val="2999"/>
                </a:lnSpc>
              </a:pPr>
              <a:r>
                <a:rPr lang="en-US" sz="1999">
                  <a:solidFill>
                    <a:srgbClr val="000000"/>
                  </a:solidFill>
                  <a:latin typeface="Roboto"/>
                  <a:ea typeface="Roboto"/>
                  <a:cs typeface="Roboto"/>
                  <a:sym typeface="Roboto"/>
                </a:rPr>
                <a:t>Kilogram (kg)</a:t>
              </a:r>
            </a:p>
            <a:p>
              <a:pPr algn="just">
                <a:lnSpc>
                  <a:spcPts val="2999"/>
                </a:lnSpc>
              </a:pPr>
              <a:r>
                <a:rPr lang="en-US" sz="1999" b="true">
                  <a:solidFill>
                    <a:srgbClr val="000000"/>
                  </a:solidFill>
                  <a:latin typeface="Roboto Bold"/>
                  <a:ea typeface="Roboto Bold"/>
                  <a:cs typeface="Roboto Bold"/>
                  <a:sym typeface="Roboto Bold"/>
                </a:rPr>
                <a:t>Độ phân giải:</a:t>
              </a:r>
            </a:p>
            <a:p>
              <a:pPr algn="just">
                <a:lnSpc>
                  <a:spcPts val="2999"/>
                </a:lnSpc>
              </a:pPr>
              <a:r>
                <a:rPr lang="en-US" sz="1999">
                  <a:solidFill>
                    <a:srgbClr val="000000"/>
                  </a:solidFill>
                  <a:latin typeface="Roboto"/>
                  <a:ea typeface="Roboto"/>
                  <a:cs typeface="Roboto"/>
                  <a:sym typeface="Roboto"/>
                </a:rPr>
                <a:t>0.005 kg</a:t>
              </a:r>
            </a:p>
          </p:txBody>
        </p:sp>
      </p:grpSp>
      <p:grpSp>
        <p:nvGrpSpPr>
          <p:cNvPr name="Group 12" id="12"/>
          <p:cNvGrpSpPr/>
          <p:nvPr/>
        </p:nvGrpSpPr>
        <p:grpSpPr>
          <a:xfrm rot="0">
            <a:off x="14942516" y="6270237"/>
            <a:ext cx="2336274" cy="2291377"/>
            <a:chOff x="0" y="0"/>
            <a:chExt cx="615315" cy="603490"/>
          </a:xfrm>
        </p:grpSpPr>
        <p:sp>
          <p:nvSpPr>
            <p:cNvPr name="Freeform 13" id="13"/>
            <p:cNvSpPr/>
            <p:nvPr/>
          </p:nvSpPr>
          <p:spPr>
            <a:xfrm flipH="false" flipV="false" rot="0">
              <a:off x="0" y="0"/>
              <a:ext cx="615315" cy="603490"/>
            </a:xfrm>
            <a:custGeom>
              <a:avLst/>
              <a:gdLst/>
              <a:ahLst/>
              <a:cxnLst/>
              <a:rect r="r" b="b" t="t" l="l"/>
              <a:pathLst>
                <a:path h="603490" w="615315">
                  <a:moveTo>
                    <a:pt x="99414" y="0"/>
                  </a:moveTo>
                  <a:lnTo>
                    <a:pt x="515901" y="0"/>
                  </a:lnTo>
                  <a:cubicBezTo>
                    <a:pt x="570806" y="0"/>
                    <a:pt x="615315" y="44509"/>
                    <a:pt x="615315" y="99414"/>
                  </a:cubicBezTo>
                  <a:lnTo>
                    <a:pt x="615315" y="504076"/>
                  </a:lnTo>
                  <a:cubicBezTo>
                    <a:pt x="615315" y="558981"/>
                    <a:pt x="570806" y="603490"/>
                    <a:pt x="515901" y="603490"/>
                  </a:cubicBezTo>
                  <a:lnTo>
                    <a:pt x="99414" y="603490"/>
                  </a:lnTo>
                  <a:cubicBezTo>
                    <a:pt x="44509" y="603490"/>
                    <a:pt x="0" y="558981"/>
                    <a:pt x="0" y="504076"/>
                  </a:cubicBezTo>
                  <a:lnTo>
                    <a:pt x="0" y="99414"/>
                  </a:lnTo>
                  <a:cubicBezTo>
                    <a:pt x="0" y="44509"/>
                    <a:pt x="44509" y="0"/>
                    <a:pt x="99414" y="0"/>
                  </a:cubicBezTo>
                  <a:close/>
                </a:path>
              </a:pathLst>
            </a:custGeom>
            <a:solidFill>
              <a:srgbClr val="000000">
                <a:alpha val="0"/>
              </a:srgbClr>
            </a:solidFill>
            <a:ln w="38100" cap="rnd">
              <a:solidFill>
                <a:srgbClr val="1B4290"/>
              </a:solidFill>
              <a:prstDash val="solid"/>
              <a:round/>
            </a:ln>
          </p:spPr>
        </p:sp>
        <p:sp>
          <p:nvSpPr>
            <p:cNvPr name="TextBox 14" id="14"/>
            <p:cNvSpPr txBox="true"/>
            <p:nvPr/>
          </p:nvSpPr>
          <p:spPr>
            <a:xfrm>
              <a:off x="0" y="-57150"/>
              <a:ext cx="615315" cy="660640"/>
            </a:xfrm>
            <a:prstGeom prst="rect">
              <a:avLst/>
            </a:prstGeom>
          </p:spPr>
          <p:txBody>
            <a:bodyPr anchor="ctr" rtlCol="false" tIns="50800" lIns="50800" bIns="50800" rIns="50800"/>
            <a:lstStyle/>
            <a:p>
              <a:pPr algn="just">
                <a:lnSpc>
                  <a:spcPts val="2879"/>
                </a:lnSpc>
              </a:pPr>
              <a:r>
                <a:rPr lang="en-US" sz="1999" b="true">
                  <a:solidFill>
                    <a:srgbClr val="1B4290"/>
                  </a:solidFill>
                  <a:latin typeface="Roboto Bold"/>
                  <a:ea typeface="Roboto Bold"/>
                  <a:cs typeface="Roboto Bold"/>
                  <a:sym typeface="Roboto Bold"/>
                </a:rPr>
                <a:t>Chế độ I (Bit 0=1)</a:t>
              </a:r>
            </a:p>
            <a:p>
              <a:pPr algn="just">
                <a:lnSpc>
                  <a:spcPts val="2879"/>
                </a:lnSpc>
              </a:pPr>
              <a:r>
                <a:rPr lang="en-US" sz="1999" b="true">
                  <a:solidFill>
                    <a:srgbClr val="000000"/>
                  </a:solidFill>
                  <a:latin typeface="Roboto Bold"/>
                  <a:ea typeface="Roboto Bold"/>
                  <a:cs typeface="Roboto Bold"/>
                  <a:sym typeface="Roboto Bold"/>
                </a:rPr>
                <a:t>Đơn vị:</a:t>
              </a:r>
            </a:p>
            <a:p>
              <a:pPr algn="just">
                <a:lnSpc>
                  <a:spcPts val="2879"/>
                </a:lnSpc>
              </a:pPr>
              <a:r>
                <a:rPr lang="en-US" sz="1999">
                  <a:solidFill>
                    <a:srgbClr val="000000"/>
                  </a:solidFill>
                  <a:latin typeface="Roboto"/>
                  <a:ea typeface="Roboto"/>
                  <a:cs typeface="Roboto"/>
                  <a:sym typeface="Roboto"/>
                </a:rPr>
                <a:t>P</a:t>
              </a:r>
              <a:r>
                <a:rPr lang="en-US" sz="1999">
                  <a:solidFill>
                    <a:srgbClr val="000000"/>
                  </a:solidFill>
                  <a:latin typeface="Roboto"/>
                  <a:ea typeface="Roboto"/>
                  <a:cs typeface="Roboto"/>
                  <a:sym typeface="Roboto"/>
                </a:rPr>
                <a:t>ound (lb)</a:t>
              </a:r>
            </a:p>
            <a:p>
              <a:pPr algn="just">
                <a:lnSpc>
                  <a:spcPts val="2879"/>
                </a:lnSpc>
              </a:pPr>
              <a:r>
                <a:rPr lang="en-US" sz="1999" b="true">
                  <a:solidFill>
                    <a:srgbClr val="000000"/>
                  </a:solidFill>
                  <a:latin typeface="Roboto Bold"/>
                  <a:ea typeface="Roboto Bold"/>
                  <a:cs typeface="Roboto Bold"/>
                  <a:sym typeface="Roboto Bold"/>
                </a:rPr>
                <a:t>Độ phân giải:</a:t>
              </a:r>
            </a:p>
            <a:p>
              <a:pPr algn="just">
                <a:lnSpc>
                  <a:spcPts val="2879"/>
                </a:lnSpc>
              </a:pPr>
              <a:r>
                <a:rPr lang="en-US" sz="1999">
                  <a:solidFill>
                    <a:srgbClr val="000000"/>
                  </a:solidFill>
                  <a:latin typeface="Roboto"/>
                  <a:ea typeface="Roboto"/>
                  <a:cs typeface="Roboto"/>
                  <a:sym typeface="Roboto"/>
                </a:rPr>
                <a:t>0.01 lb</a:t>
              </a:r>
            </a:p>
          </p:txBody>
        </p:sp>
      </p:grpSp>
      <p:sp>
        <p:nvSpPr>
          <p:cNvPr name="AutoShape 15" id="15"/>
          <p:cNvSpPr/>
          <p:nvPr/>
        </p:nvSpPr>
        <p:spPr>
          <a:xfrm>
            <a:off x="2078615" y="3642027"/>
            <a:ext cx="3357562" cy="0"/>
          </a:xfrm>
          <a:prstGeom prst="line">
            <a:avLst/>
          </a:prstGeom>
          <a:ln cap="flat" w="38100">
            <a:solidFill>
              <a:srgbClr val="1B4290"/>
            </a:solidFill>
            <a:prstDash val="solid"/>
            <a:headEnd type="none" len="sm" w="sm"/>
            <a:tailEnd type="none" len="sm" w="sm"/>
          </a:ln>
        </p:spPr>
      </p:sp>
      <p:sp>
        <p:nvSpPr>
          <p:cNvPr name="AutoShape 16" id="16"/>
          <p:cNvSpPr/>
          <p:nvPr/>
        </p:nvSpPr>
        <p:spPr>
          <a:xfrm>
            <a:off x="7737285" y="3622977"/>
            <a:ext cx="3357562" cy="0"/>
          </a:xfrm>
          <a:prstGeom prst="line">
            <a:avLst/>
          </a:prstGeom>
          <a:ln cap="flat" w="38100">
            <a:solidFill>
              <a:srgbClr val="1B4290"/>
            </a:solidFill>
            <a:prstDash val="solid"/>
            <a:headEnd type="none" len="sm" w="sm"/>
            <a:tailEnd type="none" len="sm" w="sm"/>
          </a:ln>
        </p:spPr>
      </p:sp>
      <p:sp>
        <p:nvSpPr>
          <p:cNvPr name="AutoShape 17" id="17"/>
          <p:cNvSpPr/>
          <p:nvPr/>
        </p:nvSpPr>
        <p:spPr>
          <a:xfrm>
            <a:off x="13263735" y="3603927"/>
            <a:ext cx="3357562" cy="0"/>
          </a:xfrm>
          <a:prstGeom prst="line">
            <a:avLst/>
          </a:prstGeom>
          <a:ln cap="flat" w="38100">
            <a:solidFill>
              <a:srgbClr val="1B4290"/>
            </a:solidFill>
            <a:prstDash val="solid"/>
            <a:headEnd type="none" len="sm" w="sm"/>
            <a:tailEnd type="none" len="sm" w="sm"/>
          </a:ln>
        </p:spPr>
      </p:sp>
      <p:sp>
        <p:nvSpPr>
          <p:cNvPr name="TextBox 18" id="18"/>
          <p:cNvSpPr txBox="true"/>
          <p:nvPr/>
        </p:nvSpPr>
        <p:spPr>
          <a:xfrm rot="0">
            <a:off x="1009210" y="3761014"/>
            <a:ext cx="5496371" cy="4457700"/>
          </a:xfrm>
          <a:prstGeom prst="rect">
            <a:avLst/>
          </a:prstGeom>
        </p:spPr>
        <p:txBody>
          <a:bodyPr anchor="t" rtlCol="false" tIns="0" lIns="0" bIns="0" rIns="0">
            <a:spAutoFit/>
          </a:bodyPr>
          <a:lstStyle/>
          <a:p>
            <a:pPr algn="l">
              <a:lnSpc>
                <a:spcPts val="3599"/>
              </a:lnSpc>
            </a:pPr>
            <a:r>
              <a:rPr lang="en-US" sz="2499" b="true">
                <a:solidFill>
                  <a:srgbClr val="1B4290"/>
                </a:solidFill>
                <a:latin typeface="Roboto Bold"/>
                <a:ea typeface="Roboto Bold"/>
                <a:cs typeface="Roboto Bold"/>
                <a:sym typeface="Roboto Bold"/>
              </a:rPr>
              <a:t>🔧 </a:t>
            </a:r>
            <a:r>
              <a:rPr lang="en-US" b="true" sz="2499">
                <a:solidFill>
                  <a:srgbClr val="1B4290"/>
                </a:solidFill>
                <a:latin typeface="Roboto Bold"/>
                <a:ea typeface="Roboto Bold"/>
                <a:cs typeface="Roboto Bold"/>
                <a:sym typeface="Roboto Bold"/>
              </a:rPr>
              <a:t>Thiết bị:</a:t>
            </a:r>
          </a:p>
          <a:p>
            <a:pPr algn="l">
              <a:lnSpc>
                <a:spcPts val="3599"/>
              </a:lnSpc>
            </a:pPr>
            <a:r>
              <a:rPr lang="en-US" sz="2499">
                <a:solidFill>
                  <a:srgbClr val="000000"/>
                </a:solidFill>
                <a:latin typeface="Roboto"/>
                <a:ea typeface="Roboto"/>
                <a:cs typeface="Roboto"/>
                <a:sym typeface="Roboto"/>
              </a:rPr>
              <a:t>CRENOT Gofit S2</a:t>
            </a:r>
          </a:p>
          <a:p>
            <a:pPr algn="l">
              <a:lnSpc>
                <a:spcPts val="3599"/>
              </a:lnSpc>
            </a:pPr>
            <a:r>
              <a:rPr lang="en-US" sz="2499">
                <a:solidFill>
                  <a:srgbClr val="1B4290"/>
                </a:solidFill>
                <a:latin typeface="Roboto"/>
                <a:ea typeface="Roboto"/>
                <a:cs typeface="Roboto"/>
                <a:sym typeface="Roboto"/>
              </a:rPr>
              <a:t>🔌 </a:t>
            </a:r>
            <a:r>
              <a:rPr lang="en-US" b="true" sz="2499">
                <a:solidFill>
                  <a:srgbClr val="1B4290"/>
                </a:solidFill>
                <a:latin typeface="Roboto Bold"/>
                <a:ea typeface="Roboto Bold"/>
                <a:cs typeface="Roboto Bold"/>
                <a:sym typeface="Roboto Bold"/>
              </a:rPr>
              <a:t>Giao thức:</a:t>
            </a:r>
          </a:p>
          <a:p>
            <a:pPr algn="l">
              <a:lnSpc>
                <a:spcPts val="3599"/>
              </a:lnSpc>
            </a:pPr>
            <a:r>
              <a:rPr lang="en-US" sz="2499">
                <a:solidFill>
                  <a:srgbClr val="000000"/>
                </a:solidFill>
                <a:latin typeface="Roboto"/>
                <a:ea typeface="Roboto"/>
                <a:cs typeface="Roboto"/>
                <a:sym typeface="Roboto"/>
              </a:rPr>
              <a:t>Bluetooth Low Energy (BLE)</a:t>
            </a:r>
          </a:p>
          <a:p>
            <a:pPr algn="l">
              <a:lnSpc>
                <a:spcPts val="3599"/>
              </a:lnSpc>
            </a:pPr>
            <a:r>
              <a:rPr lang="en-US" sz="2499">
                <a:solidFill>
                  <a:srgbClr val="1B4290"/>
                </a:solidFill>
                <a:latin typeface="Roboto"/>
                <a:ea typeface="Roboto"/>
                <a:cs typeface="Roboto"/>
                <a:sym typeface="Roboto"/>
              </a:rPr>
              <a:t>⚙️ </a:t>
            </a:r>
            <a:r>
              <a:rPr lang="en-US" b="true" sz="2499">
                <a:solidFill>
                  <a:srgbClr val="1B4290"/>
                </a:solidFill>
                <a:latin typeface="Roboto Bold"/>
                <a:ea typeface="Roboto Bold"/>
                <a:cs typeface="Roboto Bold"/>
                <a:sym typeface="Roboto Bold"/>
              </a:rPr>
              <a:t>Characteristic (Weight Measurement) UUID:</a:t>
            </a:r>
          </a:p>
          <a:p>
            <a:pPr algn="l">
              <a:lnSpc>
                <a:spcPts val="3599"/>
              </a:lnSpc>
            </a:pPr>
            <a:r>
              <a:rPr lang="en-US" sz="2499">
                <a:solidFill>
                  <a:srgbClr val="000000"/>
                </a:solidFill>
                <a:latin typeface="Roboto"/>
                <a:ea typeface="Roboto"/>
                <a:cs typeface="Roboto"/>
                <a:sym typeface="Roboto"/>
              </a:rPr>
              <a:t>0000FFB2-0000-1000-8000-00805F9B34FB</a:t>
            </a:r>
          </a:p>
          <a:p>
            <a:pPr algn="l">
              <a:lnSpc>
                <a:spcPts val="3599"/>
              </a:lnSpc>
            </a:pPr>
            <a:r>
              <a:rPr lang="en-US" sz="2499">
                <a:solidFill>
                  <a:srgbClr val="1B4290"/>
                </a:solidFill>
                <a:latin typeface="Roboto"/>
                <a:ea typeface="Roboto"/>
                <a:cs typeface="Roboto"/>
                <a:sym typeface="Roboto"/>
              </a:rPr>
              <a:t>📦 </a:t>
            </a:r>
            <a:r>
              <a:rPr lang="en-US" b="true" sz="2499">
                <a:solidFill>
                  <a:srgbClr val="1B4290"/>
                </a:solidFill>
                <a:latin typeface="Roboto Bold"/>
                <a:ea typeface="Roboto Bold"/>
                <a:cs typeface="Roboto Bold"/>
                <a:sym typeface="Roboto Bold"/>
              </a:rPr>
              <a:t>Định dạng gói tin:</a:t>
            </a:r>
          </a:p>
          <a:p>
            <a:pPr algn="l">
              <a:lnSpc>
                <a:spcPts val="3599"/>
              </a:lnSpc>
            </a:pPr>
            <a:r>
              <a:rPr lang="en-US" sz="2499">
                <a:solidFill>
                  <a:srgbClr val="000000"/>
                </a:solidFill>
                <a:latin typeface="Roboto"/>
                <a:ea typeface="Roboto"/>
                <a:cs typeface="Roboto"/>
                <a:sym typeface="Roboto"/>
              </a:rPr>
              <a:t>Gói dữ liệu dạng byte gửi từ cân.</a:t>
            </a:r>
          </a:p>
        </p:txBody>
      </p:sp>
      <p:sp>
        <p:nvSpPr>
          <p:cNvPr name="TextBox 19" id="19"/>
          <p:cNvSpPr txBox="true"/>
          <p:nvPr/>
        </p:nvSpPr>
        <p:spPr>
          <a:xfrm rot="0">
            <a:off x="12329794" y="3761014"/>
            <a:ext cx="4864894" cy="1990344"/>
          </a:xfrm>
          <a:prstGeom prst="rect">
            <a:avLst/>
          </a:prstGeom>
        </p:spPr>
        <p:txBody>
          <a:bodyPr anchor="t" rtlCol="false" tIns="0" lIns="0" bIns="0" rIns="0">
            <a:spAutoFit/>
          </a:bodyPr>
          <a:lstStyle/>
          <a:p>
            <a:pPr algn="l">
              <a:lnSpc>
                <a:spcPts val="3167"/>
              </a:lnSpc>
              <a:spcBef>
                <a:spcPct val="0"/>
              </a:spcBef>
            </a:pPr>
            <a:r>
              <a:rPr lang="en-US" b="true" sz="2199">
                <a:solidFill>
                  <a:srgbClr val="1B4290"/>
                </a:solidFill>
                <a:latin typeface="Roboto Bold"/>
                <a:ea typeface="Roboto Bold"/>
                <a:cs typeface="Roboto Bold"/>
                <a:sym typeface="Roboto Bold"/>
              </a:rPr>
              <a:t>🚩 </a:t>
            </a:r>
            <a:r>
              <a:rPr lang="en-US" b="true" sz="2199">
                <a:solidFill>
                  <a:srgbClr val="1B4290"/>
                </a:solidFill>
                <a:latin typeface="Roboto Bold"/>
                <a:ea typeface="Roboto Bold"/>
                <a:cs typeface="Roboto Bold"/>
                <a:sym typeface="Roboto Bold"/>
              </a:rPr>
              <a:t>Trường “Flags”</a:t>
            </a:r>
          </a:p>
          <a:p>
            <a:pPr algn="l">
              <a:lnSpc>
                <a:spcPts val="3167"/>
              </a:lnSpc>
              <a:spcBef>
                <a:spcPct val="0"/>
              </a:spcBef>
            </a:pPr>
            <a:r>
              <a:rPr lang="en-US" sz="2199">
                <a:solidFill>
                  <a:srgbClr val="000000"/>
                </a:solidFill>
                <a:latin typeface="Roboto"/>
                <a:ea typeface="Roboto"/>
                <a:cs typeface="Roboto"/>
                <a:sym typeface="Roboto"/>
              </a:rPr>
              <a:t>Bit 0 (Đơn vị): 0: SI (kg) / 1: Imperial (lb)</a:t>
            </a:r>
          </a:p>
          <a:p>
            <a:pPr algn="l">
              <a:lnSpc>
                <a:spcPts val="3167"/>
              </a:lnSpc>
              <a:spcBef>
                <a:spcPct val="0"/>
              </a:spcBef>
            </a:pPr>
            <a:r>
              <a:rPr lang="en-US" sz="2199">
                <a:solidFill>
                  <a:srgbClr val="000000"/>
                </a:solidFill>
                <a:latin typeface="Roboto"/>
                <a:ea typeface="Roboto"/>
                <a:cs typeface="Roboto"/>
                <a:sym typeface="Roboto"/>
              </a:rPr>
              <a:t>Bit 1 (Time Stamp): Có/Không</a:t>
            </a:r>
          </a:p>
          <a:p>
            <a:pPr algn="l">
              <a:lnSpc>
                <a:spcPts val="3167"/>
              </a:lnSpc>
              <a:spcBef>
                <a:spcPct val="0"/>
              </a:spcBef>
            </a:pPr>
            <a:r>
              <a:rPr lang="en-US" sz="2199">
                <a:solidFill>
                  <a:srgbClr val="000000"/>
                </a:solidFill>
                <a:latin typeface="Roboto"/>
                <a:ea typeface="Roboto"/>
                <a:cs typeface="Roboto"/>
                <a:sym typeface="Roboto"/>
              </a:rPr>
              <a:t>Bit 2 (User ID): Có/Không</a:t>
            </a:r>
          </a:p>
          <a:p>
            <a:pPr algn="l">
              <a:lnSpc>
                <a:spcPts val="3167"/>
              </a:lnSpc>
              <a:spcBef>
                <a:spcPct val="0"/>
              </a:spcBef>
            </a:pPr>
            <a:r>
              <a:rPr lang="en-US" sz="2199">
                <a:solidFill>
                  <a:srgbClr val="000000"/>
                </a:solidFill>
                <a:latin typeface="Roboto"/>
                <a:ea typeface="Roboto"/>
                <a:cs typeface="Roboto"/>
                <a:sym typeface="Roboto"/>
              </a:rPr>
              <a:t>Bit 3 (BMI &amp; Height): Có/Không</a:t>
            </a:r>
          </a:p>
        </p:txBody>
      </p:sp>
      <p:sp>
        <p:nvSpPr>
          <p:cNvPr name="TextBox 20" id="20"/>
          <p:cNvSpPr txBox="true"/>
          <p:nvPr/>
        </p:nvSpPr>
        <p:spPr>
          <a:xfrm rot="0">
            <a:off x="12329794" y="5784843"/>
            <a:ext cx="2612721" cy="390144"/>
          </a:xfrm>
          <a:prstGeom prst="rect">
            <a:avLst/>
          </a:prstGeom>
        </p:spPr>
        <p:txBody>
          <a:bodyPr anchor="t" rtlCol="false" tIns="0" lIns="0" bIns="0" rIns="0">
            <a:spAutoFit/>
          </a:bodyPr>
          <a:lstStyle/>
          <a:p>
            <a:pPr algn="l">
              <a:lnSpc>
                <a:spcPts val="3167"/>
              </a:lnSpc>
              <a:spcBef>
                <a:spcPct val="0"/>
              </a:spcBef>
            </a:pPr>
            <a:r>
              <a:rPr lang="en-US" b="true" sz="2199">
                <a:solidFill>
                  <a:srgbClr val="1B4290"/>
                </a:solidFill>
                <a:latin typeface="Roboto Bold"/>
                <a:ea typeface="Roboto Bold"/>
                <a:cs typeface="Roboto Bold"/>
                <a:sym typeface="Roboto Bold"/>
              </a:rPr>
              <a:t>⚖️</a:t>
            </a:r>
            <a:r>
              <a:rPr lang="en-US" b="true" sz="2199">
                <a:solidFill>
                  <a:srgbClr val="1B4290"/>
                </a:solidFill>
                <a:latin typeface="Roboto Bold"/>
                <a:ea typeface="Roboto Bold"/>
                <a:cs typeface="Roboto Bold"/>
                <a:sym typeface="Roboto Bold"/>
              </a:rPr>
              <a:t>Trường “Weight”</a:t>
            </a:r>
          </a:p>
        </p:txBody>
      </p:sp>
      <p:sp>
        <p:nvSpPr>
          <p:cNvPr name="TextBox 21" id="21"/>
          <p:cNvSpPr txBox="true"/>
          <p:nvPr/>
        </p:nvSpPr>
        <p:spPr>
          <a:xfrm rot="0">
            <a:off x="1738733" y="3008689"/>
            <a:ext cx="4037326" cy="537210"/>
          </a:xfrm>
          <a:prstGeom prst="rect">
            <a:avLst/>
          </a:prstGeom>
        </p:spPr>
        <p:txBody>
          <a:bodyPr anchor="t" rtlCol="false" tIns="0" lIns="0" bIns="0" rIns="0">
            <a:spAutoFit/>
          </a:bodyPr>
          <a:lstStyle/>
          <a:p>
            <a:pPr algn="ctr">
              <a:lnSpc>
                <a:spcPts val="4320"/>
              </a:lnSpc>
              <a:spcBef>
                <a:spcPct val="0"/>
              </a:spcBef>
            </a:pPr>
            <a:r>
              <a:rPr lang="en-US" b="true" sz="3000">
                <a:solidFill>
                  <a:srgbClr val="1B4290"/>
                </a:solidFill>
                <a:latin typeface="Roboto Bold"/>
                <a:ea typeface="Roboto Bold"/>
                <a:cs typeface="Roboto Bold"/>
                <a:sym typeface="Roboto Bold"/>
              </a:rPr>
              <a:t>TỔNG QUAN KỸ THUẬT</a:t>
            </a:r>
          </a:p>
        </p:txBody>
      </p:sp>
      <p:sp>
        <p:nvSpPr>
          <p:cNvPr name="TextBox 22" id="22"/>
          <p:cNvSpPr txBox="true"/>
          <p:nvPr/>
        </p:nvSpPr>
        <p:spPr>
          <a:xfrm rot="0">
            <a:off x="7694464" y="3008689"/>
            <a:ext cx="3443203" cy="537210"/>
          </a:xfrm>
          <a:prstGeom prst="rect">
            <a:avLst/>
          </a:prstGeom>
        </p:spPr>
        <p:txBody>
          <a:bodyPr anchor="t" rtlCol="false" tIns="0" lIns="0" bIns="0" rIns="0">
            <a:spAutoFit/>
          </a:bodyPr>
          <a:lstStyle/>
          <a:p>
            <a:pPr algn="ctr">
              <a:lnSpc>
                <a:spcPts val="4320"/>
              </a:lnSpc>
              <a:spcBef>
                <a:spcPct val="0"/>
              </a:spcBef>
            </a:pPr>
            <a:r>
              <a:rPr lang="en-US" b="true" sz="3000">
                <a:solidFill>
                  <a:srgbClr val="1B4290"/>
                </a:solidFill>
                <a:latin typeface="Roboto Bold"/>
                <a:ea typeface="Roboto Bold"/>
                <a:cs typeface="Roboto Bold"/>
                <a:sym typeface="Roboto Bold"/>
              </a:rPr>
              <a:t>CẤU TRÚC GÓI TIN</a:t>
            </a:r>
          </a:p>
        </p:txBody>
      </p:sp>
      <p:sp>
        <p:nvSpPr>
          <p:cNvPr name="TextBox 23" id="23"/>
          <p:cNvSpPr txBox="true"/>
          <p:nvPr/>
        </p:nvSpPr>
        <p:spPr>
          <a:xfrm rot="0">
            <a:off x="12976087" y="3008689"/>
            <a:ext cx="3932858" cy="537210"/>
          </a:xfrm>
          <a:prstGeom prst="rect">
            <a:avLst/>
          </a:prstGeom>
        </p:spPr>
        <p:txBody>
          <a:bodyPr anchor="t" rtlCol="false" tIns="0" lIns="0" bIns="0" rIns="0">
            <a:spAutoFit/>
          </a:bodyPr>
          <a:lstStyle/>
          <a:p>
            <a:pPr algn="ctr">
              <a:lnSpc>
                <a:spcPts val="4320"/>
              </a:lnSpc>
              <a:spcBef>
                <a:spcPct val="0"/>
              </a:spcBef>
            </a:pPr>
            <a:r>
              <a:rPr lang="en-US" b="true" sz="3000">
                <a:solidFill>
                  <a:srgbClr val="1B4290"/>
                </a:solidFill>
                <a:latin typeface="Roboto Bold"/>
                <a:ea typeface="Roboto Bold"/>
                <a:cs typeface="Roboto Bold"/>
                <a:sym typeface="Roboto Bold"/>
              </a:rPr>
              <a:t>PHÂN TÍCH CHI TIẾT</a:t>
            </a:r>
          </a:p>
        </p:txBody>
      </p:sp>
    </p:spTree>
  </p:cSld>
  <p:clrMapOvr>
    <a:masterClrMapping/>
  </p:clrMapOvr>
  <p:transition spd="med">
    <p:push dir="l"/>
  </p:transition>
</p:sld>
</file>

<file path=ppt/slides/slide1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91467" y="421672"/>
            <a:ext cx="13532063" cy="1210344"/>
            <a:chOff x="0" y="0"/>
            <a:chExt cx="581418" cy="52037"/>
          </a:xfrm>
        </p:grpSpPr>
        <p:sp>
          <p:nvSpPr>
            <p:cNvPr name="Freeform 3" id="3"/>
            <p:cNvSpPr/>
            <p:nvPr/>
          </p:nvSpPr>
          <p:spPr>
            <a:xfrm flipH="false" flipV="false" rot="0">
              <a:off x="0" y="0"/>
              <a:ext cx="581418" cy="52037"/>
            </a:xfrm>
            <a:custGeom>
              <a:avLst/>
              <a:gdLst/>
              <a:ahLst/>
              <a:cxnLst/>
              <a:rect r="r" b="b" t="t" l="l"/>
              <a:pathLst>
                <a:path h="52037" w="581418">
                  <a:moveTo>
                    <a:pt x="581418" y="26019"/>
                  </a:moveTo>
                  <a:lnTo>
                    <a:pt x="581418" y="26019"/>
                  </a:lnTo>
                  <a:cubicBezTo>
                    <a:pt x="581418" y="32919"/>
                    <a:pt x="578677" y="39537"/>
                    <a:pt x="573797" y="44417"/>
                  </a:cubicBezTo>
                  <a:cubicBezTo>
                    <a:pt x="568918" y="49296"/>
                    <a:pt x="562300" y="52037"/>
                    <a:pt x="555399" y="52037"/>
                  </a:cubicBezTo>
                  <a:lnTo>
                    <a:pt x="26019" y="52037"/>
                  </a:lnTo>
                  <a:cubicBezTo>
                    <a:pt x="19118" y="52037"/>
                    <a:pt x="12500" y="49296"/>
                    <a:pt x="7621" y="44417"/>
                  </a:cubicBezTo>
                  <a:cubicBezTo>
                    <a:pt x="2741" y="39537"/>
                    <a:pt x="0" y="32919"/>
                    <a:pt x="0" y="26019"/>
                  </a:cubicBezTo>
                  <a:lnTo>
                    <a:pt x="0" y="26019"/>
                  </a:lnTo>
                  <a:cubicBezTo>
                    <a:pt x="0" y="19118"/>
                    <a:pt x="2741" y="12500"/>
                    <a:pt x="7621" y="7621"/>
                  </a:cubicBezTo>
                  <a:cubicBezTo>
                    <a:pt x="12500" y="2741"/>
                    <a:pt x="19118" y="0"/>
                    <a:pt x="26019" y="0"/>
                  </a:cubicBezTo>
                  <a:lnTo>
                    <a:pt x="555399" y="0"/>
                  </a:lnTo>
                  <a:cubicBezTo>
                    <a:pt x="569769" y="0"/>
                    <a:pt x="581418" y="11649"/>
                    <a:pt x="581418" y="26019"/>
                  </a:cubicBezTo>
                  <a:close/>
                </a:path>
              </a:pathLst>
            </a:custGeom>
            <a:solidFill>
              <a:srgbClr val="002699"/>
            </a:solidFill>
            <a:ln cap="rnd">
              <a:noFill/>
              <a:prstDash val="solid"/>
              <a:round/>
            </a:ln>
          </p:spPr>
        </p:sp>
        <p:sp>
          <p:nvSpPr>
            <p:cNvPr name="TextBox 4" id="4"/>
            <p:cNvSpPr txBox="true"/>
            <p:nvPr/>
          </p:nvSpPr>
          <p:spPr>
            <a:xfrm>
              <a:off x="0" y="-47625"/>
              <a:ext cx="581418" cy="99662"/>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1266209" y="638175"/>
            <a:ext cx="14989776" cy="771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VÍ DỤ MINH HOẠ GIẢI MÃ</a:t>
            </a:r>
          </a:p>
        </p:txBody>
      </p:sp>
      <p:graphicFrame>
        <p:nvGraphicFramePr>
          <p:cNvPr name="Table 6" id="6"/>
          <p:cNvGraphicFramePr>
            <a:graphicFrameLocks noGrp="true"/>
          </p:cNvGraphicFramePr>
          <p:nvPr/>
        </p:nvGraphicFramePr>
        <p:xfrm>
          <a:off x="673894" y="3899611"/>
          <a:ext cx="5502497" cy="3094807"/>
        </p:xfrm>
        <a:graphic>
          <a:graphicData uri="http://schemas.openxmlformats.org/drawingml/2006/table">
            <a:tbl>
              <a:tblPr/>
              <a:tblGrid>
                <a:gridCol w="2551284"/>
                <a:gridCol w="2951213"/>
              </a:tblGrid>
              <a:tr h="1066302">
                <a:tc>
                  <a:txBody>
                    <a:bodyPr anchor="t" rtlCol="false"/>
                    <a:lstStyle/>
                    <a:p>
                      <a:pPr algn="just">
                        <a:lnSpc>
                          <a:spcPts val="4199"/>
                        </a:lnSpc>
                        <a:defRPr/>
                      </a:pPr>
                      <a:r>
                        <a:rPr lang="en-US" b="true" sz="2999">
                          <a:solidFill>
                            <a:srgbClr val="FFFFFF"/>
                          </a:solidFill>
                          <a:latin typeface="Roboto Bold"/>
                          <a:ea typeface="Roboto Bold"/>
                          <a:cs typeface="Roboto Bold"/>
                          <a:sym typeface="Roboto Bold"/>
                        </a:rPr>
                        <a:t>Trường</a:t>
                      </a:r>
                      <a:endParaRPr lang="en-US" sz="1100"/>
                    </a:p>
                  </a:txBody>
                  <a:tcPr marL="190500" marR="190500" marT="190500" marB="190500" anchor="ctr">
                    <a:lnL cmpd="sng" algn="ctr" cap="flat" w="28575">
                      <a:solidFill>
                        <a:srgbClr val="EFEFEF"/>
                      </a:solidFill>
                      <a:prstDash val="solid"/>
                      <a:round/>
                      <a:headEnd type="none" w="med" len="med"/>
                      <a:tailEnd type="none" w="med" len="med"/>
                    </a:lnL>
                    <a:lnR cmpd="sng" algn="ctr" cap="flat" w="28575">
                      <a:solidFill>
                        <a:srgbClr val="EFEFEF"/>
                      </a:solidFill>
                      <a:prstDash val="solid"/>
                      <a:round/>
                      <a:headEnd type="none" w="med" len="med"/>
                      <a:tailEnd type="none" w="med" len="med"/>
                    </a:lnR>
                    <a:lnT cmpd="sng" algn="ctr" cap="flat" w="28575">
                      <a:solidFill>
                        <a:srgbClr val="EFEFEF"/>
                      </a:solidFill>
                      <a:prstDash val="solid"/>
                      <a:round/>
                      <a:headEnd type="none" w="med" len="med"/>
                      <a:tailEnd type="none" w="med" len="med"/>
                    </a:lnT>
                    <a:lnB cmpd="sng" algn="ctr" cap="flat" w="28575">
                      <a:solidFill>
                        <a:srgbClr val="EFEFEF"/>
                      </a:solidFill>
                      <a:prstDash val="solid"/>
                      <a:round/>
                      <a:headEnd type="none" w="med" len="med"/>
                      <a:tailEnd type="none" w="med" len="med"/>
                    </a:lnB>
                    <a:solidFill>
                      <a:srgbClr val="1B4290"/>
                    </a:solidFill>
                  </a:tcPr>
                </a:tc>
                <a:tc>
                  <a:txBody>
                    <a:bodyPr anchor="t" rtlCol="false"/>
                    <a:lstStyle/>
                    <a:p>
                      <a:pPr algn="just">
                        <a:lnSpc>
                          <a:spcPts val="4199"/>
                        </a:lnSpc>
                        <a:defRPr/>
                      </a:pPr>
                      <a:r>
                        <a:rPr lang="en-US" b="true" sz="2999">
                          <a:solidFill>
                            <a:srgbClr val="FFFFFF"/>
                          </a:solidFill>
                          <a:latin typeface="Roboto Bold"/>
                          <a:ea typeface="Roboto Bold"/>
                          <a:cs typeface="Roboto Bold"/>
                          <a:sym typeface="Roboto Bold"/>
                        </a:rPr>
                        <a:t>Giá trị (Hex)</a:t>
                      </a:r>
                      <a:endParaRPr lang="en-US" sz="1100"/>
                    </a:p>
                  </a:txBody>
                  <a:tcPr marL="190500" marR="190500" marT="190500" marB="190500" anchor="ctr">
                    <a:lnL cmpd="sng" algn="ctr" cap="flat" w="28575">
                      <a:solidFill>
                        <a:srgbClr val="EFEFEF"/>
                      </a:solidFill>
                      <a:prstDash val="solid"/>
                      <a:round/>
                      <a:headEnd type="none" w="med" len="med"/>
                      <a:tailEnd type="none" w="med" len="med"/>
                    </a:lnL>
                    <a:lnR cmpd="sng" algn="ctr" cap="flat" w="28575">
                      <a:solidFill>
                        <a:srgbClr val="EFEFEF"/>
                      </a:solidFill>
                      <a:prstDash val="solid"/>
                      <a:round/>
                      <a:headEnd type="none" w="med" len="med"/>
                      <a:tailEnd type="none" w="med" len="med"/>
                    </a:lnR>
                    <a:lnT cmpd="sng" algn="ctr" cap="flat" w="28575">
                      <a:solidFill>
                        <a:srgbClr val="EFEFEF"/>
                      </a:solidFill>
                      <a:prstDash val="solid"/>
                      <a:round/>
                      <a:headEnd type="none" w="med" len="med"/>
                      <a:tailEnd type="none" w="med" len="med"/>
                    </a:lnT>
                    <a:lnB cmpd="sng" algn="ctr" cap="flat" w="28575">
                      <a:solidFill>
                        <a:srgbClr val="EFEFEF"/>
                      </a:solidFill>
                      <a:prstDash val="solid"/>
                      <a:round/>
                      <a:headEnd type="none" w="med" len="med"/>
                      <a:tailEnd type="none" w="med" len="med"/>
                    </a:lnB>
                    <a:solidFill>
                      <a:srgbClr val="1B4290"/>
                    </a:solidFill>
                  </a:tcPr>
                </a:tc>
              </a:tr>
              <a:tr h="999832">
                <a:tc>
                  <a:txBody>
                    <a:bodyPr anchor="t" rtlCol="false"/>
                    <a:lstStyle/>
                    <a:p>
                      <a:pPr algn="just">
                        <a:lnSpc>
                          <a:spcPts val="4199"/>
                        </a:lnSpc>
                        <a:defRPr/>
                      </a:pPr>
                      <a:r>
                        <a:rPr lang="en-US" sz="2999">
                          <a:solidFill>
                            <a:srgbClr val="000000"/>
                          </a:solidFill>
                          <a:latin typeface="Roboto"/>
                          <a:ea typeface="Roboto"/>
                          <a:cs typeface="Roboto"/>
                          <a:sym typeface="Roboto"/>
                        </a:rPr>
                        <a:t>Flags</a:t>
                      </a:r>
                      <a:endParaRPr lang="en-US" sz="1100"/>
                    </a:p>
                  </a:txBody>
                  <a:tcPr marL="190500" marR="190500" marT="190500" marB="190500" anchor="ctr">
                    <a:lnL cmpd="sng" algn="ctr" cap="flat" w="28575">
                      <a:solidFill>
                        <a:srgbClr val="EFEFEF"/>
                      </a:solidFill>
                      <a:prstDash val="solid"/>
                      <a:round/>
                      <a:headEnd type="none" w="med" len="med"/>
                      <a:tailEnd type="none" w="med" len="med"/>
                    </a:lnL>
                    <a:lnR cmpd="sng" algn="ctr" cap="flat" w="28575">
                      <a:solidFill>
                        <a:srgbClr val="EFEFEF"/>
                      </a:solidFill>
                      <a:prstDash val="solid"/>
                      <a:round/>
                      <a:headEnd type="none" w="med" len="med"/>
                      <a:tailEnd type="none" w="med" len="med"/>
                    </a:lnR>
                    <a:lnT cmpd="sng" algn="ctr" cap="flat" w="28575">
                      <a:solidFill>
                        <a:srgbClr val="EFEFEF"/>
                      </a:solidFill>
                      <a:prstDash val="solid"/>
                      <a:round/>
                      <a:headEnd type="none" w="med" len="med"/>
                      <a:tailEnd type="none" w="med" len="med"/>
                    </a:lnT>
                    <a:lnB cmpd="sng" algn="ctr" cap="flat" w="28575">
                      <a:solidFill>
                        <a:srgbClr val="EFEFEF"/>
                      </a:solidFill>
                      <a:prstDash val="solid"/>
                      <a:round/>
                      <a:headEnd type="none" w="med" len="med"/>
                      <a:tailEnd type="none" w="med" len="med"/>
                    </a:lnB>
                  </a:tcPr>
                </a:tc>
                <a:tc>
                  <a:txBody>
                    <a:bodyPr anchor="t" rtlCol="false"/>
                    <a:lstStyle/>
                    <a:p>
                      <a:pPr algn="just">
                        <a:lnSpc>
                          <a:spcPts val="4199"/>
                        </a:lnSpc>
                        <a:defRPr/>
                      </a:pPr>
                      <a:r>
                        <a:rPr lang="en-US" sz="2999">
                          <a:solidFill>
                            <a:srgbClr val="000000"/>
                          </a:solidFill>
                          <a:latin typeface="Roboto"/>
                          <a:ea typeface="Roboto"/>
                          <a:cs typeface="Roboto"/>
                          <a:sym typeface="Roboto"/>
                        </a:rPr>
                        <a:t>0x00</a:t>
                      </a:r>
                      <a:endParaRPr lang="en-US" sz="1100"/>
                    </a:p>
                  </a:txBody>
                  <a:tcPr marL="190500" marR="190500" marT="190500" marB="190500" anchor="ctr">
                    <a:lnL cmpd="sng" algn="ctr" cap="flat" w="28575">
                      <a:solidFill>
                        <a:srgbClr val="EFEFEF"/>
                      </a:solidFill>
                      <a:prstDash val="solid"/>
                      <a:round/>
                      <a:headEnd type="none" w="med" len="med"/>
                      <a:tailEnd type="none" w="med" len="med"/>
                    </a:lnL>
                    <a:lnR cmpd="sng" algn="ctr" cap="flat" w="28575">
                      <a:solidFill>
                        <a:srgbClr val="EFEFEF"/>
                      </a:solidFill>
                      <a:prstDash val="solid"/>
                      <a:round/>
                      <a:headEnd type="none" w="med" len="med"/>
                      <a:tailEnd type="none" w="med" len="med"/>
                    </a:lnR>
                    <a:lnT cmpd="sng" algn="ctr" cap="flat" w="28575">
                      <a:solidFill>
                        <a:srgbClr val="EFEFEF"/>
                      </a:solidFill>
                      <a:prstDash val="solid"/>
                      <a:round/>
                      <a:headEnd type="none" w="med" len="med"/>
                      <a:tailEnd type="none" w="med" len="med"/>
                    </a:lnT>
                    <a:lnB cmpd="sng" algn="ctr" cap="flat" w="28575">
                      <a:solidFill>
                        <a:srgbClr val="EFEFEF"/>
                      </a:solidFill>
                      <a:prstDash val="solid"/>
                      <a:round/>
                      <a:headEnd type="none" w="med" len="med"/>
                      <a:tailEnd type="none" w="med" len="med"/>
                    </a:lnB>
                  </a:tcPr>
                </a:tc>
              </a:tr>
              <a:tr h="1028673">
                <a:tc>
                  <a:txBody>
                    <a:bodyPr anchor="t" rtlCol="false"/>
                    <a:lstStyle/>
                    <a:p>
                      <a:pPr algn="just">
                        <a:lnSpc>
                          <a:spcPts val="4199"/>
                        </a:lnSpc>
                        <a:defRPr/>
                      </a:pPr>
                      <a:r>
                        <a:rPr lang="en-US" sz="2999">
                          <a:solidFill>
                            <a:srgbClr val="000000"/>
                          </a:solidFill>
                          <a:latin typeface="Roboto"/>
                          <a:ea typeface="Roboto"/>
                          <a:cs typeface="Roboto"/>
                          <a:sym typeface="Roboto"/>
                        </a:rPr>
                        <a:t>Weight</a:t>
                      </a:r>
                      <a:endParaRPr lang="en-US" sz="1100"/>
                    </a:p>
                  </a:txBody>
                  <a:tcPr marL="190500" marR="190500" marT="190500" marB="190500" anchor="ctr">
                    <a:lnL cmpd="sng" algn="ctr" cap="flat" w="28575">
                      <a:solidFill>
                        <a:srgbClr val="EFEFEF"/>
                      </a:solidFill>
                      <a:prstDash val="solid"/>
                      <a:round/>
                      <a:headEnd type="none" w="med" len="med"/>
                      <a:tailEnd type="none" w="med" len="med"/>
                    </a:lnL>
                    <a:lnR cmpd="sng" algn="ctr" cap="flat" w="28575">
                      <a:solidFill>
                        <a:srgbClr val="EFEFEF"/>
                      </a:solidFill>
                      <a:prstDash val="solid"/>
                      <a:round/>
                      <a:headEnd type="none" w="med" len="med"/>
                      <a:tailEnd type="none" w="med" len="med"/>
                    </a:lnR>
                    <a:lnT cmpd="sng" algn="ctr" cap="flat" w="28575">
                      <a:solidFill>
                        <a:srgbClr val="EFEFEF"/>
                      </a:solidFill>
                      <a:prstDash val="solid"/>
                      <a:round/>
                      <a:headEnd type="none" w="med" len="med"/>
                      <a:tailEnd type="none" w="med" len="med"/>
                    </a:lnT>
                    <a:lnB cmpd="sng" algn="ctr" cap="flat" w="28575">
                      <a:solidFill>
                        <a:srgbClr val="EFEFEF"/>
                      </a:solidFill>
                      <a:prstDash val="solid"/>
                      <a:round/>
                      <a:headEnd type="none" w="med" len="med"/>
                      <a:tailEnd type="none" w="med" len="med"/>
                    </a:lnB>
                  </a:tcPr>
                </a:tc>
                <a:tc>
                  <a:txBody>
                    <a:bodyPr anchor="t" rtlCol="false"/>
                    <a:lstStyle/>
                    <a:p>
                      <a:pPr algn="just">
                        <a:lnSpc>
                          <a:spcPts val="4199"/>
                        </a:lnSpc>
                        <a:defRPr/>
                      </a:pPr>
                      <a:r>
                        <a:rPr lang="en-US" sz="2999">
                          <a:solidFill>
                            <a:srgbClr val="000000"/>
                          </a:solidFill>
                          <a:latin typeface="Roboto"/>
                          <a:ea typeface="Roboto"/>
                          <a:cs typeface="Roboto"/>
                          <a:sym typeface="Roboto"/>
                        </a:rPr>
                        <a:t>0x0FA0</a:t>
                      </a:r>
                      <a:endParaRPr lang="en-US" sz="1100"/>
                    </a:p>
                  </a:txBody>
                  <a:tcPr marL="190500" marR="190500" marT="190500" marB="190500" anchor="ctr">
                    <a:lnL cmpd="sng" algn="ctr" cap="flat" w="28575">
                      <a:solidFill>
                        <a:srgbClr val="EFEFEF"/>
                      </a:solidFill>
                      <a:prstDash val="solid"/>
                      <a:round/>
                      <a:headEnd type="none" w="med" len="med"/>
                      <a:tailEnd type="none" w="med" len="med"/>
                    </a:lnL>
                    <a:lnR cmpd="sng" algn="ctr" cap="flat" w="28575">
                      <a:solidFill>
                        <a:srgbClr val="EFEFEF"/>
                      </a:solidFill>
                      <a:prstDash val="solid"/>
                      <a:round/>
                      <a:headEnd type="none" w="med" len="med"/>
                      <a:tailEnd type="none" w="med" len="med"/>
                    </a:lnR>
                    <a:lnT cmpd="sng" algn="ctr" cap="flat" w="28575">
                      <a:solidFill>
                        <a:srgbClr val="EFEFEF"/>
                      </a:solidFill>
                      <a:prstDash val="solid"/>
                      <a:round/>
                      <a:headEnd type="none" w="med" len="med"/>
                      <a:tailEnd type="none" w="med" len="med"/>
                    </a:lnT>
                    <a:lnB cmpd="sng" algn="ctr" cap="flat" w="28575">
                      <a:solidFill>
                        <a:srgbClr val="EFEFEF"/>
                      </a:solidFill>
                      <a:prstDash val="solid"/>
                      <a:round/>
                      <a:headEnd type="none" w="med" len="med"/>
                      <a:tailEnd type="none" w="med" len="med"/>
                    </a:lnB>
                  </a:tcPr>
                </a:tc>
              </a:tr>
            </a:tbl>
          </a:graphicData>
        </a:graphic>
      </p:graphicFrame>
      <p:sp>
        <p:nvSpPr>
          <p:cNvPr name="TextBox 7" id="7"/>
          <p:cNvSpPr txBox="true"/>
          <p:nvPr/>
        </p:nvSpPr>
        <p:spPr>
          <a:xfrm rot="0">
            <a:off x="15838587" y="9210675"/>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11 of 37</a:t>
            </a:r>
          </a:p>
        </p:txBody>
      </p:sp>
      <p:sp>
        <p:nvSpPr>
          <p:cNvPr name="TextBox 8" id="8"/>
          <p:cNvSpPr txBox="true"/>
          <p:nvPr/>
        </p:nvSpPr>
        <p:spPr>
          <a:xfrm rot="0">
            <a:off x="6732546" y="3880561"/>
            <a:ext cx="10881560" cy="2762250"/>
          </a:xfrm>
          <a:prstGeom prst="rect">
            <a:avLst/>
          </a:prstGeom>
        </p:spPr>
        <p:txBody>
          <a:bodyPr anchor="t" rtlCol="false" tIns="0" lIns="0" bIns="0" rIns="0">
            <a:spAutoFit/>
          </a:bodyPr>
          <a:lstStyle/>
          <a:p>
            <a:pPr algn="l">
              <a:lnSpc>
                <a:spcPts val="3600"/>
              </a:lnSpc>
            </a:pPr>
            <a:r>
              <a:rPr lang="en-US" sz="3000" spc="459" b="true">
                <a:solidFill>
                  <a:srgbClr val="1B4290"/>
                </a:solidFill>
                <a:latin typeface="Roboto Bold"/>
                <a:ea typeface="Roboto Bold"/>
                <a:cs typeface="Roboto Bold"/>
                <a:sym typeface="Roboto Bold"/>
              </a:rPr>
              <a:t>Flags = </a:t>
            </a:r>
            <a:r>
              <a:rPr lang="en-US" b="true" sz="3000" spc="459">
                <a:solidFill>
                  <a:srgbClr val="000000"/>
                </a:solidFill>
                <a:latin typeface="Roboto Bold"/>
                <a:ea typeface="Roboto Bold"/>
                <a:cs typeface="Roboto Bold"/>
                <a:sym typeface="Roboto Bold"/>
              </a:rPr>
              <a:t>0x00:</a:t>
            </a:r>
          </a:p>
          <a:p>
            <a:pPr algn="l">
              <a:lnSpc>
                <a:spcPts val="3600"/>
              </a:lnSpc>
            </a:pPr>
            <a:r>
              <a:rPr lang="en-US" sz="3000" spc="459">
                <a:solidFill>
                  <a:srgbClr val="000000"/>
                </a:solidFill>
                <a:latin typeface="Roboto"/>
                <a:ea typeface="Roboto"/>
                <a:cs typeface="Roboto"/>
                <a:sym typeface="Roboto"/>
              </a:rPr>
              <a:t>Dùng đơn vị SI</a:t>
            </a:r>
          </a:p>
          <a:p>
            <a:pPr algn="l">
              <a:lnSpc>
                <a:spcPts val="3600"/>
              </a:lnSpc>
            </a:pPr>
            <a:r>
              <a:rPr lang="en-US" b="true" sz="3000" spc="459">
                <a:solidFill>
                  <a:srgbClr val="1B4290"/>
                </a:solidFill>
                <a:latin typeface="Roboto Bold"/>
                <a:ea typeface="Roboto Bold"/>
                <a:cs typeface="Roboto Bold"/>
                <a:sym typeface="Roboto Bold"/>
              </a:rPr>
              <a:t>Weight = </a:t>
            </a:r>
            <a:r>
              <a:rPr lang="en-US" b="true" sz="3000" spc="459">
                <a:solidFill>
                  <a:srgbClr val="000000"/>
                </a:solidFill>
                <a:latin typeface="Roboto Bold"/>
                <a:ea typeface="Roboto Bold"/>
                <a:cs typeface="Roboto Bold"/>
                <a:sym typeface="Roboto Bold"/>
              </a:rPr>
              <a:t>0x0FA0: </a:t>
            </a:r>
          </a:p>
          <a:p>
            <a:pPr algn="l">
              <a:lnSpc>
                <a:spcPts val="3600"/>
              </a:lnSpc>
            </a:pPr>
            <a:r>
              <a:rPr lang="en-US" sz="3000" spc="459">
                <a:solidFill>
                  <a:srgbClr val="000000"/>
                </a:solidFill>
                <a:latin typeface="Roboto"/>
                <a:ea typeface="Roboto"/>
                <a:cs typeface="Roboto"/>
                <a:sym typeface="Roboto"/>
              </a:rPr>
              <a:t>Chuyển từ Hex (Big-Endian) sang Decimal: 4000.</a:t>
            </a:r>
          </a:p>
          <a:p>
            <a:pPr algn="l">
              <a:lnSpc>
                <a:spcPts val="3600"/>
              </a:lnSpc>
            </a:pPr>
            <a:r>
              <a:rPr lang="en-US" sz="3000" spc="459" b="true">
                <a:solidFill>
                  <a:srgbClr val="1B4290"/>
                </a:solidFill>
                <a:latin typeface="Roboto Bold"/>
                <a:ea typeface="Roboto Bold"/>
                <a:cs typeface="Roboto Bold"/>
                <a:sym typeface="Roboto Bold"/>
              </a:rPr>
              <a:t>Tính toán:</a:t>
            </a:r>
          </a:p>
          <a:p>
            <a:pPr algn="l">
              <a:lnSpc>
                <a:spcPts val="3600"/>
              </a:lnSpc>
            </a:pPr>
            <a:r>
              <a:rPr lang="en-US" sz="3000" spc="461">
                <a:solidFill>
                  <a:srgbClr val="000000"/>
                </a:solidFill>
                <a:latin typeface="Roboto"/>
                <a:ea typeface="Roboto"/>
                <a:cs typeface="Roboto"/>
                <a:sym typeface="Roboto"/>
              </a:rPr>
              <a:t>4000 x 0.005 = 20kg</a:t>
            </a:r>
          </a:p>
        </p:txBody>
      </p:sp>
      <p:sp>
        <p:nvSpPr>
          <p:cNvPr name="AutoShape 9" id="9"/>
          <p:cNvSpPr/>
          <p:nvPr/>
        </p:nvSpPr>
        <p:spPr>
          <a:xfrm>
            <a:off x="1746361" y="3603927"/>
            <a:ext cx="3357562" cy="0"/>
          </a:xfrm>
          <a:prstGeom prst="line">
            <a:avLst/>
          </a:prstGeom>
          <a:ln cap="flat" w="38100">
            <a:solidFill>
              <a:srgbClr val="1B4290"/>
            </a:solidFill>
            <a:prstDash val="solid"/>
            <a:headEnd type="none" len="sm" w="sm"/>
            <a:tailEnd type="none" len="sm" w="sm"/>
          </a:ln>
        </p:spPr>
      </p:sp>
      <p:sp>
        <p:nvSpPr>
          <p:cNvPr name="TextBox 10" id="10"/>
          <p:cNvSpPr txBox="true"/>
          <p:nvPr/>
        </p:nvSpPr>
        <p:spPr>
          <a:xfrm rot="0">
            <a:off x="1444244" y="2968685"/>
            <a:ext cx="3961797" cy="537210"/>
          </a:xfrm>
          <a:prstGeom prst="rect">
            <a:avLst/>
          </a:prstGeom>
        </p:spPr>
        <p:txBody>
          <a:bodyPr anchor="t" rtlCol="false" tIns="0" lIns="0" bIns="0" rIns="0">
            <a:spAutoFit/>
          </a:bodyPr>
          <a:lstStyle/>
          <a:p>
            <a:pPr algn="ctr">
              <a:lnSpc>
                <a:spcPts val="4320"/>
              </a:lnSpc>
              <a:spcBef>
                <a:spcPct val="0"/>
              </a:spcBef>
            </a:pPr>
            <a:r>
              <a:rPr lang="en-US" b="true" sz="3000">
                <a:solidFill>
                  <a:srgbClr val="1B4290"/>
                </a:solidFill>
                <a:latin typeface="Roboto Bold"/>
                <a:ea typeface="Roboto Bold"/>
                <a:cs typeface="Roboto Bold"/>
                <a:sym typeface="Roboto Bold"/>
              </a:rPr>
              <a:t>GIÁ TRỊ GÓI TIN (HEX)</a:t>
            </a:r>
          </a:p>
        </p:txBody>
      </p:sp>
      <p:sp>
        <p:nvSpPr>
          <p:cNvPr name="AutoShape 11" id="11"/>
          <p:cNvSpPr/>
          <p:nvPr/>
        </p:nvSpPr>
        <p:spPr>
          <a:xfrm>
            <a:off x="10494545" y="3622977"/>
            <a:ext cx="3357562" cy="0"/>
          </a:xfrm>
          <a:prstGeom prst="line">
            <a:avLst/>
          </a:prstGeom>
          <a:ln cap="flat" w="38100">
            <a:solidFill>
              <a:srgbClr val="1B4290"/>
            </a:solidFill>
            <a:prstDash val="solid"/>
            <a:headEnd type="none" len="sm" w="sm"/>
            <a:tailEnd type="none" len="sm" w="sm"/>
          </a:ln>
        </p:spPr>
      </p:sp>
      <p:sp>
        <p:nvSpPr>
          <p:cNvPr name="TextBox 12" id="12"/>
          <p:cNvSpPr txBox="true"/>
          <p:nvPr/>
        </p:nvSpPr>
        <p:spPr>
          <a:xfrm rot="0">
            <a:off x="10396357" y="2968685"/>
            <a:ext cx="3553939" cy="537210"/>
          </a:xfrm>
          <a:prstGeom prst="rect">
            <a:avLst/>
          </a:prstGeom>
        </p:spPr>
        <p:txBody>
          <a:bodyPr anchor="t" rtlCol="false" tIns="0" lIns="0" bIns="0" rIns="0">
            <a:spAutoFit/>
          </a:bodyPr>
          <a:lstStyle/>
          <a:p>
            <a:pPr algn="ctr">
              <a:lnSpc>
                <a:spcPts val="4320"/>
              </a:lnSpc>
              <a:spcBef>
                <a:spcPct val="0"/>
              </a:spcBef>
            </a:pPr>
            <a:r>
              <a:rPr lang="en-US" b="true" sz="3000">
                <a:solidFill>
                  <a:srgbClr val="1B4290"/>
                </a:solidFill>
                <a:latin typeface="Roboto Bold"/>
                <a:ea typeface="Roboto Bold"/>
                <a:cs typeface="Roboto Bold"/>
                <a:sym typeface="Roboto Bold"/>
              </a:rPr>
              <a:t>QUÁ TRÌNH GIẢI MÃ</a:t>
            </a:r>
          </a:p>
        </p:txBody>
      </p:sp>
    </p:spTree>
  </p:cSld>
  <p:clrMapOvr>
    <a:masterClrMapping/>
  </p:clrMapOvr>
  <p:transition spd="med">
    <p:push dir="l"/>
  </p:transition>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91467" y="421672"/>
            <a:ext cx="16087852" cy="1192380"/>
            <a:chOff x="0" y="0"/>
            <a:chExt cx="691230" cy="51265"/>
          </a:xfrm>
        </p:grpSpPr>
        <p:sp>
          <p:nvSpPr>
            <p:cNvPr name="Freeform 3" id="3"/>
            <p:cNvSpPr/>
            <p:nvPr/>
          </p:nvSpPr>
          <p:spPr>
            <a:xfrm flipH="false" flipV="false" rot="0">
              <a:off x="0" y="0"/>
              <a:ext cx="691230" cy="51265"/>
            </a:xfrm>
            <a:custGeom>
              <a:avLst/>
              <a:gdLst/>
              <a:ahLst/>
              <a:cxnLst/>
              <a:rect r="r" b="b" t="t" l="l"/>
              <a:pathLst>
                <a:path h="51265" w="691230">
                  <a:moveTo>
                    <a:pt x="691230" y="25632"/>
                  </a:moveTo>
                  <a:lnTo>
                    <a:pt x="691230" y="25632"/>
                  </a:lnTo>
                  <a:cubicBezTo>
                    <a:pt x="691230" y="32431"/>
                    <a:pt x="688529" y="38950"/>
                    <a:pt x="683722" y="43757"/>
                  </a:cubicBezTo>
                  <a:cubicBezTo>
                    <a:pt x="678915" y="48564"/>
                    <a:pt x="672396" y="51265"/>
                    <a:pt x="665597" y="51265"/>
                  </a:cubicBezTo>
                  <a:lnTo>
                    <a:pt x="25632" y="51265"/>
                  </a:lnTo>
                  <a:cubicBezTo>
                    <a:pt x="18834" y="51265"/>
                    <a:pt x="12315" y="48564"/>
                    <a:pt x="7508" y="43757"/>
                  </a:cubicBezTo>
                  <a:cubicBezTo>
                    <a:pt x="2701" y="38950"/>
                    <a:pt x="0" y="32431"/>
                    <a:pt x="0" y="25632"/>
                  </a:cubicBezTo>
                  <a:lnTo>
                    <a:pt x="0" y="25632"/>
                  </a:lnTo>
                  <a:cubicBezTo>
                    <a:pt x="0" y="18834"/>
                    <a:pt x="2701" y="12315"/>
                    <a:pt x="7508" y="7508"/>
                  </a:cubicBezTo>
                  <a:cubicBezTo>
                    <a:pt x="12315" y="2701"/>
                    <a:pt x="18834" y="0"/>
                    <a:pt x="25632" y="0"/>
                  </a:cubicBezTo>
                  <a:lnTo>
                    <a:pt x="665597" y="0"/>
                  </a:lnTo>
                  <a:cubicBezTo>
                    <a:pt x="679754" y="0"/>
                    <a:pt x="691230" y="11476"/>
                    <a:pt x="691230" y="25632"/>
                  </a:cubicBezTo>
                  <a:close/>
                </a:path>
              </a:pathLst>
            </a:custGeom>
            <a:solidFill>
              <a:srgbClr val="002699"/>
            </a:solidFill>
            <a:ln cap="rnd">
              <a:noFill/>
              <a:prstDash val="solid"/>
              <a:round/>
            </a:ln>
          </p:spPr>
        </p:sp>
        <p:sp>
          <p:nvSpPr>
            <p:cNvPr name="TextBox 4" id="4"/>
            <p:cNvSpPr txBox="true"/>
            <p:nvPr/>
          </p:nvSpPr>
          <p:spPr>
            <a:xfrm>
              <a:off x="0" y="-47625"/>
              <a:ext cx="691230" cy="98890"/>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849631" y="638175"/>
            <a:ext cx="13012242" cy="771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3.2 GIỚI THIỆU</a:t>
            </a:r>
            <a:r>
              <a:rPr lang="en-US" b="true" sz="5000" spc="769">
                <a:solidFill>
                  <a:srgbClr val="FFFFFF"/>
                </a:solidFill>
                <a:latin typeface="Roboto Bold"/>
                <a:ea typeface="Roboto Bold"/>
                <a:cs typeface="Roboto Bold"/>
                <a:sym typeface="Roboto Bold"/>
              </a:rPr>
              <a:t> MQTT [MQTT2025]</a:t>
            </a:r>
          </a:p>
        </p:txBody>
      </p:sp>
      <p:sp>
        <p:nvSpPr>
          <p:cNvPr name="Freeform 6" id="6"/>
          <p:cNvSpPr/>
          <p:nvPr/>
        </p:nvSpPr>
        <p:spPr>
          <a:xfrm flipH="false" flipV="false" rot="0">
            <a:off x="11816698" y="6594707"/>
            <a:ext cx="4759374" cy="2665250"/>
          </a:xfrm>
          <a:custGeom>
            <a:avLst/>
            <a:gdLst/>
            <a:ahLst/>
            <a:cxnLst/>
            <a:rect r="r" b="b" t="t" l="l"/>
            <a:pathLst>
              <a:path h="2665250" w="4759374">
                <a:moveTo>
                  <a:pt x="0" y="0"/>
                </a:moveTo>
                <a:lnTo>
                  <a:pt x="4759374" y="0"/>
                </a:lnTo>
                <a:lnTo>
                  <a:pt x="4759374" y="2665250"/>
                </a:lnTo>
                <a:lnTo>
                  <a:pt x="0" y="2665250"/>
                </a:lnTo>
                <a:lnTo>
                  <a:pt x="0" y="0"/>
                </a:lnTo>
                <a:close/>
              </a:path>
            </a:pathLst>
          </a:custGeom>
          <a:blipFill>
            <a:blip r:embed="rId2"/>
            <a:stretch>
              <a:fillRect l="0" t="0" r="0" b="0"/>
            </a:stretch>
          </a:blipFill>
        </p:spPr>
      </p:sp>
      <p:sp>
        <p:nvSpPr>
          <p:cNvPr name="TextBox 7" id="7"/>
          <p:cNvSpPr txBox="true"/>
          <p:nvPr/>
        </p:nvSpPr>
        <p:spPr>
          <a:xfrm rot="0">
            <a:off x="15665946" y="9210675"/>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12 of 37</a:t>
            </a:r>
          </a:p>
        </p:txBody>
      </p:sp>
      <p:sp>
        <p:nvSpPr>
          <p:cNvPr name="TextBox 8" id="8"/>
          <p:cNvSpPr txBox="true"/>
          <p:nvPr/>
        </p:nvSpPr>
        <p:spPr>
          <a:xfrm rot="0">
            <a:off x="1028700" y="9283700"/>
            <a:ext cx="11993910" cy="276225"/>
          </a:xfrm>
          <a:prstGeom prst="rect">
            <a:avLst/>
          </a:prstGeom>
        </p:spPr>
        <p:txBody>
          <a:bodyPr anchor="t" rtlCol="false" tIns="0" lIns="0" bIns="0" rIns="0">
            <a:spAutoFit/>
          </a:bodyPr>
          <a:lstStyle/>
          <a:p>
            <a:pPr algn="ctr">
              <a:lnSpc>
                <a:spcPts val="2160"/>
              </a:lnSpc>
              <a:spcBef>
                <a:spcPct val="0"/>
              </a:spcBef>
            </a:pPr>
            <a:r>
              <a:rPr lang="en-US" sz="1800" spc="276">
                <a:solidFill>
                  <a:srgbClr val="000000"/>
                </a:solidFill>
                <a:latin typeface="Roboto"/>
                <a:ea typeface="Roboto"/>
                <a:cs typeface="Roboto"/>
                <a:sym typeface="Roboto"/>
              </a:rPr>
              <a:t>[MQTT2025]</a:t>
            </a:r>
            <a:r>
              <a:rPr lang="en-US" sz="1800" spc="276">
                <a:solidFill>
                  <a:srgbClr val="000000"/>
                </a:solidFill>
                <a:latin typeface="Roboto"/>
                <a:ea typeface="Roboto"/>
                <a:cs typeface="Roboto"/>
                <a:sym typeface="Roboto"/>
              </a:rPr>
              <a:t> EMQX Team (2025). Mastering mqtt: The ultimate beginner’s guide for 2025.</a:t>
            </a:r>
          </a:p>
        </p:txBody>
      </p:sp>
      <p:sp>
        <p:nvSpPr>
          <p:cNvPr name="TextBox 9" id="9"/>
          <p:cNvSpPr txBox="true"/>
          <p:nvPr/>
        </p:nvSpPr>
        <p:spPr>
          <a:xfrm rot="0">
            <a:off x="1028700" y="3589639"/>
            <a:ext cx="7133419" cy="3714750"/>
          </a:xfrm>
          <a:prstGeom prst="rect">
            <a:avLst/>
          </a:prstGeom>
        </p:spPr>
        <p:txBody>
          <a:bodyPr anchor="t" rtlCol="false" tIns="0" lIns="0" bIns="0" rIns="0">
            <a:spAutoFit/>
          </a:bodyPr>
          <a:lstStyle/>
          <a:p>
            <a:pPr algn="l">
              <a:lnSpc>
                <a:spcPts val="2999"/>
              </a:lnSpc>
              <a:spcBef>
                <a:spcPct val="0"/>
              </a:spcBef>
            </a:pPr>
            <a:r>
              <a:rPr lang="en-US" b="true" sz="2499" spc="382">
                <a:solidFill>
                  <a:srgbClr val="1B4290"/>
                </a:solidFill>
                <a:latin typeface="Roboto Bold"/>
                <a:ea typeface="Roboto Bold"/>
                <a:cs typeface="Roboto Bold"/>
                <a:sym typeface="Roboto Bold"/>
              </a:rPr>
              <a:t>MQTT (Message Queuing Telemetry Transport)</a:t>
            </a:r>
            <a:r>
              <a:rPr lang="en-US" sz="2499" spc="382">
                <a:solidFill>
                  <a:srgbClr val="000000"/>
                </a:solidFill>
                <a:latin typeface="Roboto"/>
                <a:ea typeface="Roboto"/>
                <a:cs typeface="Roboto"/>
                <a:sym typeface="Roboto"/>
              </a:rPr>
              <a:t> là giao thức nhẹ, dùng để gửi và nhận thông điệp.</a:t>
            </a:r>
          </a:p>
          <a:p>
            <a:pPr algn="l">
              <a:lnSpc>
                <a:spcPts val="2999"/>
              </a:lnSpc>
              <a:spcBef>
                <a:spcPct val="0"/>
              </a:spcBef>
            </a:pPr>
          </a:p>
          <a:p>
            <a:pPr algn="l">
              <a:lnSpc>
                <a:spcPts val="2999"/>
              </a:lnSpc>
              <a:spcBef>
                <a:spcPct val="0"/>
              </a:spcBef>
            </a:pPr>
            <a:r>
              <a:rPr lang="en-US" b="true" sz="2499" spc="384">
                <a:solidFill>
                  <a:srgbClr val="1B4290"/>
                </a:solidFill>
                <a:latin typeface="Roboto Bold"/>
                <a:ea typeface="Roboto Bold"/>
                <a:cs typeface="Roboto Bold"/>
                <a:sym typeface="Roboto Bold"/>
              </a:rPr>
              <a:t>Đặc điểm chính:</a:t>
            </a:r>
          </a:p>
          <a:p>
            <a:pPr algn="l" marL="539749" indent="-269875" lvl="1">
              <a:lnSpc>
                <a:spcPts val="2999"/>
              </a:lnSpc>
              <a:buFont typeface="Arial"/>
              <a:buChar char="•"/>
            </a:pPr>
            <a:r>
              <a:rPr lang="en-US" sz="2499" spc="384">
                <a:solidFill>
                  <a:srgbClr val="000000"/>
                </a:solidFill>
                <a:latin typeface="Roboto"/>
                <a:ea typeface="Roboto"/>
                <a:cs typeface="Roboto"/>
                <a:sym typeface="Roboto"/>
              </a:rPr>
              <a:t>Hoạt động theo mô hình </a:t>
            </a:r>
            <a:r>
              <a:rPr lang="en-US" b="true" sz="2499" spc="384">
                <a:solidFill>
                  <a:srgbClr val="1B4290"/>
                </a:solidFill>
                <a:latin typeface="Roboto Bold"/>
                <a:ea typeface="Roboto Bold"/>
                <a:cs typeface="Roboto Bold"/>
                <a:sym typeface="Roboto Bold"/>
              </a:rPr>
              <a:t>publish-subscribe.</a:t>
            </a:r>
          </a:p>
          <a:p>
            <a:pPr algn="l" marL="539749" indent="-269875" lvl="1">
              <a:lnSpc>
                <a:spcPts val="2999"/>
              </a:lnSpc>
              <a:buFont typeface="Arial"/>
              <a:buChar char="•"/>
            </a:pPr>
            <a:r>
              <a:rPr lang="en-US" sz="2499" spc="384">
                <a:solidFill>
                  <a:srgbClr val="000000"/>
                </a:solidFill>
                <a:latin typeface="Roboto"/>
                <a:ea typeface="Roboto"/>
                <a:cs typeface="Roboto"/>
                <a:sym typeface="Roboto"/>
              </a:rPr>
              <a:t>Phù hợp với các mạng có băng thông thấp hoặc độ trễ cao, thường dùng trong IoT.</a:t>
            </a:r>
          </a:p>
        </p:txBody>
      </p:sp>
      <p:sp>
        <p:nvSpPr>
          <p:cNvPr name="TextBox 10" id="10"/>
          <p:cNvSpPr txBox="true"/>
          <p:nvPr/>
        </p:nvSpPr>
        <p:spPr>
          <a:xfrm rot="0">
            <a:off x="9144000" y="3589639"/>
            <a:ext cx="8115300" cy="2971800"/>
          </a:xfrm>
          <a:prstGeom prst="rect">
            <a:avLst/>
          </a:prstGeom>
        </p:spPr>
        <p:txBody>
          <a:bodyPr anchor="t" rtlCol="false" tIns="0" lIns="0" bIns="0" rIns="0">
            <a:spAutoFit/>
          </a:bodyPr>
          <a:lstStyle/>
          <a:p>
            <a:pPr algn="l">
              <a:lnSpc>
                <a:spcPts val="2999"/>
              </a:lnSpc>
              <a:spcBef>
                <a:spcPct val="0"/>
              </a:spcBef>
            </a:pPr>
            <a:r>
              <a:rPr lang="en-US" b="true" sz="2499" spc="384">
                <a:solidFill>
                  <a:srgbClr val="1B4290"/>
                </a:solidFill>
                <a:latin typeface="Roboto Bold"/>
                <a:ea typeface="Roboto Bold"/>
                <a:cs typeface="Roboto Bold"/>
                <a:sym typeface="Roboto Bold"/>
              </a:rPr>
              <a:t>Publisher:</a:t>
            </a:r>
          </a:p>
          <a:p>
            <a:pPr algn="l">
              <a:lnSpc>
                <a:spcPts val="2999"/>
              </a:lnSpc>
              <a:spcBef>
                <a:spcPct val="0"/>
              </a:spcBef>
            </a:pPr>
            <a:r>
              <a:rPr lang="en-US" sz="2499" spc="384">
                <a:solidFill>
                  <a:srgbClr val="000000"/>
                </a:solidFill>
                <a:latin typeface="Roboto"/>
                <a:ea typeface="Roboto"/>
                <a:cs typeface="Roboto"/>
                <a:sym typeface="Roboto"/>
              </a:rPr>
              <a:t>Gửi thông điệp đến một hay nhiều topic.</a:t>
            </a:r>
          </a:p>
          <a:p>
            <a:pPr algn="l">
              <a:lnSpc>
                <a:spcPts val="2999"/>
              </a:lnSpc>
              <a:spcBef>
                <a:spcPct val="0"/>
              </a:spcBef>
            </a:pPr>
            <a:r>
              <a:rPr lang="en-US" b="true" sz="2499" spc="384">
                <a:solidFill>
                  <a:srgbClr val="1B4290"/>
                </a:solidFill>
                <a:latin typeface="Roboto Bold"/>
                <a:ea typeface="Roboto Bold"/>
                <a:cs typeface="Roboto Bold"/>
                <a:sym typeface="Roboto Bold"/>
              </a:rPr>
              <a:t>Subscriber:</a:t>
            </a:r>
          </a:p>
          <a:p>
            <a:pPr algn="l">
              <a:lnSpc>
                <a:spcPts val="2999"/>
              </a:lnSpc>
              <a:spcBef>
                <a:spcPct val="0"/>
              </a:spcBef>
            </a:pPr>
            <a:r>
              <a:rPr lang="en-US" sz="2499" spc="384">
                <a:solidFill>
                  <a:srgbClr val="000000"/>
                </a:solidFill>
                <a:latin typeface="Roboto"/>
                <a:ea typeface="Roboto"/>
                <a:cs typeface="Roboto"/>
                <a:sym typeface="Roboto"/>
              </a:rPr>
              <a:t>Đăng ký để nhận thông điệp từ các topic quan tâm.</a:t>
            </a:r>
          </a:p>
          <a:p>
            <a:pPr algn="l">
              <a:lnSpc>
                <a:spcPts val="2999"/>
              </a:lnSpc>
              <a:spcBef>
                <a:spcPct val="0"/>
              </a:spcBef>
            </a:pPr>
            <a:r>
              <a:rPr lang="en-US" b="true" sz="2499" spc="384">
                <a:solidFill>
                  <a:srgbClr val="1B4290"/>
                </a:solidFill>
                <a:latin typeface="Roboto Bold"/>
                <a:ea typeface="Roboto Bold"/>
                <a:cs typeface="Roboto Bold"/>
                <a:sym typeface="Roboto Bold"/>
              </a:rPr>
              <a:t>Broker:</a:t>
            </a:r>
          </a:p>
          <a:p>
            <a:pPr algn="l">
              <a:lnSpc>
                <a:spcPts val="2999"/>
              </a:lnSpc>
              <a:spcBef>
                <a:spcPct val="0"/>
              </a:spcBef>
            </a:pPr>
            <a:r>
              <a:rPr lang="en-US" sz="2499" spc="384">
                <a:solidFill>
                  <a:srgbClr val="000000"/>
                </a:solidFill>
                <a:latin typeface="Roboto"/>
                <a:ea typeface="Roboto"/>
                <a:cs typeface="Roboto"/>
                <a:sym typeface="Roboto"/>
              </a:rPr>
              <a:t>Là trung gian nhận thông điệp từ Publisher và chuyển đến Subscriber.</a:t>
            </a:r>
          </a:p>
        </p:txBody>
      </p:sp>
      <p:sp>
        <p:nvSpPr>
          <p:cNvPr name="AutoShape 11" id="11"/>
          <p:cNvSpPr/>
          <p:nvPr/>
        </p:nvSpPr>
        <p:spPr>
          <a:xfrm>
            <a:off x="2916628" y="3296694"/>
            <a:ext cx="3357562" cy="0"/>
          </a:xfrm>
          <a:prstGeom prst="line">
            <a:avLst/>
          </a:prstGeom>
          <a:ln cap="flat" w="38100">
            <a:solidFill>
              <a:srgbClr val="1B4290"/>
            </a:solidFill>
            <a:prstDash val="solid"/>
            <a:headEnd type="none" len="sm" w="sm"/>
            <a:tailEnd type="none" len="sm" w="sm"/>
          </a:ln>
        </p:spPr>
      </p:sp>
      <p:sp>
        <p:nvSpPr>
          <p:cNvPr name="TextBox 12" id="12"/>
          <p:cNvSpPr txBox="true"/>
          <p:nvPr/>
        </p:nvSpPr>
        <p:spPr>
          <a:xfrm rot="0">
            <a:off x="2253885" y="2741900"/>
            <a:ext cx="4683049" cy="537210"/>
          </a:xfrm>
          <a:prstGeom prst="rect">
            <a:avLst/>
          </a:prstGeom>
        </p:spPr>
        <p:txBody>
          <a:bodyPr anchor="t" rtlCol="false" tIns="0" lIns="0" bIns="0" rIns="0">
            <a:spAutoFit/>
          </a:bodyPr>
          <a:lstStyle/>
          <a:p>
            <a:pPr algn="ctr">
              <a:lnSpc>
                <a:spcPts val="4320"/>
              </a:lnSpc>
              <a:spcBef>
                <a:spcPct val="0"/>
              </a:spcBef>
            </a:pPr>
            <a:r>
              <a:rPr lang="en-US" b="true" sz="3000">
                <a:solidFill>
                  <a:srgbClr val="1B4290"/>
                </a:solidFill>
                <a:latin typeface="Roboto Bold"/>
                <a:ea typeface="Roboto Bold"/>
                <a:cs typeface="Roboto Bold"/>
                <a:sym typeface="Roboto Bold"/>
              </a:rPr>
              <a:t>ĐỊNH NGHĨA &amp; ĐẶC ĐIỂM</a:t>
            </a:r>
          </a:p>
        </p:txBody>
      </p:sp>
      <p:sp>
        <p:nvSpPr>
          <p:cNvPr name="AutoShape 13" id="13"/>
          <p:cNvSpPr/>
          <p:nvPr/>
        </p:nvSpPr>
        <p:spPr>
          <a:xfrm>
            <a:off x="11343829" y="3296694"/>
            <a:ext cx="3357562" cy="0"/>
          </a:xfrm>
          <a:prstGeom prst="line">
            <a:avLst/>
          </a:prstGeom>
          <a:ln cap="flat" w="38100">
            <a:solidFill>
              <a:srgbClr val="1B4290"/>
            </a:solidFill>
            <a:prstDash val="solid"/>
            <a:headEnd type="none" len="sm" w="sm"/>
            <a:tailEnd type="none" len="sm" w="sm"/>
          </a:ln>
        </p:spPr>
      </p:sp>
      <p:sp>
        <p:nvSpPr>
          <p:cNvPr name="TextBox 14" id="14"/>
          <p:cNvSpPr txBox="true"/>
          <p:nvPr/>
        </p:nvSpPr>
        <p:spPr>
          <a:xfrm rot="0">
            <a:off x="10175256" y="2741900"/>
            <a:ext cx="6052788" cy="537210"/>
          </a:xfrm>
          <a:prstGeom prst="rect">
            <a:avLst/>
          </a:prstGeom>
        </p:spPr>
        <p:txBody>
          <a:bodyPr anchor="t" rtlCol="false" tIns="0" lIns="0" bIns="0" rIns="0">
            <a:spAutoFit/>
          </a:bodyPr>
          <a:lstStyle/>
          <a:p>
            <a:pPr algn="ctr">
              <a:lnSpc>
                <a:spcPts val="4320"/>
              </a:lnSpc>
              <a:spcBef>
                <a:spcPct val="0"/>
              </a:spcBef>
            </a:pPr>
            <a:r>
              <a:rPr lang="en-US" b="true" sz="3000">
                <a:solidFill>
                  <a:srgbClr val="1B4290"/>
                </a:solidFill>
                <a:latin typeface="Roboto Bold"/>
                <a:ea typeface="Roboto Bold"/>
                <a:cs typeface="Roboto Bold"/>
                <a:sym typeface="Roboto Bold"/>
              </a:rPr>
              <a:t>3 THÀNH PHẦN CHÍNH CỦA MQTT</a:t>
            </a:r>
          </a:p>
        </p:txBody>
      </p:sp>
    </p:spTree>
  </p:cSld>
  <p:clrMapOvr>
    <a:masterClrMapping/>
  </p:clrMapOvr>
  <p:transition spd="med">
    <p:push dir="l"/>
  </p:transition>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91467" y="421672"/>
            <a:ext cx="17557414" cy="1203759"/>
            <a:chOff x="0" y="0"/>
            <a:chExt cx="754371" cy="51754"/>
          </a:xfrm>
        </p:grpSpPr>
        <p:sp>
          <p:nvSpPr>
            <p:cNvPr name="Freeform 3" id="3"/>
            <p:cNvSpPr/>
            <p:nvPr/>
          </p:nvSpPr>
          <p:spPr>
            <a:xfrm flipH="false" flipV="false" rot="0">
              <a:off x="0" y="0"/>
              <a:ext cx="754371" cy="51754"/>
            </a:xfrm>
            <a:custGeom>
              <a:avLst/>
              <a:gdLst/>
              <a:ahLst/>
              <a:cxnLst/>
              <a:rect r="r" b="b" t="t" l="l"/>
              <a:pathLst>
                <a:path h="51754" w="754371">
                  <a:moveTo>
                    <a:pt x="754371" y="25877"/>
                  </a:moveTo>
                  <a:lnTo>
                    <a:pt x="754371" y="25877"/>
                  </a:lnTo>
                  <a:cubicBezTo>
                    <a:pt x="754371" y="40169"/>
                    <a:pt x="742785" y="51754"/>
                    <a:pt x="728494" y="51754"/>
                  </a:cubicBezTo>
                  <a:lnTo>
                    <a:pt x="25877" y="51754"/>
                  </a:lnTo>
                  <a:cubicBezTo>
                    <a:pt x="11586" y="51754"/>
                    <a:pt x="0" y="40169"/>
                    <a:pt x="0" y="25877"/>
                  </a:cubicBezTo>
                  <a:lnTo>
                    <a:pt x="0" y="25877"/>
                  </a:lnTo>
                  <a:cubicBezTo>
                    <a:pt x="0" y="11586"/>
                    <a:pt x="11586" y="0"/>
                    <a:pt x="25877" y="0"/>
                  </a:cubicBezTo>
                  <a:lnTo>
                    <a:pt x="728494" y="0"/>
                  </a:lnTo>
                  <a:cubicBezTo>
                    <a:pt x="735357" y="0"/>
                    <a:pt x="741939" y="2726"/>
                    <a:pt x="746792" y="7579"/>
                  </a:cubicBezTo>
                  <a:cubicBezTo>
                    <a:pt x="751645" y="12432"/>
                    <a:pt x="754371" y="19014"/>
                    <a:pt x="754371" y="25877"/>
                  </a:cubicBezTo>
                  <a:close/>
                </a:path>
              </a:pathLst>
            </a:custGeom>
            <a:solidFill>
              <a:srgbClr val="002699"/>
            </a:solidFill>
            <a:ln cap="rnd">
              <a:noFill/>
              <a:prstDash val="solid"/>
              <a:round/>
            </a:ln>
          </p:spPr>
        </p:sp>
        <p:sp>
          <p:nvSpPr>
            <p:cNvPr name="TextBox 4" id="4"/>
            <p:cNvSpPr txBox="true"/>
            <p:nvPr/>
          </p:nvSpPr>
          <p:spPr>
            <a:xfrm>
              <a:off x="0" y="-47625"/>
              <a:ext cx="754371" cy="99379"/>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1039793" y="638175"/>
            <a:ext cx="13914961" cy="771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3.3 GIỚI THIỆU CORE IOT</a:t>
            </a:r>
            <a:r>
              <a:rPr lang="en-US" b="true" sz="5000" spc="769">
                <a:solidFill>
                  <a:srgbClr val="FFFFFF"/>
                </a:solidFill>
                <a:latin typeface="Roboto Bold"/>
                <a:ea typeface="Roboto Bold"/>
                <a:cs typeface="Roboto Bold"/>
                <a:sym typeface="Roboto Bold"/>
              </a:rPr>
              <a:t> [TBpf2025]</a:t>
            </a:r>
          </a:p>
        </p:txBody>
      </p:sp>
      <p:sp>
        <p:nvSpPr>
          <p:cNvPr name="Freeform 6" id="6"/>
          <p:cNvSpPr/>
          <p:nvPr/>
        </p:nvSpPr>
        <p:spPr>
          <a:xfrm flipH="false" flipV="false" rot="0">
            <a:off x="11210593" y="6867662"/>
            <a:ext cx="4447948" cy="991877"/>
          </a:xfrm>
          <a:custGeom>
            <a:avLst/>
            <a:gdLst/>
            <a:ahLst/>
            <a:cxnLst/>
            <a:rect r="r" b="b" t="t" l="l"/>
            <a:pathLst>
              <a:path h="991877" w="4447948">
                <a:moveTo>
                  <a:pt x="0" y="0"/>
                </a:moveTo>
                <a:lnTo>
                  <a:pt x="4447948" y="0"/>
                </a:lnTo>
                <a:lnTo>
                  <a:pt x="4447948" y="991877"/>
                </a:lnTo>
                <a:lnTo>
                  <a:pt x="0" y="991877"/>
                </a:lnTo>
                <a:lnTo>
                  <a:pt x="0" y="0"/>
                </a:lnTo>
                <a:close/>
              </a:path>
            </a:pathLst>
          </a:custGeom>
          <a:blipFill>
            <a:blip r:embed="rId2"/>
            <a:stretch>
              <a:fillRect l="0" t="0" r="0" b="0"/>
            </a:stretch>
          </a:blipFill>
        </p:spPr>
      </p:sp>
      <p:sp>
        <p:nvSpPr>
          <p:cNvPr name="AutoShape 7" id="7"/>
          <p:cNvSpPr/>
          <p:nvPr/>
        </p:nvSpPr>
        <p:spPr>
          <a:xfrm>
            <a:off x="2859773" y="3074058"/>
            <a:ext cx="3357563" cy="0"/>
          </a:xfrm>
          <a:prstGeom prst="line">
            <a:avLst/>
          </a:prstGeom>
          <a:ln cap="flat" w="38100">
            <a:solidFill>
              <a:srgbClr val="1B4290"/>
            </a:solidFill>
            <a:prstDash val="solid"/>
            <a:headEnd type="none" len="sm" w="sm"/>
            <a:tailEnd type="none" len="sm" w="sm"/>
          </a:ln>
        </p:spPr>
      </p:sp>
      <p:sp>
        <p:nvSpPr>
          <p:cNvPr name="TextBox 8" id="8"/>
          <p:cNvSpPr txBox="true"/>
          <p:nvPr/>
        </p:nvSpPr>
        <p:spPr>
          <a:xfrm rot="0">
            <a:off x="2145852" y="2511256"/>
            <a:ext cx="4785404" cy="537210"/>
          </a:xfrm>
          <a:prstGeom prst="rect">
            <a:avLst/>
          </a:prstGeom>
        </p:spPr>
        <p:txBody>
          <a:bodyPr anchor="t" rtlCol="false" tIns="0" lIns="0" bIns="0" rIns="0">
            <a:spAutoFit/>
          </a:bodyPr>
          <a:lstStyle/>
          <a:p>
            <a:pPr algn="ctr">
              <a:lnSpc>
                <a:spcPts val="4320"/>
              </a:lnSpc>
              <a:spcBef>
                <a:spcPct val="0"/>
              </a:spcBef>
            </a:pPr>
            <a:r>
              <a:rPr lang="en-US" b="true" sz="3000">
                <a:solidFill>
                  <a:srgbClr val="1B4290"/>
                </a:solidFill>
                <a:latin typeface="Roboto Bold"/>
                <a:ea typeface="Roboto Bold"/>
                <a:cs typeface="Roboto Bold"/>
                <a:sym typeface="Roboto Bold"/>
              </a:rPr>
              <a:t>ĐỊNH NGHĨA &amp; ĐẶC ĐIỂM</a:t>
            </a:r>
          </a:p>
        </p:txBody>
      </p:sp>
      <p:sp>
        <p:nvSpPr>
          <p:cNvPr name="AutoShape 9" id="9"/>
          <p:cNvSpPr/>
          <p:nvPr/>
        </p:nvSpPr>
        <p:spPr>
          <a:xfrm>
            <a:off x="11755786" y="3074058"/>
            <a:ext cx="3357562" cy="0"/>
          </a:xfrm>
          <a:prstGeom prst="line">
            <a:avLst/>
          </a:prstGeom>
          <a:ln cap="flat" w="38100">
            <a:solidFill>
              <a:srgbClr val="1B4290"/>
            </a:solidFill>
            <a:prstDash val="solid"/>
            <a:headEnd type="none" len="sm" w="sm"/>
            <a:tailEnd type="none" len="sm" w="sm"/>
          </a:ln>
        </p:spPr>
      </p:sp>
      <p:sp>
        <p:nvSpPr>
          <p:cNvPr name="TextBox 10" id="10"/>
          <p:cNvSpPr txBox="true"/>
          <p:nvPr/>
        </p:nvSpPr>
        <p:spPr>
          <a:xfrm rot="0">
            <a:off x="10695500" y="2511256"/>
            <a:ext cx="4654219" cy="537210"/>
          </a:xfrm>
          <a:prstGeom prst="rect">
            <a:avLst/>
          </a:prstGeom>
        </p:spPr>
        <p:txBody>
          <a:bodyPr anchor="t" rtlCol="false" tIns="0" lIns="0" bIns="0" rIns="0">
            <a:spAutoFit/>
          </a:bodyPr>
          <a:lstStyle/>
          <a:p>
            <a:pPr algn="ctr">
              <a:lnSpc>
                <a:spcPts val="4320"/>
              </a:lnSpc>
              <a:spcBef>
                <a:spcPct val="0"/>
              </a:spcBef>
            </a:pPr>
            <a:r>
              <a:rPr lang="en-US" b="true" sz="3000">
                <a:solidFill>
                  <a:srgbClr val="1B4290"/>
                </a:solidFill>
                <a:latin typeface="Roboto Bold"/>
                <a:ea typeface="Roboto Bold"/>
                <a:cs typeface="Roboto Bold"/>
                <a:sym typeface="Roboto Bold"/>
              </a:rPr>
              <a:t>CÁC TÍNH NĂNG CHÍNH</a:t>
            </a:r>
          </a:p>
        </p:txBody>
      </p:sp>
      <p:grpSp>
        <p:nvGrpSpPr>
          <p:cNvPr name="Group 11" id="11"/>
          <p:cNvGrpSpPr/>
          <p:nvPr/>
        </p:nvGrpSpPr>
        <p:grpSpPr>
          <a:xfrm rot="0">
            <a:off x="10057261" y="3283953"/>
            <a:ext cx="476954" cy="476954"/>
            <a:chOff x="0" y="0"/>
            <a:chExt cx="812800" cy="812800"/>
          </a:xfrm>
        </p:grpSpPr>
        <p:sp>
          <p:nvSpPr>
            <p:cNvPr name="Freeform 12" id="12"/>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B4290"/>
            </a:solidFill>
          </p:spPr>
        </p:sp>
        <p:sp>
          <p:nvSpPr>
            <p:cNvPr name="TextBox 13" id="13"/>
            <p:cNvSpPr txBox="true"/>
            <p:nvPr/>
          </p:nvSpPr>
          <p:spPr>
            <a:xfrm>
              <a:off x="76200" y="180975"/>
              <a:ext cx="660400" cy="555625"/>
            </a:xfrm>
            <a:prstGeom prst="rect">
              <a:avLst/>
            </a:prstGeom>
          </p:spPr>
          <p:txBody>
            <a:bodyPr anchor="ctr" rtlCol="false" tIns="25400" lIns="25400" bIns="25400" rIns="25400"/>
            <a:lstStyle/>
            <a:p>
              <a:pPr algn="ctr">
                <a:lnSpc>
                  <a:spcPts val="900"/>
                </a:lnSpc>
              </a:pPr>
              <a:r>
                <a:rPr lang="en-US" b="true" sz="1800">
                  <a:solidFill>
                    <a:srgbClr val="FFFFFF"/>
                  </a:solidFill>
                  <a:latin typeface="Roboto Bold"/>
                  <a:ea typeface="Roboto Bold"/>
                  <a:cs typeface="Roboto Bold"/>
                  <a:sym typeface="Roboto Bold"/>
                </a:rPr>
                <a:t>1</a:t>
              </a:r>
            </a:p>
          </p:txBody>
        </p:sp>
      </p:grpSp>
      <p:sp>
        <p:nvSpPr>
          <p:cNvPr name="TextBox 14" id="14"/>
          <p:cNvSpPr txBox="true"/>
          <p:nvPr/>
        </p:nvSpPr>
        <p:spPr>
          <a:xfrm rot="0">
            <a:off x="15665946" y="9210675"/>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13 of 37</a:t>
            </a:r>
          </a:p>
        </p:txBody>
      </p:sp>
      <p:sp>
        <p:nvSpPr>
          <p:cNvPr name="TextBox 15" id="15"/>
          <p:cNvSpPr txBox="true"/>
          <p:nvPr/>
        </p:nvSpPr>
        <p:spPr>
          <a:xfrm rot="0">
            <a:off x="1028700" y="9352741"/>
            <a:ext cx="11993910" cy="276225"/>
          </a:xfrm>
          <a:prstGeom prst="rect">
            <a:avLst/>
          </a:prstGeom>
        </p:spPr>
        <p:txBody>
          <a:bodyPr anchor="t" rtlCol="false" tIns="0" lIns="0" bIns="0" rIns="0">
            <a:spAutoFit/>
          </a:bodyPr>
          <a:lstStyle/>
          <a:p>
            <a:pPr algn="ctr">
              <a:lnSpc>
                <a:spcPts val="2160"/>
              </a:lnSpc>
              <a:spcBef>
                <a:spcPct val="0"/>
              </a:spcBef>
            </a:pPr>
            <a:r>
              <a:rPr lang="en-US" sz="1800" spc="276">
                <a:solidFill>
                  <a:srgbClr val="000000"/>
                </a:solidFill>
                <a:latin typeface="Roboto"/>
                <a:ea typeface="Roboto"/>
                <a:cs typeface="Roboto"/>
                <a:sym typeface="Roboto"/>
              </a:rPr>
              <a:t>[MQTT2025]</a:t>
            </a:r>
            <a:r>
              <a:rPr lang="en-US" sz="1800" spc="276">
                <a:solidFill>
                  <a:srgbClr val="000000"/>
                </a:solidFill>
                <a:latin typeface="Roboto"/>
                <a:ea typeface="Roboto"/>
                <a:cs typeface="Roboto"/>
                <a:sym typeface="Roboto"/>
              </a:rPr>
              <a:t> EMQX Team (2025). Mastering mqtt: The ultimate beginner’s guide for 2025.</a:t>
            </a:r>
          </a:p>
        </p:txBody>
      </p:sp>
      <p:sp>
        <p:nvSpPr>
          <p:cNvPr name="TextBox 16" id="16"/>
          <p:cNvSpPr txBox="true"/>
          <p:nvPr/>
        </p:nvSpPr>
        <p:spPr>
          <a:xfrm rot="0">
            <a:off x="1028700" y="3226803"/>
            <a:ext cx="7019709" cy="2667000"/>
          </a:xfrm>
          <a:prstGeom prst="rect">
            <a:avLst/>
          </a:prstGeom>
        </p:spPr>
        <p:txBody>
          <a:bodyPr anchor="t" rtlCol="false" tIns="0" lIns="0" bIns="0" rIns="0">
            <a:spAutoFit/>
          </a:bodyPr>
          <a:lstStyle/>
          <a:p>
            <a:pPr algn="l">
              <a:lnSpc>
                <a:spcPts val="3599"/>
              </a:lnSpc>
              <a:spcBef>
                <a:spcPct val="0"/>
              </a:spcBef>
            </a:pPr>
            <a:r>
              <a:rPr lang="en-US" b="true" sz="2499">
                <a:solidFill>
                  <a:srgbClr val="1B4290"/>
                </a:solidFill>
                <a:latin typeface="Roboto Bold"/>
                <a:ea typeface="Roboto Bold"/>
                <a:cs typeface="Roboto Bold"/>
                <a:sym typeface="Roboto Bold"/>
              </a:rPr>
              <a:t>Core IoT</a:t>
            </a:r>
            <a:r>
              <a:rPr lang="en-US" sz="2499">
                <a:solidFill>
                  <a:srgbClr val="000000"/>
                </a:solidFill>
                <a:latin typeface="Roboto"/>
                <a:ea typeface="Roboto"/>
                <a:cs typeface="Roboto"/>
                <a:sym typeface="Roboto"/>
              </a:rPr>
              <a:t> là nền tảng hỗ trợ kỹ sư lập trình quản lý và giám sát các thiết bị IoT.</a:t>
            </a:r>
          </a:p>
          <a:p>
            <a:pPr algn="l">
              <a:lnSpc>
                <a:spcPts val="3599"/>
              </a:lnSpc>
              <a:spcBef>
                <a:spcPct val="0"/>
              </a:spcBef>
            </a:pPr>
          </a:p>
          <a:p>
            <a:pPr algn="l">
              <a:lnSpc>
                <a:spcPts val="3599"/>
              </a:lnSpc>
              <a:spcBef>
                <a:spcPct val="0"/>
              </a:spcBef>
            </a:pPr>
            <a:r>
              <a:rPr lang="en-US" sz="2499">
                <a:solidFill>
                  <a:srgbClr val="000000"/>
                </a:solidFill>
                <a:latin typeface="Roboto"/>
                <a:ea typeface="Roboto"/>
                <a:cs typeface="Roboto"/>
                <a:sym typeface="Roboto"/>
              </a:rPr>
              <a:t>Dựa trên</a:t>
            </a:r>
            <a:r>
              <a:rPr lang="en-US" b="true" sz="2499">
                <a:solidFill>
                  <a:srgbClr val="000000"/>
                </a:solidFill>
                <a:latin typeface="Roboto Bold"/>
                <a:ea typeface="Roboto Bold"/>
                <a:cs typeface="Roboto Bold"/>
                <a:sym typeface="Roboto Bold"/>
              </a:rPr>
              <a:t> </a:t>
            </a:r>
            <a:r>
              <a:rPr lang="en-US" b="true" sz="2499">
                <a:solidFill>
                  <a:srgbClr val="1B4290"/>
                </a:solidFill>
                <a:latin typeface="Roboto Bold"/>
                <a:ea typeface="Roboto Bold"/>
                <a:cs typeface="Roboto Bold"/>
                <a:sym typeface="Roboto Bold"/>
              </a:rPr>
              <a:t>ThingsBoard</a:t>
            </a:r>
            <a:r>
              <a:rPr lang="en-US" b="true" sz="2499">
                <a:solidFill>
                  <a:srgbClr val="000000"/>
                </a:solidFill>
                <a:latin typeface="Roboto Bold"/>
                <a:ea typeface="Roboto Bold"/>
                <a:cs typeface="Roboto Bold"/>
                <a:sym typeface="Roboto Bold"/>
              </a:rPr>
              <a:t> </a:t>
            </a:r>
            <a:r>
              <a:rPr lang="en-US" sz="2499">
                <a:solidFill>
                  <a:srgbClr val="000000"/>
                </a:solidFill>
                <a:latin typeface="Roboto"/>
                <a:ea typeface="Roboto"/>
                <a:cs typeface="Roboto"/>
                <a:sym typeface="Roboto"/>
              </a:rPr>
              <a:t>– một nền tảng IoT mã nguồn mở nổi tiếng. Cho phép thu thập, xử lý, trực quan hóa dữ liệu và quản lý thiết bị.</a:t>
            </a:r>
          </a:p>
        </p:txBody>
      </p:sp>
      <p:grpSp>
        <p:nvGrpSpPr>
          <p:cNvPr name="Group 17" id="17"/>
          <p:cNvGrpSpPr/>
          <p:nvPr/>
        </p:nvGrpSpPr>
        <p:grpSpPr>
          <a:xfrm rot="0">
            <a:off x="1028700" y="6336715"/>
            <a:ext cx="7019709" cy="2194854"/>
            <a:chOff x="0" y="0"/>
            <a:chExt cx="9359612" cy="2926473"/>
          </a:xfrm>
        </p:grpSpPr>
        <p:grpSp>
          <p:nvGrpSpPr>
            <p:cNvPr name="Group 18" id="18"/>
            <p:cNvGrpSpPr/>
            <p:nvPr/>
          </p:nvGrpSpPr>
          <p:grpSpPr>
            <a:xfrm rot="0">
              <a:off x="0" y="0"/>
              <a:ext cx="9359612" cy="2926473"/>
              <a:chOff x="0" y="0"/>
              <a:chExt cx="1848812" cy="578069"/>
            </a:xfrm>
          </p:grpSpPr>
          <p:sp>
            <p:nvSpPr>
              <p:cNvPr name="Freeform 19" id="19"/>
              <p:cNvSpPr/>
              <p:nvPr/>
            </p:nvSpPr>
            <p:spPr>
              <a:xfrm flipH="false" flipV="false" rot="0">
                <a:off x="0" y="0"/>
                <a:ext cx="1848812" cy="578069"/>
              </a:xfrm>
              <a:custGeom>
                <a:avLst/>
                <a:gdLst/>
                <a:ahLst/>
                <a:cxnLst/>
                <a:rect r="r" b="b" t="t" l="l"/>
                <a:pathLst>
                  <a:path h="578069" w="1848812">
                    <a:moveTo>
                      <a:pt x="33086" y="0"/>
                    </a:moveTo>
                    <a:lnTo>
                      <a:pt x="1815726" y="0"/>
                    </a:lnTo>
                    <a:cubicBezTo>
                      <a:pt x="1824501" y="0"/>
                      <a:pt x="1832917" y="3486"/>
                      <a:pt x="1839121" y="9691"/>
                    </a:cubicBezTo>
                    <a:cubicBezTo>
                      <a:pt x="1845327" y="15896"/>
                      <a:pt x="1848812" y="24311"/>
                      <a:pt x="1848812" y="33086"/>
                    </a:cubicBezTo>
                    <a:lnTo>
                      <a:pt x="1848812" y="544982"/>
                    </a:lnTo>
                    <a:cubicBezTo>
                      <a:pt x="1848812" y="563255"/>
                      <a:pt x="1833999" y="578069"/>
                      <a:pt x="1815726" y="578069"/>
                    </a:cubicBezTo>
                    <a:lnTo>
                      <a:pt x="33086" y="578069"/>
                    </a:lnTo>
                    <a:cubicBezTo>
                      <a:pt x="14813" y="578069"/>
                      <a:pt x="0" y="563255"/>
                      <a:pt x="0" y="544982"/>
                    </a:cubicBezTo>
                    <a:lnTo>
                      <a:pt x="0" y="33086"/>
                    </a:lnTo>
                    <a:cubicBezTo>
                      <a:pt x="0" y="14813"/>
                      <a:pt x="14813" y="0"/>
                      <a:pt x="33086" y="0"/>
                    </a:cubicBezTo>
                    <a:close/>
                  </a:path>
                </a:pathLst>
              </a:custGeom>
              <a:solidFill>
                <a:srgbClr val="E4F0F4"/>
              </a:solidFill>
            </p:spPr>
          </p:sp>
          <p:sp>
            <p:nvSpPr>
              <p:cNvPr name="TextBox 20" id="20"/>
              <p:cNvSpPr txBox="true"/>
              <p:nvPr/>
            </p:nvSpPr>
            <p:spPr>
              <a:xfrm>
                <a:off x="0" y="-76200"/>
                <a:ext cx="1848812" cy="654269"/>
              </a:xfrm>
              <a:prstGeom prst="rect">
                <a:avLst/>
              </a:prstGeom>
            </p:spPr>
            <p:txBody>
              <a:bodyPr anchor="t" rtlCol="false" tIns="254000" lIns="254000" bIns="254000" rIns="254000"/>
              <a:lstStyle/>
              <a:p>
                <a:pPr algn="l">
                  <a:lnSpc>
                    <a:spcPts val="3749"/>
                  </a:lnSpc>
                </a:pPr>
                <a:r>
                  <a:rPr lang="en-US" sz="2499" b="true">
                    <a:solidFill>
                      <a:srgbClr val="1B4290"/>
                    </a:solidFill>
                    <a:latin typeface="Roboto Bold"/>
                    <a:ea typeface="Roboto Bold"/>
                    <a:cs typeface="Roboto Bold"/>
                    <a:sym typeface="Roboto Bold"/>
                  </a:rPr>
                  <a:t>Các giao thức hỗ trợ</a:t>
                </a:r>
              </a:p>
              <a:p>
                <a:pPr algn="l">
                  <a:lnSpc>
                    <a:spcPts val="3749"/>
                  </a:lnSpc>
                </a:pPr>
              </a:p>
            </p:txBody>
          </p:sp>
        </p:grpSp>
        <p:sp>
          <p:nvSpPr>
            <p:cNvPr name="TextBox 21" id="21"/>
            <p:cNvSpPr txBox="true"/>
            <p:nvPr/>
          </p:nvSpPr>
          <p:spPr>
            <a:xfrm rot="0">
              <a:off x="387288" y="1406086"/>
              <a:ext cx="1283014" cy="552450"/>
            </a:xfrm>
            <a:prstGeom prst="rect">
              <a:avLst/>
            </a:prstGeom>
          </p:spPr>
          <p:txBody>
            <a:bodyPr anchor="t" rtlCol="false" tIns="0" lIns="0" bIns="0" rIns="0">
              <a:spAutoFit/>
            </a:bodyPr>
            <a:lstStyle/>
            <a:p>
              <a:pPr algn="l">
                <a:lnSpc>
                  <a:spcPts val="3599"/>
                </a:lnSpc>
                <a:spcBef>
                  <a:spcPct val="0"/>
                </a:spcBef>
              </a:pPr>
              <a:r>
                <a:rPr lang="en-US" b="true" sz="2499">
                  <a:solidFill>
                    <a:srgbClr val="1B4290"/>
                  </a:solidFill>
                  <a:latin typeface="Roboto Bold"/>
                  <a:ea typeface="Roboto Bold"/>
                  <a:cs typeface="Roboto Bold"/>
                  <a:sym typeface="Roboto Bold"/>
                </a:rPr>
                <a:t>MQTT </a:t>
              </a:r>
            </a:p>
          </p:txBody>
        </p:sp>
        <p:sp>
          <p:nvSpPr>
            <p:cNvPr name="TextBox 22" id="22"/>
            <p:cNvSpPr txBox="true"/>
            <p:nvPr/>
          </p:nvSpPr>
          <p:spPr>
            <a:xfrm rot="0">
              <a:off x="2517436" y="1406086"/>
              <a:ext cx="1283014" cy="552450"/>
            </a:xfrm>
            <a:prstGeom prst="rect">
              <a:avLst/>
            </a:prstGeom>
          </p:spPr>
          <p:txBody>
            <a:bodyPr anchor="t" rtlCol="false" tIns="0" lIns="0" bIns="0" rIns="0">
              <a:spAutoFit/>
            </a:bodyPr>
            <a:lstStyle/>
            <a:p>
              <a:pPr algn="l">
                <a:lnSpc>
                  <a:spcPts val="3599"/>
                </a:lnSpc>
                <a:spcBef>
                  <a:spcPct val="0"/>
                </a:spcBef>
              </a:pPr>
              <a:r>
                <a:rPr lang="en-US" b="true" sz="2499">
                  <a:solidFill>
                    <a:srgbClr val="1B4290"/>
                  </a:solidFill>
                  <a:latin typeface="Roboto Bold"/>
                  <a:ea typeface="Roboto Bold"/>
                  <a:cs typeface="Roboto Bold"/>
                  <a:sym typeface="Roboto Bold"/>
                </a:rPr>
                <a:t>CoAP</a:t>
              </a:r>
            </a:p>
          </p:txBody>
        </p:sp>
        <p:sp>
          <p:nvSpPr>
            <p:cNvPr name="TextBox 23" id="23"/>
            <p:cNvSpPr txBox="true"/>
            <p:nvPr/>
          </p:nvSpPr>
          <p:spPr>
            <a:xfrm rot="0">
              <a:off x="4647583" y="1406086"/>
              <a:ext cx="1283014" cy="552450"/>
            </a:xfrm>
            <a:prstGeom prst="rect">
              <a:avLst/>
            </a:prstGeom>
          </p:spPr>
          <p:txBody>
            <a:bodyPr anchor="t" rtlCol="false" tIns="0" lIns="0" bIns="0" rIns="0">
              <a:spAutoFit/>
            </a:bodyPr>
            <a:lstStyle/>
            <a:p>
              <a:pPr algn="l">
                <a:lnSpc>
                  <a:spcPts val="3599"/>
                </a:lnSpc>
                <a:spcBef>
                  <a:spcPct val="0"/>
                </a:spcBef>
              </a:pPr>
              <a:r>
                <a:rPr lang="en-US" b="true" sz="2499">
                  <a:solidFill>
                    <a:srgbClr val="1B4290"/>
                  </a:solidFill>
                  <a:latin typeface="Roboto Bold"/>
                  <a:ea typeface="Roboto Bold"/>
                  <a:cs typeface="Roboto Bold"/>
                  <a:sym typeface="Roboto Bold"/>
                </a:rPr>
                <a:t>HTTP</a:t>
              </a:r>
            </a:p>
          </p:txBody>
        </p:sp>
      </p:grpSp>
      <p:sp>
        <p:nvSpPr>
          <p:cNvPr name="TextBox 24" id="24"/>
          <p:cNvSpPr txBox="true"/>
          <p:nvPr/>
        </p:nvSpPr>
        <p:spPr>
          <a:xfrm rot="0">
            <a:off x="10771139" y="3279543"/>
            <a:ext cx="7019709" cy="428625"/>
          </a:xfrm>
          <a:prstGeom prst="rect">
            <a:avLst/>
          </a:prstGeom>
        </p:spPr>
        <p:txBody>
          <a:bodyPr anchor="t" rtlCol="false" tIns="0" lIns="0" bIns="0" rIns="0">
            <a:spAutoFit/>
          </a:bodyPr>
          <a:lstStyle/>
          <a:p>
            <a:pPr algn="l">
              <a:lnSpc>
                <a:spcPts val="3599"/>
              </a:lnSpc>
              <a:spcBef>
                <a:spcPct val="0"/>
              </a:spcBef>
            </a:pPr>
            <a:r>
              <a:rPr lang="en-US" sz="2499">
                <a:solidFill>
                  <a:srgbClr val="1B1C1D"/>
                </a:solidFill>
                <a:latin typeface="Roboto"/>
                <a:ea typeface="Roboto"/>
                <a:cs typeface="Roboto"/>
                <a:sym typeface="Roboto"/>
              </a:rPr>
              <a:t>Quản lý thiết bị và tài sản</a:t>
            </a:r>
          </a:p>
        </p:txBody>
      </p:sp>
      <p:sp>
        <p:nvSpPr>
          <p:cNvPr name="TextBox 25" id="25"/>
          <p:cNvSpPr txBox="true"/>
          <p:nvPr/>
        </p:nvSpPr>
        <p:spPr>
          <a:xfrm rot="0">
            <a:off x="10771139" y="3943487"/>
            <a:ext cx="7019709" cy="428625"/>
          </a:xfrm>
          <a:prstGeom prst="rect">
            <a:avLst/>
          </a:prstGeom>
        </p:spPr>
        <p:txBody>
          <a:bodyPr anchor="t" rtlCol="false" tIns="0" lIns="0" bIns="0" rIns="0">
            <a:spAutoFit/>
          </a:bodyPr>
          <a:lstStyle/>
          <a:p>
            <a:pPr algn="l">
              <a:lnSpc>
                <a:spcPts val="3599"/>
              </a:lnSpc>
              <a:spcBef>
                <a:spcPct val="0"/>
              </a:spcBef>
            </a:pPr>
            <a:r>
              <a:rPr lang="en-US" sz="2499">
                <a:solidFill>
                  <a:srgbClr val="1B1C1D"/>
                </a:solidFill>
                <a:latin typeface="Roboto"/>
                <a:ea typeface="Roboto"/>
                <a:cs typeface="Roboto"/>
                <a:sym typeface="Roboto"/>
              </a:rPr>
              <a:t>Thu thập và trực quan hoá số liệu</a:t>
            </a:r>
          </a:p>
        </p:txBody>
      </p:sp>
      <p:sp>
        <p:nvSpPr>
          <p:cNvPr name="TextBox 26" id="26"/>
          <p:cNvSpPr txBox="true"/>
          <p:nvPr/>
        </p:nvSpPr>
        <p:spPr>
          <a:xfrm rot="0">
            <a:off x="10771139" y="4610237"/>
            <a:ext cx="7019709" cy="428625"/>
          </a:xfrm>
          <a:prstGeom prst="rect">
            <a:avLst/>
          </a:prstGeom>
        </p:spPr>
        <p:txBody>
          <a:bodyPr anchor="t" rtlCol="false" tIns="0" lIns="0" bIns="0" rIns="0">
            <a:spAutoFit/>
          </a:bodyPr>
          <a:lstStyle/>
          <a:p>
            <a:pPr algn="l">
              <a:lnSpc>
                <a:spcPts val="3599"/>
              </a:lnSpc>
              <a:spcBef>
                <a:spcPct val="0"/>
              </a:spcBef>
            </a:pPr>
            <a:r>
              <a:rPr lang="en-US" sz="2499">
                <a:solidFill>
                  <a:srgbClr val="1B1C1D"/>
                </a:solidFill>
                <a:latin typeface="Roboto"/>
                <a:ea typeface="Roboto"/>
                <a:cs typeface="Roboto"/>
                <a:sym typeface="Roboto"/>
              </a:rPr>
              <a:t>Xử lý và phản ứng</a:t>
            </a:r>
          </a:p>
        </p:txBody>
      </p:sp>
      <p:sp>
        <p:nvSpPr>
          <p:cNvPr name="TextBox 27" id="27"/>
          <p:cNvSpPr txBox="true"/>
          <p:nvPr/>
        </p:nvSpPr>
        <p:spPr>
          <a:xfrm rot="0">
            <a:off x="10771139" y="5276987"/>
            <a:ext cx="2663428" cy="428625"/>
          </a:xfrm>
          <a:prstGeom prst="rect">
            <a:avLst/>
          </a:prstGeom>
        </p:spPr>
        <p:txBody>
          <a:bodyPr anchor="t" rtlCol="false" tIns="0" lIns="0" bIns="0" rIns="0">
            <a:spAutoFit/>
          </a:bodyPr>
          <a:lstStyle/>
          <a:p>
            <a:pPr algn="l">
              <a:lnSpc>
                <a:spcPts val="3599"/>
              </a:lnSpc>
              <a:spcBef>
                <a:spcPct val="0"/>
              </a:spcBef>
            </a:pPr>
            <a:r>
              <a:rPr lang="en-US" sz="2499">
                <a:solidFill>
                  <a:srgbClr val="000000"/>
                </a:solidFill>
                <a:latin typeface="Roboto"/>
                <a:ea typeface="Roboto"/>
                <a:cs typeface="Roboto"/>
                <a:sym typeface="Roboto"/>
              </a:rPr>
              <a:t>Triển khai linh hoạt</a:t>
            </a:r>
          </a:p>
        </p:txBody>
      </p:sp>
      <p:sp>
        <p:nvSpPr>
          <p:cNvPr name="TextBox 28" id="28"/>
          <p:cNvSpPr txBox="true"/>
          <p:nvPr/>
        </p:nvSpPr>
        <p:spPr>
          <a:xfrm rot="0">
            <a:off x="10771139" y="5943737"/>
            <a:ext cx="1184672" cy="428625"/>
          </a:xfrm>
          <a:prstGeom prst="rect">
            <a:avLst/>
          </a:prstGeom>
        </p:spPr>
        <p:txBody>
          <a:bodyPr anchor="t" rtlCol="false" tIns="0" lIns="0" bIns="0" rIns="0">
            <a:spAutoFit/>
          </a:bodyPr>
          <a:lstStyle/>
          <a:p>
            <a:pPr algn="l">
              <a:lnSpc>
                <a:spcPts val="3599"/>
              </a:lnSpc>
              <a:spcBef>
                <a:spcPct val="0"/>
              </a:spcBef>
            </a:pPr>
            <a:r>
              <a:rPr lang="en-US" sz="2499">
                <a:solidFill>
                  <a:srgbClr val="000000"/>
                </a:solidFill>
                <a:latin typeface="Roboto"/>
                <a:ea typeface="Roboto"/>
                <a:cs typeface="Roboto"/>
                <a:sym typeface="Roboto"/>
              </a:rPr>
              <a:t>Bảo mật</a:t>
            </a:r>
          </a:p>
        </p:txBody>
      </p:sp>
      <p:grpSp>
        <p:nvGrpSpPr>
          <p:cNvPr name="Group 29" id="29"/>
          <p:cNvGrpSpPr/>
          <p:nvPr/>
        </p:nvGrpSpPr>
        <p:grpSpPr>
          <a:xfrm rot="0">
            <a:off x="10057261" y="3947897"/>
            <a:ext cx="476954" cy="476954"/>
            <a:chOff x="0" y="0"/>
            <a:chExt cx="812800" cy="812800"/>
          </a:xfrm>
        </p:grpSpPr>
        <p:sp>
          <p:nvSpPr>
            <p:cNvPr name="Freeform 30" id="3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B4290"/>
            </a:solidFill>
          </p:spPr>
        </p:sp>
        <p:sp>
          <p:nvSpPr>
            <p:cNvPr name="TextBox 31" id="31"/>
            <p:cNvSpPr txBox="true"/>
            <p:nvPr/>
          </p:nvSpPr>
          <p:spPr>
            <a:xfrm>
              <a:off x="76200" y="180975"/>
              <a:ext cx="660400" cy="555625"/>
            </a:xfrm>
            <a:prstGeom prst="rect">
              <a:avLst/>
            </a:prstGeom>
          </p:spPr>
          <p:txBody>
            <a:bodyPr anchor="ctr" rtlCol="false" tIns="25400" lIns="25400" bIns="25400" rIns="25400"/>
            <a:lstStyle/>
            <a:p>
              <a:pPr algn="ctr">
                <a:lnSpc>
                  <a:spcPts val="900"/>
                </a:lnSpc>
              </a:pPr>
              <a:r>
                <a:rPr lang="en-US" b="true" sz="1800">
                  <a:solidFill>
                    <a:srgbClr val="FFFFFF"/>
                  </a:solidFill>
                  <a:latin typeface="Roboto Bold"/>
                  <a:ea typeface="Roboto Bold"/>
                  <a:cs typeface="Roboto Bold"/>
                  <a:sym typeface="Roboto Bold"/>
                </a:rPr>
                <a:t>2</a:t>
              </a:r>
            </a:p>
          </p:txBody>
        </p:sp>
      </p:grpSp>
      <p:grpSp>
        <p:nvGrpSpPr>
          <p:cNvPr name="Group 32" id="32"/>
          <p:cNvGrpSpPr/>
          <p:nvPr/>
        </p:nvGrpSpPr>
        <p:grpSpPr>
          <a:xfrm rot="0">
            <a:off x="10057261" y="4615352"/>
            <a:ext cx="476954" cy="476954"/>
            <a:chOff x="0" y="0"/>
            <a:chExt cx="812800" cy="812800"/>
          </a:xfrm>
        </p:grpSpPr>
        <p:sp>
          <p:nvSpPr>
            <p:cNvPr name="Freeform 33" id="3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B4290"/>
            </a:solidFill>
          </p:spPr>
        </p:sp>
        <p:sp>
          <p:nvSpPr>
            <p:cNvPr name="TextBox 34" id="34"/>
            <p:cNvSpPr txBox="true"/>
            <p:nvPr/>
          </p:nvSpPr>
          <p:spPr>
            <a:xfrm>
              <a:off x="76200" y="180975"/>
              <a:ext cx="660400" cy="555625"/>
            </a:xfrm>
            <a:prstGeom prst="rect">
              <a:avLst/>
            </a:prstGeom>
          </p:spPr>
          <p:txBody>
            <a:bodyPr anchor="ctr" rtlCol="false" tIns="25400" lIns="25400" bIns="25400" rIns="25400"/>
            <a:lstStyle/>
            <a:p>
              <a:pPr algn="ctr">
                <a:lnSpc>
                  <a:spcPts val="900"/>
                </a:lnSpc>
              </a:pPr>
              <a:r>
                <a:rPr lang="en-US" b="true" sz="1800">
                  <a:solidFill>
                    <a:srgbClr val="FFFFFF"/>
                  </a:solidFill>
                  <a:latin typeface="Roboto Bold"/>
                  <a:ea typeface="Roboto Bold"/>
                  <a:cs typeface="Roboto Bold"/>
                  <a:sym typeface="Roboto Bold"/>
                </a:rPr>
                <a:t>3</a:t>
              </a:r>
            </a:p>
          </p:txBody>
        </p:sp>
      </p:grpSp>
      <p:grpSp>
        <p:nvGrpSpPr>
          <p:cNvPr name="Group 35" id="35"/>
          <p:cNvGrpSpPr/>
          <p:nvPr/>
        </p:nvGrpSpPr>
        <p:grpSpPr>
          <a:xfrm rot="0">
            <a:off x="10057261" y="5281397"/>
            <a:ext cx="476954" cy="476954"/>
            <a:chOff x="0" y="0"/>
            <a:chExt cx="812800" cy="812800"/>
          </a:xfrm>
        </p:grpSpPr>
        <p:sp>
          <p:nvSpPr>
            <p:cNvPr name="Freeform 36" id="3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B4290"/>
            </a:solidFill>
          </p:spPr>
        </p:sp>
        <p:sp>
          <p:nvSpPr>
            <p:cNvPr name="TextBox 37" id="37"/>
            <p:cNvSpPr txBox="true"/>
            <p:nvPr/>
          </p:nvSpPr>
          <p:spPr>
            <a:xfrm>
              <a:off x="76200" y="180975"/>
              <a:ext cx="660400" cy="555625"/>
            </a:xfrm>
            <a:prstGeom prst="rect">
              <a:avLst/>
            </a:prstGeom>
          </p:spPr>
          <p:txBody>
            <a:bodyPr anchor="ctr" rtlCol="false" tIns="25400" lIns="25400" bIns="25400" rIns="25400"/>
            <a:lstStyle/>
            <a:p>
              <a:pPr algn="ctr">
                <a:lnSpc>
                  <a:spcPts val="900"/>
                </a:lnSpc>
              </a:pPr>
              <a:r>
                <a:rPr lang="en-US" b="true" sz="1800">
                  <a:solidFill>
                    <a:srgbClr val="FFFFFF"/>
                  </a:solidFill>
                  <a:latin typeface="Roboto Bold"/>
                  <a:ea typeface="Roboto Bold"/>
                  <a:cs typeface="Roboto Bold"/>
                  <a:sym typeface="Roboto Bold"/>
                </a:rPr>
                <a:t>4</a:t>
              </a:r>
            </a:p>
          </p:txBody>
        </p:sp>
      </p:grpSp>
      <p:grpSp>
        <p:nvGrpSpPr>
          <p:cNvPr name="Group 38" id="38"/>
          <p:cNvGrpSpPr/>
          <p:nvPr/>
        </p:nvGrpSpPr>
        <p:grpSpPr>
          <a:xfrm rot="0">
            <a:off x="10057261" y="5948147"/>
            <a:ext cx="476954" cy="476954"/>
            <a:chOff x="0" y="0"/>
            <a:chExt cx="812800" cy="812800"/>
          </a:xfrm>
        </p:grpSpPr>
        <p:sp>
          <p:nvSpPr>
            <p:cNvPr name="Freeform 39" id="3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B4290"/>
            </a:solidFill>
          </p:spPr>
        </p:sp>
        <p:sp>
          <p:nvSpPr>
            <p:cNvPr name="TextBox 40" id="40"/>
            <p:cNvSpPr txBox="true"/>
            <p:nvPr/>
          </p:nvSpPr>
          <p:spPr>
            <a:xfrm>
              <a:off x="76200" y="180975"/>
              <a:ext cx="660400" cy="555625"/>
            </a:xfrm>
            <a:prstGeom prst="rect">
              <a:avLst/>
            </a:prstGeom>
          </p:spPr>
          <p:txBody>
            <a:bodyPr anchor="ctr" rtlCol="false" tIns="25400" lIns="25400" bIns="25400" rIns="25400"/>
            <a:lstStyle/>
            <a:p>
              <a:pPr algn="ctr">
                <a:lnSpc>
                  <a:spcPts val="900"/>
                </a:lnSpc>
              </a:pPr>
              <a:r>
                <a:rPr lang="en-US" b="true" sz="1800">
                  <a:solidFill>
                    <a:srgbClr val="FFFFFF"/>
                  </a:solidFill>
                  <a:latin typeface="Roboto Bold"/>
                  <a:ea typeface="Roboto Bold"/>
                  <a:cs typeface="Roboto Bold"/>
                  <a:sym typeface="Roboto Bold"/>
                </a:rPr>
                <a:t>5</a:t>
              </a:r>
            </a:p>
          </p:txBody>
        </p:sp>
      </p:grpSp>
    </p:spTree>
  </p:cSld>
  <p:clrMapOvr>
    <a:masterClrMapping/>
  </p:clrMapOvr>
  <p:transition spd="med">
    <p:push dir="l"/>
  </p:transition>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91467" y="421672"/>
            <a:ext cx="12651822" cy="1156452"/>
            <a:chOff x="0" y="0"/>
            <a:chExt cx="543598" cy="49720"/>
          </a:xfrm>
        </p:grpSpPr>
        <p:sp>
          <p:nvSpPr>
            <p:cNvPr name="Freeform 3" id="3"/>
            <p:cNvSpPr/>
            <p:nvPr/>
          </p:nvSpPr>
          <p:spPr>
            <a:xfrm flipH="false" flipV="false" rot="0">
              <a:off x="0" y="0"/>
              <a:ext cx="543598" cy="49720"/>
            </a:xfrm>
            <a:custGeom>
              <a:avLst/>
              <a:gdLst/>
              <a:ahLst/>
              <a:cxnLst/>
              <a:rect r="r" b="b" t="t" l="l"/>
              <a:pathLst>
                <a:path h="49720" w="543598">
                  <a:moveTo>
                    <a:pt x="543598" y="24860"/>
                  </a:moveTo>
                  <a:lnTo>
                    <a:pt x="543598" y="24860"/>
                  </a:lnTo>
                  <a:cubicBezTo>
                    <a:pt x="543598" y="31453"/>
                    <a:pt x="540978" y="37777"/>
                    <a:pt x="536316" y="42439"/>
                  </a:cubicBezTo>
                  <a:cubicBezTo>
                    <a:pt x="531654" y="47101"/>
                    <a:pt x="525331" y="49720"/>
                    <a:pt x="518737" y="49720"/>
                  </a:cubicBezTo>
                  <a:lnTo>
                    <a:pt x="24860" y="49720"/>
                  </a:lnTo>
                  <a:cubicBezTo>
                    <a:pt x="18267" y="49720"/>
                    <a:pt x="11944" y="47101"/>
                    <a:pt x="7281" y="42439"/>
                  </a:cubicBezTo>
                  <a:cubicBezTo>
                    <a:pt x="2619" y="37777"/>
                    <a:pt x="0" y="31453"/>
                    <a:pt x="0" y="24860"/>
                  </a:cubicBezTo>
                  <a:lnTo>
                    <a:pt x="0" y="24860"/>
                  </a:lnTo>
                  <a:cubicBezTo>
                    <a:pt x="0" y="18267"/>
                    <a:pt x="2619" y="11944"/>
                    <a:pt x="7281" y="7281"/>
                  </a:cubicBezTo>
                  <a:cubicBezTo>
                    <a:pt x="11944" y="2619"/>
                    <a:pt x="18267" y="0"/>
                    <a:pt x="24860" y="0"/>
                  </a:cubicBezTo>
                  <a:lnTo>
                    <a:pt x="518737" y="0"/>
                  </a:lnTo>
                  <a:cubicBezTo>
                    <a:pt x="532467" y="0"/>
                    <a:pt x="543598" y="11130"/>
                    <a:pt x="543598" y="24860"/>
                  </a:cubicBezTo>
                  <a:close/>
                </a:path>
              </a:pathLst>
            </a:custGeom>
            <a:solidFill>
              <a:srgbClr val="002699"/>
            </a:solidFill>
            <a:ln cap="rnd">
              <a:noFill/>
              <a:prstDash val="solid"/>
              <a:round/>
            </a:ln>
          </p:spPr>
        </p:sp>
        <p:sp>
          <p:nvSpPr>
            <p:cNvPr name="TextBox 4" id="4"/>
            <p:cNvSpPr txBox="true"/>
            <p:nvPr/>
          </p:nvSpPr>
          <p:spPr>
            <a:xfrm>
              <a:off x="0" y="-47625"/>
              <a:ext cx="543598" cy="97345"/>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1039793" y="638175"/>
            <a:ext cx="13914961" cy="771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3.3 GIAO DIỆN CORE IOT</a:t>
            </a:r>
          </a:p>
        </p:txBody>
      </p:sp>
      <p:sp>
        <p:nvSpPr>
          <p:cNvPr name="Freeform 6" id="6"/>
          <p:cNvSpPr/>
          <p:nvPr/>
        </p:nvSpPr>
        <p:spPr>
          <a:xfrm flipH="false" flipV="false" rot="0">
            <a:off x="1028700" y="2056844"/>
            <a:ext cx="11301259" cy="6173313"/>
          </a:xfrm>
          <a:custGeom>
            <a:avLst/>
            <a:gdLst/>
            <a:ahLst/>
            <a:cxnLst/>
            <a:rect r="r" b="b" t="t" l="l"/>
            <a:pathLst>
              <a:path h="6173313" w="11301259">
                <a:moveTo>
                  <a:pt x="0" y="0"/>
                </a:moveTo>
                <a:lnTo>
                  <a:pt x="11301259" y="0"/>
                </a:lnTo>
                <a:lnTo>
                  <a:pt x="11301259" y="6173312"/>
                </a:lnTo>
                <a:lnTo>
                  <a:pt x="0" y="6173312"/>
                </a:lnTo>
                <a:lnTo>
                  <a:pt x="0" y="0"/>
                </a:lnTo>
                <a:close/>
              </a:path>
            </a:pathLst>
          </a:custGeom>
          <a:blipFill>
            <a:blip r:embed="rId2"/>
            <a:stretch>
              <a:fillRect l="0" t="0" r="0" b="0"/>
            </a:stretch>
          </a:blipFill>
          <a:ln cap="rnd">
            <a:noFill/>
            <a:prstDash val="solid"/>
            <a:round/>
          </a:ln>
        </p:spPr>
      </p:sp>
      <p:sp>
        <p:nvSpPr>
          <p:cNvPr name="Freeform 7" id="7"/>
          <p:cNvSpPr/>
          <p:nvPr/>
        </p:nvSpPr>
        <p:spPr>
          <a:xfrm flipH="false" flipV="false" rot="0">
            <a:off x="7326696" y="7236661"/>
            <a:ext cx="9655341" cy="2172452"/>
          </a:xfrm>
          <a:custGeom>
            <a:avLst/>
            <a:gdLst/>
            <a:ahLst/>
            <a:cxnLst/>
            <a:rect r="r" b="b" t="t" l="l"/>
            <a:pathLst>
              <a:path h="2172452" w="9655341">
                <a:moveTo>
                  <a:pt x="0" y="0"/>
                </a:moveTo>
                <a:lnTo>
                  <a:pt x="9655341" y="0"/>
                </a:lnTo>
                <a:lnTo>
                  <a:pt x="9655341" y="2172451"/>
                </a:lnTo>
                <a:lnTo>
                  <a:pt x="0" y="2172451"/>
                </a:lnTo>
                <a:lnTo>
                  <a:pt x="0" y="0"/>
                </a:lnTo>
                <a:close/>
              </a:path>
            </a:pathLst>
          </a:custGeom>
          <a:blipFill>
            <a:blip r:embed="rId3"/>
            <a:stretch>
              <a:fillRect l="0" t="0" r="0" b="0"/>
            </a:stretch>
          </a:blipFill>
        </p:spPr>
      </p:sp>
      <p:sp>
        <p:nvSpPr>
          <p:cNvPr name="TextBox 8" id="8"/>
          <p:cNvSpPr txBox="true"/>
          <p:nvPr/>
        </p:nvSpPr>
        <p:spPr>
          <a:xfrm rot="0">
            <a:off x="15665946" y="9210675"/>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14 of 37</a:t>
            </a:r>
          </a:p>
        </p:txBody>
      </p:sp>
    </p:spTree>
  </p:cSld>
  <p:clrMapOvr>
    <a:masterClrMapping/>
  </p:clrMapOvr>
  <p:transition spd="med">
    <p:push dir="l"/>
  </p:transition>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12150317" y="0"/>
            <a:ext cx="6137684" cy="6127944"/>
            <a:chOff x="0" y="0"/>
            <a:chExt cx="8183578" cy="8170592"/>
          </a:xfrm>
        </p:grpSpPr>
        <p:sp>
          <p:nvSpPr>
            <p:cNvPr name="Freeform 3" id="3"/>
            <p:cNvSpPr/>
            <p:nvPr/>
          </p:nvSpPr>
          <p:spPr>
            <a:xfrm flipH="false" flipV="false" rot="0">
              <a:off x="0" y="0"/>
              <a:ext cx="8183626" cy="8170545"/>
            </a:xfrm>
            <a:custGeom>
              <a:avLst/>
              <a:gdLst/>
              <a:ahLst/>
              <a:cxnLst/>
              <a:rect r="r" b="b" t="t" l="l"/>
              <a:pathLst>
                <a:path h="8170545" w="8183626">
                  <a:moveTo>
                    <a:pt x="0" y="0"/>
                  </a:moveTo>
                  <a:lnTo>
                    <a:pt x="8183626" y="0"/>
                  </a:lnTo>
                  <a:lnTo>
                    <a:pt x="8183626" y="8170545"/>
                  </a:lnTo>
                  <a:lnTo>
                    <a:pt x="0" y="8170545"/>
                  </a:lnTo>
                  <a:lnTo>
                    <a:pt x="0" y="0"/>
                  </a:lnTo>
                  <a:close/>
                </a:path>
              </a:pathLst>
            </a:custGeom>
            <a:blipFill>
              <a:blip r:embed="rId2"/>
              <a:stretch>
                <a:fillRect l="0" t="-15057" r="-15172" b="0"/>
              </a:stretch>
            </a:blipFill>
          </p:spPr>
        </p:sp>
      </p:grpSp>
      <p:sp>
        <p:nvSpPr>
          <p:cNvPr name="AutoShape 4" id="4"/>
          <p:cNvSpPr/>
          <p:nvPr/>
        </p:nvSpPr>
        <p:spPr>
          <a:xfrm>
            <a:off x="1028737" y="1056473"/>
            <a:ext cx="7296656" cy="19050"/>
          </a:xfrm>
          <a:prstGeom prst="line">
            <a:avLst/>
          </a:prstGeom>
          <a:ln cap="rnd" w="28575">
            <a:solidFill>
              <a:srgbClr val="264C9A"/>
            </a:solidFill>
            <a:prstDash val="solid"/>
            <a:headEnd type="none" len="sm" w="sm"/>
            <a:tailEnd type="none" len="sm" w="sm"/>
          </a:ln>
        </p:spPr>
      </p:sp>
      <p:grpSp>
        <p:nvGrpSpPr>
          <p:cNvPr name="Group 5" id="5"/>
          <p:cNvGrpSpPr/>
          <p:nvPr/>
        </p:nvGrpSpPr>
        <p:grpSpPr>
          <a:xfrm rot="0">
            <a:off x="1028738" y="1412911"/>
            <a:ext cx="1312902" cy="1312902"/>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975A7"/>
            </a:soli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8" id="8"/>
          <p:cNvGrpSpPr/>
          <p:nvPr/>
        </p:nvGrpSpPr>
        <p:grpSpPr>
          <a:xfrm rot="0">
            <a:off x="1028700" y="3067464"/>
            <a:ext cx="1312902" cy="1312902"/>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4F0F4"/>
            </a:soli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11" id="11"/>
          <p:cNvGrpSpPr/>
          <p:nvPr/>
        </p:nvGrpSpPr>
        <p:grpSpPr>
          <a:xfrm rot="0">
            <a:off x="1047288" y="6548851"/>
            <a:ext cx="1312902" cy="1312902"/>
            <a:chOff x="0" y="0"/>
            <a:chExt cx="812800" cy="812800"/>
          </a:xfrm>
        </p:grpSpPr>
        <p:sp>
          <p:nvSpPr>
            <p:cNvPr name="Freeform 12" id="12"/>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4F0F4"/>
            </a:solidFill>
          </p:spPr>
        </p:sp>
        <p:sp>
          <p:nvSpPr>
            <p:cNvPr name="TextBox 13" id="13"/>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14" id="14"/>
          <p:cNvGrpSpPr/>
          <p:nvPr/>
        </p:nvGrpSpPr>
        <p:grpSpPr>
          <a:xfrm rot="0">
            <a:off x="1047288" y="8280853"/>
            <a:ext cx="1312902" cy="1312902"/>
            <a:chOff x="0" y="0"/>
            <a:chExt cx="812800" cy="812800"/>
          </a:xfrm>
        </p:grpSpPr>
        <p:sp>
          <p:nvSpPr>
            <p:cNvPr name="Freeform 15" id="1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975A7"/>
            </a:solidFill>
          </p:spPr>
        </p:sp>
        <p:sp>
          <p:nvSpPr>
            <p:cNvPr name="TextBox 16" id="16"/>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17" id="17"/>
          <p:cNvGrpSpPr/>
          <p:nvPr/>
        </p:nvGrpSpPr>
        <p:grpSpPr>
          <a:xfrm rot="0">
            <a:off x="1047288" y="4815042"/>
            <a:ext cx="1312902" cy="1312902"/>
            <a:chOff x="0" y="0"/>
            <a:chExt cx="812800" cy="812800"/>
          </a:xfrm>
        </p:grpSpPr>
        <p:sp>
          <p:nvSpPr>
            <p:cNvPr name="Freeform 18" id="1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975A7"/>
            </a:solidFill>
          </p:spPr>
        </p:sp>
        <p:sp>
          <p:nvSpPr>
            <p:cNvPr name="TextBox 19" id="19"/>
            <p:cNvSpPr txBox="true"/>
            <p:nvPr/>
          </p:nvSpPr>
          <p:spPr>
            <a:xfrm>
              <a:off x="76200" y="28575"/>
              <a:ext cx="660400" cy="708025"/>
            </a:xfrm>
            <a:prstGeom prst="rect">
              <a:avLst/>
            </a:prstGeom>
          </p:spPr>
          <p:txBody>
            <a:bodyPr anchor="ctr" rtlCol="false" tIns="50800" lIns="50800" bIns="50800" rIns="50800"/>
            <a:lstStyle/>
            <a:p>
              <a:pPr algn="ctr">
                <a:lnSpc>
                  <a:spcPts val="2592"/>
                </a:lnSpc>
              </a:pPr>
            </a:p>
          </p:txBody>
        </p:sp>
      </p:grpSp>
      <p:grpSp>
        <p:nvGrpSpPr>
          <p:cNvPr name="Group 20" id="20"/>
          <p:cNvGrpSpPr/>
          <p:nvPr/>
        </p:nvGrpSpPr>
        <p:grpSpPr>
          <a:xfrm rot="0">
            <a:off x="-2372187" y="6685324"/>
            <a:ext cx="3086100" cy="1039956"/>
            <a:chOff x="0" y="0"/>
            <a:chExt cx="812800" cy="273898"/>
          </a:xfrm>
        </p:grpSpPr>
        <p:sp>
          <p:nvSpPr>
            <p:cNvPr name="Freeform 21" id="21"/>
            <p:cNvSpPr/>
            <p:nvPr/>
          </p:nvSpPr>
          <p:spPr>
            <a:xfrm flipH="false" flipV="false" rot="0">
              <a:off x="0" y="0"/>
              <a:ext cx="812800" cy="273898"/>
            </a:xfrm>
            <a:custGeom>
              <a:avLst/>
              <a:gdLst/>
              <a:ahLst/>
              <a:cxnLst/>
              <a:rect r="r" b="b" t="t" l="l"/>
              <a:pathLst>
                <a:path h="273898" w="812800">
                  <a:moveTo>
                    <a:pt x="609600" y="0"/>
                  </a:moveTo>
                  <a:lnTo>
                    <a:pt x="0" y="0"/>
                  </a:lnTo>
                  <a:lnTo>
                    <a:pt x="0" y="273898"/>
                  </a:lnTo>
                  <a:lnTo>
                    <a:pt x="609600" y="273898"/>
                  </a:lnTo>
                  <a:lnTo>
                    <a:pt x="812800" y="136949"/>
                  </a:lnTo>
                  <a:lnTo>
                    <a:pt x="609600" y="0"/>
                  </a:lnTo>
                  <a:close/>
                </a:path>
              </a:pathLst>
            </a:custGeom>
            <a:solidFill>
              <a:srgbClr val="01135B"/>
            </a:solidFill>
          </p:spPr>
        </p:sp>
        <p:sp>
          <p:nvSpPr>
            <p:cNvPr name="TextBox 22" id="22"/>
            <p:cNvSpPr txBox="true"/>
            <p:nvPr/>
          </p:nvSpPr>
          <p:spPr>
            <a:xfrm>
              <a:off x="0" y="-47625"/>
              <a:ext cx="698500" cy="321523"/>
            </a:xfrm>
            <a:prstGeom prst="rect">
              <a:avLst/>
            </a:prstGeom>
          </p:spPr>
          <p:txBody>
            <a:bodyPr anchor="ctr" rtlCol="false" tIns="50800" lIns="50800" bIns="50800" rIns="50800"/>
            <a:lstStyle/>
            <a:p>
              <a:pPr algn="ctr">
                <a:lnSpc>
                  <a:spcPts val="2592"/>
                </a:lnSpc>
              </a:pPr>
            </a:p>
          </p:txBody>
        </p:sp>
      </p:grpSp>
      <p:sp>
        <p:nvSpPr>
          <p:cNvPr name="TextBox 23" id="23"/>
          <p:cNvSpPr txBox="true"/>
          <p:nvPr/>
        </p:nvSpPr>
        <p:spPr>
          <a:xfrm rot="0">
            <a:off x="1028700" y="161925"/>
            <a:ext cx="3327142" cy="866775"/>
          </a:xfrm>
          <a:prstGeom prst="rect">
            <a:avLst/>
          </a:prstGeom>
        </p:spPr>
        <p:txBody>
          <a:bodyPr anchor="t" rtlCol="false" tIns="0" lIns="0" bIns="0" rIns="0">
            <a:spAutoFit/>
          </a:bodyPr>
          <a:lstStyle/>
          <a:p>
            <a:pPr algn="just">
              <a:lnSpc>
                <a:spcPts val="6720"/>
              </a:lnSpc>
            </a:pPr>
            <a:r>
              <a:rPr lang="en-US" sz="5600" b="true">
                <a:solidFill>
                  <a:srgbClr val="081861"/>
                </a:solidFill>
                <a:latin typeface="Roboto Bold"/>
                <a:ea typeface="Roboto Bold"/>
                <a:cs typeface="Roboto Bold"/>
                <a:sym typeface="Roboto Bold"/>
              </a:rPr>
              <a:t>NỘI DUNG</a:t>
            </a:r>
          </a:p>
        </p:txBody>
      </p:sp>
      <p:sp>
        <p:nvSpPr>
          <p:cNvPr name="TextBox 24" id="24"/>
          <p:cNvSpPr txBox="true"/>
          <p:nvPr/>
        </p:nvSpPr>
        <p:spPr>
          <a:xfrm rot="0">
            <a:off x="2692271" y="1773839"/>
            <a:ext cx="5818648" cy="600075"/>
          </a:xfrm>
          <a:prstGeom prst="rect">
            <a:avLst/>
          </a:prstGeom>
        </p:spPr>
        <p:txBody>
          <a:bodyPr anchor="t" rtlCol="false" tIns="0" lIns="0" bIns="0" rIns="0">
            <a:spAutoFit/>
          </a:bodyPr>
          <a:lstStyle/>
          <a:p>
            <a:pPr algn="l">
              <a:lnSpc>
                <a:spcPts val="4799"/>
              </a:lnSpc>
            </a:pPr>
            <a:r>
              <a:rPr lang="en-US" b="true" sz="3999" spc="615">
                <a:solidFill>
                  <a:srgbClr val="081861"/>
                </a:solidFill>
                <a:latin typeface="Roboto Bold"/>
                <a:ea typeface="Roboto Bold"/>
                <a:cs typeface="Roboto Bold"/>
                <a:sym typeface="Roboto Bold"/>
              </a:rPr>
              <a:t>TỔNG QUAN ĐỀ TÀI</a:t>
            </a:r>
          </a:p>
        </p:txBody>
      </p:sp>
      <p:sp>
        <p:nvSpPr>
          <p:cNvPr name="TextBox 25" id="25"/>
          <p:cNvSpPr txBox="true"/>
          <p:nvPr/>
        </p:nvSpPr>
        <p:spPr>
          <a:xfrm rot="0">
            <a:off x="2683682" y="3469289"/>
            <a:ext cx="7601139" cy="600075"/>
          </a:xfrm>
          <a:prstGeom prst="rect">
            <a:avLst/>
          </a:prstGeom>
        </p:spPr>
        <p:txBody>
          <a:bodyPr anchor="t" rtlCol="false" tIns="0" lIns="0" bIns="0" rIns="0">
            <a:spAutoFit/>
          </a:bodyPr>
          <a:lstStyle/>
          <a:p>
            <a:pPr algn="l">
              <a:lnSpc>
                <a:spcPts val="4799"/>
              </a:lnSpc>
            </a:pPr>
            <a:r>
              <a:rPr lang="en-US" b="true" sz="3999" spc="421">
                <a:solidFill>
                  <a:srgbClr val="081861"/>
                </a:solidFill>
                <a:latin typeface="Roboto Bold"/>
                <a:ea typeface="Roboto Bold"/>
                <a:cs typeface="Roboto Bold"/>
                <a:sym typeface="Roboto Bold"/>
              </a:rPr>
              <a:t>TÓM TẮT NỘI DUNG ĐỀ TÀI</a:t>
            </a:r>
          </a:p>
        </p:txBody>
      </p:sp>
      <p:sp>
        <p:nvSpPr>
          <p:cNvPr name="TextBox 26" id="26"/>
          <p:cNvSpPr txBox="true"/>
          <p:nvPr/>
        </p:nvSpPr>
        <p:spPr>
          <a:xfrm rot="0">
            <a:off x="2692271" y="6905264"/>
            <a:ext cx="8857139" cy="600075"/>
          </a:xfrm>
          <a:prstGeom prst="rect">
            <a:avLst/>
          </a:prstGeom>
        </p:spPr>
        <p:txBody>
          <a:bodyPr anchor="t" rtlCol="false" tIns="0" lIns="0" bIns="0" rIns="0">
            <a:spAutoFit/>
          </a:bodyPr>
          <a:lstStyle/>
          <a:p>
            <a:pPr algn="l">
              <a:lnSpc>
                <a:spcPts val="4799"/>
              </a:lnSpc>
            </a:pPr>
            <a:r>
              <a:rPr lang="en-US" b="true" sz="3999" spc="307">
                <a:solidFill>
                  <a:srgbClr val="081861"/>
                </a:solidFill>
                <a:latin typeface="Roboto Bold"/>
                <a:ea typeface="Roboto Bold"/>
                <a:cs typeface="Roboto Bold"/>
                <a:sym typeface="Roboto Bold"/>
              </a:rPr>
              <a:t>BÁO CÁO KẾT QUẢ THỰC HIỆN</a:t>
            </a:r>
          </a:p>
        </p:txBody>
      </p:sp>
      <p:sp>
        <p:nvSpPr>
          <p:cNvPr name="TextBox 27" id="27"/>
          <p:cNvSpPr txBox="true"/>
          <p:nvPr/>
        </p:nvSpPr>
        <p:spPr>
          <a:xfrm rot="0">
            <a:off x="2782505" y="8679356"/>
            <a:ext cx="7715949" cy="600075"/>
          </a:xfrm>
          <a:prstGeom prst="rect">
            <a:avLst/>
          </a:prstGeom>
        </p:spPr>
        <p:txBody>
          <a:bodyPr anchor="t" rtlCol="false" tIns="0" lIns="0" bIns="0" rIns="0">
            <a:spAutoFit/>
          </a:bodyPr>
          <a:lstStyle/>
          <a:p>
            <a:pPr algn="l">
              <a:lnSpc>
                <a:spcPts val="4799"/>
              </a:lnSpc>
            </a:pPr>
            <a:r>
              <a:rPr lang="en-US" b="true" sz="3999" spc="470">
                <a:solidFill>
                  <a:srgbClr val="081861"/>
                </a:solidFill>
                <a:latin typeface="Roboto Bold"/>
                <a:ea typeface="Roboto Bold"/>
                <a:cs typeface="Roboto Bold"/>
                <a:sym typeface="Roboto Bold"/>
              </a:rPr>
              <a:t>ĐỊNH HƯỚNG PHÁT TRIỂN</a:t>
            </a:r>
          </a:p>
        </p:txBody>
      </p:sp>
      <p:sp>
        <p:nvSpPr>
          <p:cNvPr name="TextBox 28" id="28"/>
          <p:cNvSpPr txBox="true"/>
          <p:nvPr/>
        </p:nvSpPr>
        <p:spPr>
          <a:xfrm rot="0">
            <a:off x="1299986" y="1664302"/>
            <a:ext cx="807428" cy="819150"/>
          </a:xfrm>
          <a:prstGeom prst="rect">
            <a:avLst/>
          </a:prstGeom>
        </p:spPr>
        <p:txBody>
          <a:bodyPr anchor="t" rtlCol="false" tIns="0" lIns="0" bIns="0" rIns="0">
            <a:spAutoFit/>
          </a:bodyPr>
          <a:lstStyle/>
          <a:p>
            <a:pPr algn="l">
              <a:lnSpc>
                <a:spcPts val="6480"/>
              </a:lnSpc>
            </a:pPr>
            <a:r>
              <a:rPr lang="en-US" sz="5400" b="true">
                <a:solidFill>
                  <a:srgbClr val="FFFFFF"/>
                </a:solidFill>
                <a:latin typeface="Roboto Bold"/>
                <a:ea typeface="Roboto Bold"/>
                <a:cs typeface="Roboto Bold"/>
                <a:sym typeface="Roboto Bold"/>
              </a:rPr>
              <a:t>01</a:t>
            </a:r>
          </a:p>
        </p:txBody>
      </p:sp>
      <p:sp>
        <p:nvSpPr>
          <p:cNvPr name="TextBox 29" id="29"/>
          <p:cNvSpPr txBox="true"/>
          <p:nvPr/>
        </p:nvSpPr>
        <p:spPr>
          <a:xfrm rot="0">
            <a:off x="1300018" y="3314339"/>
            <a:ext cx="807440" cy="819150"/>
          </a:xfrm>
          <a:prstGeom prst="rect">
            <a:avLst/>
          </a:prstGeom>
        </p:spPr>
        <p:txBody>
          <a:bodyPr anchor="t" rtlCol="false" tIns="0" lIns="0" bIns="0" rIns="0">
            <a:spAutoFit/>
          </a:bodyPr>
          <a:lstStyle/>
          <a:p>
            <a:pPr algn="l">
              <a:lnSpc>
                <a:spcPts val="6480"/>
              </a:lnSpc>
            </a:pPr>
            <a:r>
              <a:rPr lang="en-US" sz="5400" b="true">
                <a:solidFill>
                  <a:srgbClr val="1B4290"/>
                </a:solidFill>
                <a:latin typeface="Roboto Bold"/>
                <a:ea typeface="Roboto Bold"/>
                <a:cs typeface="Roboto Bold"/>
                <a:sym typeface="Roboto Bold"/>
              </a:rPr>
              <a:t>02</a:t>
            </a:r>
          </a:p>
        </p:txBody>
      </p:sp>
      <p:sp>
        <p:nvSpPr>
          <p:cNvPr name="TextBox 30" id="30"/>
          <p:cNvSpPr txBox="true"/>
          <p:nvPr/>
        </p:nvSpPr>
        <p:spPr>
          <a:xfrm rot="0">
            <a:off x="1308449" y="6795727"/>
            <a:ext cx="790578" cy="819150"/>
          </a:xfrm>
          <a:prstGeom prst="rect">
            <a:avLst/>
          </a:prstGeom>
        </p:spPr>
        <p:txBody>
          <a:bodyPr anchor="t" rtlCol="false" tIns="0" lIns="0" bIns="0" rIns="0">
            <a:spAutoFit/>
          </a:bodyPr>
          <a:lstStyle/>
          <a:p>
            <a:pPr algn="l">
              <a:lnSpc>
                <a:spcPts val="6480"/>
              </a:lnSpc>
            </a:pPr>
            <a:r>
              <a:rPr lang="en-US" sz="5400" b="true">
                <a:solidFill>
                  <a:srgbClr val="1B4290"/>
                </a:solidFill>
                <a:latin typeface="Roboto Bold"/>
                <a:ea typeface="Roboto Bold"/>
                <a:cs typeface="Roboto Bold"/>
                <a:sym typeface="Roboto Bold"/>
              </a:rPr>
              <a:t>04</a:t>
            </a:r>
          </a:p>
        </p:txBody>
      </p:sp>
      <p:sp>
        <p:nvSpPr>
          <p:cNvPr name="TextBox 31" id="31"/>
          <p:cNvSpPr txBox="true"/>
          <p:nvPr/>
        </p:nvSpPr>
        <p:spPr>
          <a:xfrm rot="0">
            <a:off x="1295175" y="8536252"/>
            <a:ext cx="817050" cy="819150"/>
          </a:xfrm>
          <a:prstGeom prst="rect">
            <a:avLst/>
          </a:prstGeom>
        </p:spPr>
        <p:txBody>
          <a:bodyPr anchor="t" rtlCol="false" tIns="0" lIns="0" bIns="0" rIns="0">
            <a:spAutoFit/>
          </a:bodyPr>
          <a:lstStyle/>
          <a:p>
            <a:pPr algn="l">
              <a:lnSpc>
                <a:spcPts val="6480"/>
              </a:lnSpc>
            </a:pPr>
            <a:r>
              <a:rPr lang="en-US" sz="5400" b="true">
                <a:solidFill>
                  <a:srgbClr val="FFFFFF"/>
                </a:solidFill>
                <a:latin typeface="Roboto Bold"/>
                <a:ea typeface="Roboto Bold"/>
                <a:cs typeface="Roboto Bold"/>
                <a:sym typeface="Roboto Bold"/>
              </a:rPr>
              <a:t>05</a:t>
            </a:r>
          </a:p>
        </p:txBody>
      </p:sp>
      <p:sp>
        <p:nvSpPr>
          <p:cNvPr name="TextBox 32" id="32"/>
          <p:cNvSpPr txBox="true"/>
          <p:nvPr/>
        </p:nvSpPr>
        <p:spPr>
          <a:xfrm rot="0">
            <a:off x="2692271" y="5164739"/>
            <a:ext cx="5341342" cy="600075"/>
          </a:xfrm>
          <a:prstGeom prst="rect">
            <a:avLst/>
          </a:prstGeom>
        </p:spPr>
        <p:txBody>
          <a:bodyPr anchor="t" rtlCol="false" tIns="0" lIns="0" bIns="0" rIns="0">
            <a:spAutoFit/>
          </a:bodyPr>
          <a:lstStyle/>
          <a:p>
            <a:pPr algn="l">
              <a:lnSpc>
                <a:spcPts val="4799"/>
              </a:lnSpc>
            </a:pPr>
            <a:r>
              <a:rPr lang="en-US" b="true" sz="3999" spc="421">
                <a:solidFill>
                  <a:srgbClr val="081861"/>
                </a:solidFill>
                <a:latin typeface="Roboto Bold"/>
                <a:ea typeface="Roboto Bold"/>
                <a:cs typeface="Roboto Bold"/>
                <a:sym typeface="Roboto Bold"/>
              </a:rPr>
              <a:t>CƠ SỞ LÝ THUYẾT</a:t>
            </a:r>
          </a:p>
        </p:txBody>
      </p:sp>
      <p:sp>
        <p:nvSpPr>
          <p:cNvPr name="TextBox 33" id="33"/>
          <p:cNvSpPr txBox="true"/>
          <p:nvPr/>
        </p:nvSpPr>
        <p:spPr>
          <a:xfrm rot="0">
            <a:off x="1300607" y="5055202"/>
            <a:ext cx="806264" cy="819150"/>
          </a:xfrm>
          <a:prstGeom prst="rect">
            <a:avLst/>
          </a:prstGeom>
        </p:spPr>
        <p:txBody>
          <a:bodyPr anchor="t" rtlCol="false" tIns="0" lIns="0" bIns="0" rIns="0">
            <a:spAutoFit/>
          </a:bodyPr>
          <a:lstStyle/>
          <a:p>
            <a:pPr algn="l">
              <a:lnSpc>
                <a:spcPts val="6480"/>
              </a:lnSpc>
            </a:pPr>
            <a:r>
              <a:rPr lang="en-US" sz="5400" b="true">
                <a:solidFill>
                  <a:srgbClr val="FFFFFF"/>
                </a:solidFill>
                <a:latin typeface="Roboto Bold"/>
                <a:ea typeface="Roboto Bold"/>
                <a:cs typeface="Roboto Bold"/>
                <a:sym typeface="Roboto Bold"/>
              </a:rPr>
              <a:t>03</a:t>
            </a:r>
          </a:p>
        </p:txBody>
      </p:sp>
    </p:spTree>
  </p:cSld>
  <p:clrMapOvr>
    <a:masterClrMapping/>
  </p:clrMapOvr>
  <p:transition spd="med">
    <p:push dir="l"/>
  </p:transition>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91467" y="421672"/>
            <a:ext cx="12723679" cy="1138488"/>
            <a:chOff x="0" y="0"/>
            <a:chExt cx="546685" cy="48948"/>
          </a:xfrm>
        </p:grpSpPr>
        <p:sp>
          <p:nvSpPr>
            <p:cNvPr name="Freeform 3" id="3"/>
            <p:cNvSpPr/>
            <p:nvPr/>
          </p:nvSpPr>
          <p:spPr>
            <a:xfrm flipH="false" flipV="false" rot="0">
              <a:off x="0" y="0"/>
              <a:ext cx="546685" cy="48948"/>
            </a:xfrm>
            <a:custGeom>
              <a:avLst/>
              <a:gdLst/>
              <a:ahLst/>
              <a:cxnLst/>
              <a:rect r="r" b="b" t="t" l="l"/>
              <a:pathLst>
                <a:path h="48948" w="546685">
                  <a:moveTo>
                    <a:pt x="546685" y="24474"/>
                  </a:moveTo>
                  <a:lnTo>
                    <a:pt x="546685" y="24474"/>
                  </a:lnTo>
                  <a:cubicBezTo>
                    <a:pt x="546685" y="30965"/>
                    <a:pt x="544106" y="37190"/>
                    <a:pt x="539517" y="41780"/>
                  </a:cubicBezTo>
                  <a:cubicBezTo>
                    <a:pt x="534927" y="46369"/>
                    <a:pt x="528702" y="48948"/>
                    <a:pt x="522211" y="48948"/>
                  </a:cubicBezTo>
                  <a:lnTo>
                    <a:pt x="24474" y="48948"/>
                  </a:lnTo>
                  <a:cubicBezTo>
                    <a:pt x="17983" y="48948"/>
                    <a:pt x="11758" y="46369"/>
                    <a:pt x="7168" y="41780"/>
                  </a:cubicBezTo>
                  <a:cubicBezTo>
                    <a:pt x="2578" y="37190"/>
                    <a:pt x="0" y="30965"/>
                    <a:pt x="0" y="24474"/>
                  </a:cubicBezTo>
                  <a:lnTo>
                    <a:pt x="0" y="24474"/>
                  </a:lnTo>
                  <a:cubicBezTo>
                    <a:pt x="0" y="17983"/>
                    <a:pt x="2578" y="11758"/>
                    <a:pt x="7168" y="7168"/>
                  </a:cubicBezTo>
                  <a:cubicBezTo>
                    <a:pt x="11758" y="2578"/>
                    <a:pt x="17983" y="0"/>
                    <a:pt x="24474" y="0"/>
                  </a:cubicBezTo>
                  <a:lnTo>
                    <a:pt x="522211" y="0"/>
                  </a:lnTo>
                  <a:cubicBezTo>
                    <a:pt x="535728" y="0"/>
                    <a:pt x="546685" y="10957"/>
                    <a:pt x="546685" y="24474"/>
                  </a:cubicBezTo>
                  <a:close/>
                </a:path>
              </a:pathLst>
            </a:custGeom>
            <a:solidFill>
              <a:srgbClr val="002699"/>
            </a:solidFill>
            <a:ln cap="rnd">
              <a:noFill/>
              <a:prstDash val="solid"/>
              <a:round/>
            </a:ln>
          </p:spPr>
        </p:sp>
        <p:sp>
          <p:nvSpPr>
            <p:cNvPr name="TextBox 4" id="4"/>
            <p:cNvSpPr txBox="true"/>
            <p:nvPr/>
          </p:nvSpPr>
          <p:spPr>
            <a:xfrm>
              <a:off x="0" y="-47625"/>
              <a:ext cx="546685" cy="96573"/>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583038" y="638175"/>
            <a:ext cx="11746702" cy="771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4.1 </a:t>
            </a:r>
            <a:r>
              <a:rPr lang="en-US" b="true" sz="5000" spc="769">
                <a:solidFill>
                  <a:srgbClr val="FFFFFF"/>
                </a:solidFill>
                <a:latin typeface="Roboto Bold"/>
                <a:ea typeface="Roboto Bold"/>
                <a:cs typeface="Roboto Bold"/>
                <a:sym typeface="Roboto Bold"/>
              </a:rPr>
              <a:t>KIẾN TRÚC HỆ THỐNG</a:t>
            </a:r>
          </a:p>
        </p:txBody>
      </p:sp>
      <p:sp>
        <p:nvSpPr>
          <p:cNvPr name="Freeform 6" id="6"/>
          <p:cNvSpPr/>
          <p:nvPr/>
        </p:nvSpPr>
        <p:spPr>
          <a:xfrm flipH="false" flipV="false" rot="0">
            <a:off x="410749" y="1873995"/>
            <a:ext cx="17466502" cy="7619761"/>
          </a:xfrm>
          <a:custGeom>
            <a:avLst/>
            <a:gdLst/>
            <a:ahLst/>
            <a:cxnLst/>
            <a:rect r="r" b="b" t="t" l="l"/>
            <a:pathLst>
              <a:path h="7619761" w="17466502">
                <a:moveTo>
                  <a:pt x="0" y="0"/>
                </a:moveTo>
                <a:lnTo>
                  <a:pt x="17466502" y="0"/>
                </a:lnTo>
                <a:lnTo>
                  <a:pt x="17466502" y="7619761"/>
                </a:lnTo>
                <a:lnTo>
                  <a:pt x="0" y="7619761"/>
                </a:lnTo>
                <a:lnTo>
                  <a:pt x="0" y="0"/>
                </a:lnTo>
                <a:close/>
              </a:path>
            </a:pathLst>
          </a:custGeom>
          <a:blipFill>
            <a:blip r:embed="rId2"/>
            <a:stretch>
              <a:fillRect l="0" t="0" r="0" b="0"/>
            </a:stretch>
          </a:blipFill>
        </p:spPr>
      </p:sp>
      <p:sp>
        <p:nvSpPr>
          <p:cNvPr name="TextBox 7" id="7"/>
          <p:cNvSpPr txBox="true"/>
          <p:nvPr/>
        </p:nvSpPr>
        <p:spPr>
          <a:xfrm rot="0">
            <a:off x="16521410" y="9684397"/>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16 of 37</a:t>
            </a:r>
          </a:p>
        </p:txBody>
      </p:sp>
    </p:spTree>
  </p:cSld>
  <p:clrMapOvr>
    <a:masterClrMapping/>
  </p:clrMapOvr>
  <p:transition spd="med">
    <p:push dir="l"/>
  </p:transition>
</p:sld>
</file>

<file path=ppt/slides/slide1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91467" y="421672"/>
            <a:ext cx="13693739" cy="1156452"/>
            <a:chOff x="0" y="0"/>
            <a:chExt cx="588365" cy="49720"/>
          </a:xfrm>
        </p:grpSpPr>
        <p:sp>
          <p:nvSpPr>
            <p:cNvPr name="Freeform 3" id="3"/>
            <p:cNvSpPr/>
            <p:nvPr/>
          </p:nvSpPr>
          <p:spPr>
            <a:xfrm flipH="false" flipV="false" rot="0">
              <a:off x="0" y="0"/>
              <a:ext cx="588365" cy="49720"/>
            </a:xfrm>
            <a:custGeom>
              <a:avLst/>
              <a:gdLst/>
              <a:ahLst/>
              <a:cxnLst/>
              <a:rect r="r" b="b" t="t" l="l"/>
              <a:pathLst>
                <a:path h="49720" w="588365">
                  <a:moveTo>
                    <a:pt x="588365" y="24860"/>
                  </a:moveTo>
                  <a:lnTo>
                    <a:pt x="588365" y="24860"/>
                  </a:lnTo>
                  <a:cubicBezTo>
                    <a:pt x="588365" y="38590"/>
                    <a:pt x="577234" y="49720"/>
                    <a:pt x="563504" y="49720"/>
                  </a:cubicBezTo>
                  <a:lnTo>
                    <a:pt x="24860" y="49720"/>
                  </a:lnTo>
                  <a:cubicBezTo>
                    <a:pt x="18267" y="49720"/>
                    <a:pt x="11944" y="47101"/>
                    <a:pt x="7281" y="42439"/>
                  </a:cubicBezTo>
                  <a:cubicBezTo>
                    <a:pt x="2619" y="37777"/>
                    <a:pt x="0" y="31453"/>
                    <a:pt x="0" y="24860"/>
                  </a:cubicBezTo>
                  <a:lnTo>
                    <a:pt x="0" y="24860"/>
                  </a:lnTo>
                  <a:cubicBezTo>
                    <a:pt x="0" y="18267"/>
                    <a:pt x="2619" y="11944"/>
                    <a:pt x="7281" y="7281"/>
                  </a:cubicBezTo>
                  <a:cubicBezTo>
                    <a:pt x="11944" y="2619"/>
                    <a:pt x="18267" y="0"/>
                    <a:pt x="24860" y="0"/>
                  </a:cubicBezTo>
                  <a:lnTo>
                    <a:pt x="563504" y="0"/>
                  </a:lnTo>
                  <a:cubicBezTo>
                    <a:pt x="570098" y="0"/>
                    <a:pt x="576421" y="2619"/>
                    <a:pt x="581083" y="7281"/>
                  </a:cubicBezTo>
                  <a:cubicBezTo>
                    <a:pt x="585745" y="11944"/>
                    <a:pt x="588365" y="18267"/>
                    <a:pt x="588365" y="24860"/>
                  </a:cubicBezTo>
                  <a:close/>
                </a:path>
              </a:pathLst>
            </a:custGeom>
            <a:solidFill>
              <a:srgbClr val="002699"/>
            </a:solidFill>
            <a:ln cap="rnd">
              <a:noFill/>
              <a:prstDash val="solid"/>
              <a:round/>
            </a:ln>
          </p:spPr>
        </p:sp>
        <p:sp>
          <p:nvSpPr>
            <p:cNvPr name="TextBox 4" id="4"/>
            <p:cNvSpPr txBox="true"/>
            <p:nvPr/>
          </p:nvSpPr>
          <p:spPr>
            <a:xfrm>
              <a:off x="0" y="-47625"/>
              <a:ext cx="588365" cy="97345"/>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583038" y="638175"/>
            <a:ext cx="11746702" cy="771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4.2 CÁC THÔNG SỐ NỘI SUY</a:t>
            </a:r>
          </a:p>
        </p:txBody>
      </p:sp>
      <p:sp>
        <p:nvSpPr>
          <p:cNvPr name="TextBox 6" id="6"/>
          <p:cNvSpPr txBox="true"/>
          <p:nvPr/>
        </p:nvSpPr>
        <p:spPr>
          <a:xfrm rot="0">
            <a:off x="1028700" y="1744675"/>
            <a:ext cx="11938620" cy="8138160"/>
          </a:xfrm>
          <a:prstGeom prst="rect">
            <a:avLst/>
          </a:prstGeom>
        </p:spPr>
        <p:txBody>
          <a:bodyPr anchor="t" rtlCol="false" tIns="0" lIns="0" bIns="0" rIns="0">
            <a:spAutoFit/>
          </a:bodyPr>
          <a:lstStyle/>
          <a:p>
            <a:pPr algn="l">
              <a:lnSpc>
                <a:spcPts val="4320"/>
              </a:lnSpc>
            </a:pPr>
            <a:r>
              <a:rPr lang="en-US" sz="3000" b="true">
                <a:solidFill>
                  <a:srgbClr val="1B4290"/>
                </a:solidFill>
                <a:latin typeface="Roboto Bold"/>
                <a:ea typeface="Roboto Bold"/>
                <a:cs typeface="Roboto Bold"/>
                <a:sym typeface="Roboto Bold"/>
              </a:rPr>
              <a:t>⚖️ BMI (B</a:t>
            </a:r>
            <a:r>
              <a:rPr lang="en-US" b="true" sz="3000">
                <a:solidFill>
                  <a:srgbClr val="1B4290"/>
                </a:solidFill>
                <a:latin typeface="Roboto Bold"/>
                <a:ea typeface="Roboto Bold"/>
                <a:cs typeface="Roboto Bold"/>
                <a:sym typeface="Roboto Bold"/>
              </a:rPr>
              <a:t>ody Mass Index)</a:t>
            </a:r>
          </a:p>
          <a:p>
            <a:pPr algn="l" marL="647700" indent="-323850" lvl="1">
              <a:lnSpc>
                <a:spcPts val="4320"/>
              </a:lnSpc>
              <a:buFont typeface="Arial"/>
              <a:buChar char="•"/>
            </a:pPr>
            <a:r>
              <a:rPr lang="en-US" b="true" sz="3000">
                <a:solidFill>
                  <a:srgbClr val="000000"/>
                </a:solidFill>
                <a:latin typeface="Roboto Bold"/>
                <a:ea typeface="Roboto Bold"/>
                <a:cs typeface="Roboto Bold"/>
                <a:sym typeface="Roboto Bold"/>
              </a:rPr>
              <a:t>Công thức:</a:t>
            </a:r>
            <a:r>
              <a:rPr lang="en-US" sz="3000">
                <a:solidFill>
                  <a:srgbClr val="000000"/>
                </a:solidFill>
                <a:latin typeface="Roboto"/>
                <a:ea typeface="Roboto"/>
                <a:cs typeface="Roboto"/>
                <a:sym typeface="Roboto"/>
              </a:rPr>
              <a:t> BMI = W / H²</a:t>
            </a:r>
          </a:p>
          <a:p>
            <a:pPr algn="l" marL="647700" indent="-323850" lvl="1">
              <a:lnSpc>
                <a:spcPts val="4320"/>
              </a:lnSpc>
              <a:buFont typeface="Arial"/>
              <a:buChar char="•"/>
            </a:pPr>
            <a:r>
              <a:rPr lang="en-US" b="true" sz="3000">
                <a:solidFill>
                  <a:srgbClr val="000000"/>
                </a:solidFill>
                <a:latin typeface="Roboto Bold"/>
                <a:ea typeface="Roboto Bold"/>
                <a:cs typeface="Roboto Bold"/>
                <a:sym typeface="Roboto Bold"/>
              </a:rPr>
              <a:t>Phương pháp: </a:t>
            </a:r>
            <a:r>
              <a:rPr lang="en-US" sz="3000">
                <a:solidFill>
                  <a:srgbClr val="000000"/>
                </a:solidFill>
                <a:latin typeface="Roboto"/>
                <a:ea typeface="Roboto"/>
                <a:cs typeface="Roboto"/>
                <a:sym typeface="Roboto"/>
              </a:rPr>
              <a:t>Tính toán trực tiếp từ cân nặng và chiều cao</a:t>
            </a:r>
          </a:p>
          <a:p>
            <a:pPr algn="l">
              <a:lnSpc>
                <a:spcPts val="4320"/>
              </a:lnSpc>
            </a:pPr>
            <a:r>
              <a:rPr lang="en-US" sz="3000">
                <a:solidFill>
                  <a:srgbClr val="1B4290"/>
                </a:solidFill>
                <a:latin typeface="Roboto"/>
                <a:ea typeface="Roboto"/>
                <a:cs typeface="Roboto"/>
                <a:sym typeface="Roboto"/>
              </a:rPr>
              <a:t>🔥 </a:t>
            </a:r>
            <a:r>
              <a:rPr lang="en-US" b="true" sz="3000">
                <a:solidFill>
                  <a:srgbClr val="1B4290"/>
                </a:solidFill>
                <a:latin typeface="Roboto Bold"/>
                <a:ea typeface="Roboto Bold"/>
                <a:cs typeface="Roboto Bold"/>
                <a:sym typeface="Roboto Bold"/>
              </a:rPr>
              <a:t>BMR (Basal Metabolic Rate)</a:t>
            </a:r>
          </a:p>
          <a:p>
            <a:pPr algn="l" marL="647700" indent="-323850" lvl="1">
              <a:lnSpc>
                <a:spcPts val="4320"/>
              </a:lnSpc>
              <a:buFont typeface="Arial"/>
              <a:buChar char="•"/>
            </a:pPr>
            <a:r>
              <a:rPr lang="en-US" b="true" sz="3000">
                <a:solidFill>
                  <a:srgbClr val="000000"/>
                </a:solidFill>
                <a:latin typeface="Roboto Bold"/>
                <a:ea typeface="Roboto Bold"/>
                <a:cs typeface="Roboto Bold"/>
                <a:sym typeface="Roboto Bold"/>
              </a:rPr>
              <a:t>Công thức Mifflin-St Jeor:</a:t>
            </a:r>
          </a:p>
          <a:p>
            <a:pPr algn="l" marL="1295400" indent="-431800" lvl="2">
              <a:lnSpc>
                <a:spcPts val="4320"/>
              </a:lnSpc>
              <a:buFont typeface="Arial"/>
              <a:buChar char="⚬"/>
            </a:pPr>
            <a:r>
              <a:rPr lang="en-US" b="true" sz="3000">
                <a:solidFill>
                  <a:srgbClr val="000000"/>
                </a:solidFill>
                <a:latin typeface="Roboto Bold"/>
                <a:ea typeface="Roboto Bold"/>
                <a:cs typeface="Roboto Bold"/>
                <a:sym typeface="Roboto Bold"/>
              </a:rPr>
              <a:t>Nam:</a:t>
            </a:r>
            <a:r>
              <a:rPr lang="en-US" sz="3000">
                <a:solidFill>
                  <a:srgbClr val="000000"/>
                </a:solidFill>
                <a:latin typeface="Roboto"/>
                <a:ea typeface="Roboto"/>
                <a:cs typeface="Roboto"/>
                <a:sym typeface="Roboto"/>
              </a:rPr>
              <a:t> BMR = 88.362 + (13.397 × W) + (4.799 × H) - (5.677 × A)</a:t>
            </a:r>
          </a:p>
          <a:p>
            <a:pPr algn="l" marL="1295400" indent="-431800" lvl="2">
              <a:lnSpc>
                <a:spcPts val="4320"/>
              </a:lnSpc>
              <a:buFont typeface="Arial"/>
              <a:buChar char="⚬"/>
            </a:pPr>
            <a:r>
              <a:rPr lang="en-US" b="true" sz="3000">
                <a:solidFill>
                  <a:srgbClr val="000000"/>
                </a:solidFill>
                <a:latin typeface="Roboto Bold"/>
                <a:ea typeface="Roboto Bold"/>
                <a:cs typeface="Roboto Bold"/>
                <a:sym typeface="Roboto Bold"/>
              </a:rPr>
              <a:t>Nữ:</a:t>
            </a:r>
            <a:r>
              <a:rPr lang="en-US" sz="3000">
                <a:solidFill>
                  <a:srgbClr val="000000"/>
                </a:solidFill>
                <a:latin typeface="Roboto"/>
                <a:ea typeface="Roboto"/>
                <a:cs typeface="Roboto"/>
                <a:sym typeface="Roboto"/>
              </a:rPr>
              <a:t> BMR = 447.593 + (9.247 × W) + (3.098 × H) - (4.330 × A)</a:t>
            </a:r>
          </a:p>
          <a:p>
            <a:pPr algn="l">
              <a:lnSpc>
                <a:spcPts val="4320"/>
              </a:lnSpc>
            </a:pPr>
            <a:r>
              <a:rPr lang="en-US" sz="3000">
                <a:solidFill>
                  <a:srgbClr val="1B4290"/>
                </a:solidFill>
                <a:latin typeface="Roboto"/>
                <a:ea typeface="Roboto"/>
                <a:cs typeface="Roboto"/>
                <a:sym typeface="Roboto"/>
              </a:rPr>
              <a:t>🔋 </a:t>
            </a:r>
            <a:r>
              <a:rPr lang="en-US" b="true" sz="3000">
                <a:solidFill>
                  <a:srgbClr val="1B4290"/>
                </a:solidFill>
                <a:latin typeface="Roboto Bold"/>
                <a:ea typeface="Roboto Bold"/>
                <a:cs typeface="Roboto Bold"/>
                <a:sym typeface="Roboto Bold"/>
              </a:rPr>
              <a:t>TDEE (Total Daily Energy Expenditure)</a:t>
            </a:r>
          </a:p>
          <a:p>
            <a:pPr algn="l" marL="647700" indent="-323850" lvl="1">
              <a:lnSpc>
                <a:spcPts val="4320"/>
              </a:lnSpc>
              <a:buFont typeface="Arial"/>
              <a:buChar char="•"/>
            </a:pPr>
            <a:r>
              <a:rPr lang="en-US" b="true" sz="3000">
                <a:solidFill>
                  <a:srgbClr val="000000"/>
                </a:solidFill>
                <a:latin typeface="Roboto Bold"/>
                <a:ea typeface="Roboto Bold"/>
                <a:cs typeface="Roboto Bold"/>
                <a:sym typeface="Roboto Bold"/>
              </a:rPr>
              <a:t>Công thức:</a:t>
            </a:r>
            <a:r>
              <a:rPr lang="en-US" sz="3000">
                <a:solidFill>
                  <a:srgbClr val="000000"/>
                </a:solidFill>
                <a:latin typeface="Roboto"/>
                <a:ea typeface="Roboto"/>
                <a:cs typeface="Roboto"/>
                <a:sym typeface="Roboto"/>
              </a:rPr>
              <a:t> TDEE = BMR × Activity_Factor</a:t>
            </a:r>
          </a:p>
          <a:p>
            <a:pPr algn="l">
              <a:lnSpc>
                <a:spcPts val="4320"/>
              </a:lnSpc>
            </a:pPr>
            <a:r>
              <a:rPr lang="en-US" sz="3000">
                <a:solidFill>
                  <a:srgbClr val="1B4290"/>
                </a:solidFill>
                <a:latin typeface="Roboto"/>
                <a:ea typeface="Roboto"/>
                <a:cs typeface="Roboto"/>
                <a:sym typeface="Roboto"/>
              </a:rPr>
              <a:t>💪 </a:t>
            </a:r>
            <a:r>
              <a:rPr lang="en-US" b="true" sz="3000">
                <a:solidFill>
                  <a:srgbClr val="1B4290"/>
                </a:solidFill>
                <a:latin typeface="Roboto Bold"/>
                <a:ea typeface="Roboto Bold"/>
                <a:cs typeface="Roboto Bold"/>
                <a:sym typeface="Roboto Bold"/>
              </a:rPr>
              <a:t>LBM (Lean Body Mass)</a:t>
            </a:r>
          </a:p>
          <a:p>
            <a:pPr algn="l" marL="647700" indent="-323850" lvl="1">
              <a:lnSpc>
                <a:spcPts val="4320"/>
              </a:lnSpc>
              <a:buFont typeface="Arial"/>
              <a:buChar char="•"/>
            </a:pPr>
            <a:r>
              <a:rPr lang="en-US" b="true" sz="3000">
                <a:solidFill>
                  <a:srgbClr val="000000"/>
                </a:solidFill>
                <a:latin typeface="Roboto Bold"/>
                <a:ea typeface="Roboto Bold"/>
                <a:cs typeface="Roboto Bold"/>
                <a:sym typeface="Roboto Bold"/>
              </a:rPr>
              <a:t>Nam:</a:t>
            </a:r>
            <a:r>
              <a:rPr lang="en-US" sz="3000">
                <a:solidFill>
                  <a:srgbClr val="000000"/>
                </a:solidFill>
                <a:latin typeface="Roboto"/>
                <a:ea typeface="Roboto"/>
                <a:cs typeface="Roboto"/>
                <a:sym typeface="Roboto"/>
              </a:rPr>
              <a:t> LBM = (0.32810 × W) + (0.33929 × H) - 29.5336</a:t>
            </a:r>
          </a:p>
          <a:p>
            <a:pPr algn="l" marL="647700" indent="-323850" lvl="1">
              <a:lnSpc>
                <a:spcPts val="4320"/>
              </a:lnSpc>
              <a:buFont typeface="Arial"/>
              <a:buChar char="•"/>
            </a:pPr>
            <a:r>
              <a:rPr lang="en-US" b="true" sz="3000">
                <a:solidFill>
                  <a:srgbClr val="000000"/>
                </a:solidFill>
                <a:latin typeface="Roboto Bold"/>
                <a:ea typeface="Roboto Bold"/>
                <a:cs typeface="Roboto Bold"/>
                <a:sym typeface="Roboto Bold"/>
              </a:rPr>
              <a:t>Nữ:</a:t>
            </a:r>
            <a:r>
              <a:rPr lang="en-US" sz="3000">
                <a:solidFill>
                  <a:srgbClr val="000000"/>
                </a:solidFill>
                <a:latin typeface="Roboto"/>
                <a:ea typeface="Roboto"/>
                <a:cs typeface="Roboto"/>
                <a:sym typeface="Roboto"/>
              </a:rPr>
              <a:t> LBM = (0.29569 × W) + (0.41813 × H) - 43.2933</a:t>
            </a:r>
          </a:p>
          <a:p>
            <a:pPr algn="l">
              <a:lnSpc>
                <a:spcPts val="4320"/>
              </a:lnSpc>
            </a:pPr>
            <a:r>
              <a:rPr lang="en-US" sz="3000">
                <a:solidFill>
                  <a:srgbClr val="1B4290"/>
                </a:solidFill>
                <a:latin typeface="Roboto"/>
                <a:ea typeface="Roboto"/>
                <a:cs typeface="Roboto"/>
                <a:sym typeface="Roboto"/>
              </a:rPr>
              <a:t>💧 </a:t>
            </a:r>
            <a:r>
              <a:rPr lang="en-US" b="true" sz="3000">
                <a:solidFill>
                  <a:srgbClr val="1B4290"/>
                </a:solidFill>
                <a:latin typeface="Roboto Bold"/>
                <a:ea typeface="Roboto Bold"/>
                <a:cs typeface="Roboto Bold"/>
                <a:sym typeface="Roboto Bold"/>
              </a:rPr>
              <a:t>Tỷ lệ nước cơ thể (Water Percentage)</a:t>
            </a:r>
          </a:p>
          <a:p>
            <a:pPr algn="l" marL="647700" indent="-323850" lvl="1">
              <a:lnSpc>
                <a:spcPts val="4320"/>
              </a:lnSpc>
              <a:buFont typeface="Arial"/>
              <a:buChar char="•"/>
            </a:pPr>
            <a:r>
              <a:rPr lang="en-US" b="true" sz="3000">
                <a:solidFill>
                  <a:srgbClr val="000000"/>
                </a:solidFill>
                <a:latin typeface="Roboto Bold"/>
                <a:ea typeface="Roboto Bold"/>
                <a:cs typeface="Roboto Bold"/>
                <a:sym typeface="Roboto Bold"/>
              </a:rPr>
              <a:t>Công thức:</a:t>
            </a:r>
            <a:r>
              <a:rPr lang="en-US" sz="3000">
                <a:solidFill>
                  <a:srgbClr val="000000"/>
                </a:solidFill>
                <a:latin typeface="Roboto"/>
                <a:ea typeface="Roboto"/>
                <a:cs typeface="Roboto"/>
                <a:sym typeface="Roboto"/>
              </a:rPr>
              <a:t> Water% = (100 - Fat%) × 0.7</a:t>
            </a:r>
          </a:p>
          <a:p>
            <a:pPr algn="l" marL="647700" indent="-323850" lvl="1">
              <a:lnSpc>
                <a:spcPts val="4320"/>
              </a:lnSpc>
              <a:spcBef>
                <a:spcPct val="0"/>
              </a:spcBef>
              <a:buFont typeface="Arial"/>
              <a:buChar char="•"/>
            </a:pPr>
            <a:r>
              <a:rPr lang="en-US" b="true" sz="3000">
                <a:solidFill>
                  <a:srgbClr val="000000"/>
                </a:solidFill>
                <a:latin typeface="Roboto Bold"/>
                <a:ea typeface="Roboto Bold"/>
                <a:cs typeface="Roboto Bold"/>
                <a:sym typeface="Roboto Bold"/>
              </a:rPr>
              <a:t>Điều chỉnh:</a:t>
            </a:r>
            <a:r>
              <a:rPr lang="en-US" sz="3000">
                <a:solidFill>
                  <a:srgbClr val="000000"/>
                </a:solidFill>
                <a:latin typeface="Roboto"/>
                <a:ea typeface="Roboto"/>
                <a:cs typeface="Roboto"/>
                <a:sym typeface="Roboto"/>
              </a:rPr>
              <a:t> Hệ số 1.02 hoặc 0.98 tùy theo giá trị</a:t>
            </a:r>
          </a:p>
        </p:txBody>
      </p:sp>
      <p:sp>
        <p:nvSpPr>
          <p:cNvPr name="TextBox 7" id="7"/>
          <p:cNvSpPr txBox="true"/>
          <p:nvPr/>
        </p:nvSpPr>
        <p:spPr>
          <a:xfrm rot="0">
            <a:off x="16521410" y="9684397"/>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17 of 37</a:t>
            </a:r>
          </a:p>
        </p:txBody>
      </p:sp>
    </p:spTree>
  </p:cSld>
  <p:clrMapOvr>
    <a:masterClrMapping/>
  </p:clrMapOvr>
  <p:transition spd="med">
    <p:push dir="l"/>
  </p:transition>
</p:sld>
</file>

<file path=ppt/slides/slide1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91467" y="421672"/>
            <a:ext cx="13747632" cy="1156452"/>
            <a:chOff x="0" y="0"/>
            <a:chExt cx="590680" cy="49720"/>
          </a:xfrm>
        </p:grpSpPr>
        <p:sp>
          <p:nvSpPr>
            <p:cNvPr name="Freeform 3" id="3"/>
            <p:cNvSpPr/>
            <p:nvPr/>
          </p:nvSpPr>
          <p:spPr>
            <a:xfrm flipH="false" flipV="false" rot="0">
              <a:off x="0" y="0"/>
              <a:ext cx="590680" cy="49720"/>
            </a:xfrm>
            <a:custGeom>
              <a:avLst/>
              <a:gdLst/>
              <a:ahLst/>
              <a:cxnLst/>
              <a:rect r="r" b="b" t="t" l="l"/>
              <a:pathLst>
                <a:path h="49720" w="590680">
                  <a:moveTo>
                    <a:pt x="590680" y="24860"/>
                  </a:moveTo>
                  <a:lnTo>
                    <a:pt x="590680" y="24860"/>
                  </a:lnTo>
                  <a:cubicBezTo>
                    <a:pt x="590680" y="38590"/>
                    <a:pt x="579550" y="49720"/>
                    <a:pt x="565820" y="49720"/>
                  </a:cubicBezTo>
                  <a:lnTo>
                    <a:pt x="24860" y="49720"/>
                  </a:lnTo>
                  <a:cubicBezTo>
                    <a:pt x="18267" y="49720"/>
                    <a:pt x="11944" y="47101"/>
                    <a:pt x="7281" y="42439"/>
                  </a:cubicBezTo>
                  <a:cubicBezTo>
                    <a:pt x="2619" y="37777"/>
                    <a:pt x="0" y="31453"/>
                    <a:pt x="0" y="24860"/>
                  </a:cubicBezTo>
                  <a:lnTo>
                    <a:pt x="0" y="24860"/>
                  </a:lnTo>
                  <a:cubicBezTo>
                    <a:pt x="0" y="18267"/>
                    <a:pt x="2619" y="11944"/>
                    <a:pt x="7281" y="7281"/>
                  </a:cubicBezTo>
                  <a:cubicBezTo>
                    <a:pt x="11944" y="2619"/>
                    <a:pt x="18267" y="0"/>
                    <a:pt x="24860" y="0"/>
                  </a:cubicBezTo>
                  <a:lnTo>
                    <a:pt x="565820" y="0"/>
                  </a:lnTo>
                  <a:cubicBezTo>
                    <a:pt x="572413" y="0"/>
                    <a:pt x="578736" y="2619"/>
                    <a:pt x="583399" y="7281"/>
                  </a:cubicBezTo>
                  <a:cubicBezTo>
                    <a:pt x="588061" y="11944"/>
                    <a:pt x="590680" y="18267"/>
                    <a:pt x="590680" y="24860"/>
                  </a:cubicBezTo>
                  <a:close/>
                </a:path>
              </a:pathLst>
            </a:custGeom>
            <a:solidFill>
              <a:srgbClr val="002699"/>
            </a:solidFill>
            <a:ln cap="rnd">
              <a:noFill/>
              <a:prstDash val="solid"/>
              <a:round/>
            </a:ln>
          </p:spPr>
        </p:sp>
        <p:sp>
          <p:nvSpPr>
            <p:cNvPr name="TextBox 4" id="4"/>
            <p:cNvSpPr txBox="true"/>
            <p:nvPr/>
          </p:nvSpPr>
          <p:spPr>
            <a:xfrm>
              <a:off x="0" y="-47625"/>
              <a:ext cx="590680" cy="97345"/>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583038" y="638175"/>
            <a:ext cx="11746702" cy="771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4.2 CÁC THÔNG SỐ NỘI SUY</a:t>
            </a:r>
          </a:p>
        </p:txBody>
      </p:sp>
      <p:sp>
        <p:nvSpPr>
          <p:cNvPr name="TextBox 6" id="6"/>
          <p:cNvSpPr txBox="true"/>
          <p:nvPr/>
        </p:nvSpPr>
        <p:spPr>
          <a:xfrm rot="0">
            <a:off x="16521410" y="9684397"/>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18 of 37</a:t>
            </a:r>
          </a:p>
        </p:txBody>
      </p:sp>
      <p:sp>
        <p:nvSpPr>
          <p:cNvPr name="TextBox 7" id="7"/>
          <p:cNvSpPr txBox="true"/>
          <p:nvPr/>
        </p:nvSpPr>
        <p:spPr>
          <a:xfrm rot="0">
            <a:off x="1028700" y="1654441"/>
            <a:ext cx="11938620" cy="8112633"/>
          </a:xfrm>
          <a:prstGeom prst="rect">
            <a:avLst/>
          </a:prstGeom>
        </p:spPr>
        <p:txBody>
          <a:bodyPr anchor="t" rtlCol="false" tIns="0" lIns="0" bIns="0" rIns="0">
            <a:spAutoFit/>
          </a:bodyPr>
          <a:lstStyle/>
          <a:p>
            <a:pPr algn="l">
              <a:lnSpc>
                <a:spcPts val="4320"/>
              </a:lnSpc>
            </a:pPr>
            <a:r>
              <a:rPr lang="en-US" sz="3000" b="true">
                <a:solidFill>
                  <a:srgbClr val="1B4290"/>
                </a:solidFill>
                <a:latin typeface="Roboto Bold"/>
                <a:ea typeface="Roboto Bold"/>
                <a:cs typeface="Roboto Bold"/>
                <a:sym typeface="Roboto Bold"/>
              </a:rPr>
              <a:t>🦴 Khối lượng xương (B</a:t>
            </a:r>
            <a:r>
              <a:rPr lang="en-US" b="true" sz="3000">
                <a:solidFill>
                  <a:srgbClr val="1B4290"/>
                </a:solidFill>
                <a:latin typeface="Roboto Bold"/>
                <a:ea typeface="Roboto Bold"/>
                <a:cs typeface="Roboto Bold"/>
                <a:sym typeface="Roboto Bold"/>
              </a:rPr>
              <a:t>one Mass)</a:t>
            </a:r>
          </a:p>
          <a:p>
            <a:pPr algn="l" marL="604521" indent="-302261" lvl="1">
              <a:lnSpc>
                <a:spcPts val="4032"/>
              </a:lnSpc>
              <a:buFont typeface="Arial"/>
              <a:buChar char="•"/>
            </a:pPr>
            <a:r>
              <a:rPr lang="en-US" b="true" sz="2800">
                <a:solidFill>
                  <a:srgbClr val="000000"/>
                </a:solidFill>
                <a:latin typeface="Roboto Bold"/>
                <a:ea typeface="Roboto Bold"/>
                <a:cs typeface="Roboto Bold"/>
                <a:sym typeface="Roboto Bold"/>
              </a:rPr>
              <a:t>Công thức:</a:t>
            </a:r>
            <a:r>
              <a:rPr lang="en-US" sz="2800">
                <a:solidFill>
                  <a:srgbClr val="000000"/>
                </a:solidFill>
                <a:latin typeface="Roboto"/>
                <a:ea typeface="Roboto"/>
                <a:cs typeface="Roboto"/>
                <a:sym typeface="Roboto"/>
              </a:rPr>
              <a:t> Bone_Mass = (base - (LBM × 0.05158)) × (-1)</a:t>
            </a:r>
          </a:p>
          <a:p>
            <a:pPr algn="l" marL="604521" indent="-302261" lvl="1">
              <a:lnSpc>
                <a:spcPts val="4032"/>
              </a:lnSpc>
              <a:buFont typeface="Arial"/>
              <a:buChar char="•"/>
            </a:pPr>
            <a:r>
              <a:rPr lang="en-US" b="true" sz="2800">
                <a:solidFill>
                  <a:srgbClr val="000000"/>
                </a:solidFill>
                <a:latin typeface="Roboto Bold"/>
                <a:ea typeface="Roboto Bold"/>
                <a:cs typeface="Roboto Bold"/>
                <a:sym typeface="Roboto Bold"/>
              </a:rPr>
              <a:t>Hệ số cơ sở:</a:t>
            </a:r>
            <a:r>
              <a:rPr lang="en-US" sz="2800">
                <a:solidFill>
                  <a:srgbClr val="000000"/>
                </a:solidFill>
                <a:latin typeface="Roboto"/>
                <a:ea typeface="Roboto"/>
                <a:cs typeface="Roboto"/>
                <a:sym typeface="Roboto"/>
              </a:rPr>
              <a:t> Nam: 0.18016894, Nữ: 0.245691014</a:t>
            </a:r>
          </a:p>
          <a:p>
            <a:pPr algn="l">
              <a:lnSpc>
                <a:spcPts val="4032"/>
              </a:lnSpc>
            </a:pPr>
            <a:r>
              <a:rPr lang="en-US" sz="2800">
                <a:solidFill>
                  <a:srgbClr val="1B4290"/>
                </a:solidFill>
                <a:latin typeface="Roboto"/>
                <a:ea typeface="Roboto"/>
                <a:cs typeface="Roboto"/>
                <a:sym typeface="Roboto"/>
              </a:rPr>
              <a:t>💪 </a:t>
            </a:r>
            <a:r>
              <a:rPr lang="en-US" b="true" sz="2800">
                <a:solidFill>
                  <a:srgbClr val="1B4290"/>
                </a:solidFill>
                <a:latin typeface="Roboto Bold"/>
                <a:ea typeface="Roboto Bold"/>
                <a:cs typeface="Roboto Bold"/>
                <a:sym typeface="Roboto Bold"/>
              </a:rPr>
              <a:t>Khối lượng</a:t>
            </a:r>
            <a:r>
              <a:rPr lang="en-US" b="true" sz="2800">
                <a:solidFill>
                  <a:srgbClr val="1B4290"/>
                </a:solidFill>
                <a:latin typeface="Roboto Bold"/>
                <a:ea typeface="Roboto Bold"/>
                <a:cs typeface="Roboto Bold"/>
                <a:sym typeface="Roboto Bold"/>
              </a:rPr>
              <a:t> cơ (Muscle Mass)</a:t>
            </a:r>
          </a:p>
          <a:p>
            <a:pPr algn="l" marL="604521" indent="-302261" lvl="1">
              <a:lnSpc>
                <a:spcPts val="4032"/>
              </a:lnSpc>
              <a:buFont typeface="Arial"/>
              <a:buChar char="•"/>
            </a:pPr>
            <a:r>
              <a:rPr lang="en-US" b="true" sz="2800">
                <a:solidFill>
                  <a:srgbClr val="000000"/>
                </a:solidFill>
                <a:latin typeface="Roboto Bold"/>
                <a:ea typeface="Roboto Bold"/>
                <a:cs typeface="Roboto Bold"/>
                <a:sym typeface="Roboto Bold"/>
              </a:rPr>
              <a:t>Công thức: </a:t>
            </a:r>
            <a:r>
              <a:rPr lang="en-US" sz="2800">
                <a:solidFill>
                  <a:srgbClr val="000000"/>
                </a:solidFill>
                <a:latin typeface="Roboto"/>
                <a:ea typeface="Roboto"/>
                <a:cs typeface="Roboto"/>
                <a:sym typeface="Roboto"/>
              </a:rPr>
              <a:t>Muscle_Mass = W - ((Fat% × 0.01) × W) - Bone_Mass</a:t>
            </a:r>
          </a:p>
          <a:p>
            <a:pPr algn="l">
              <a:lnSpc>
                <a:spcPts val="4032"/>
              </a:lnSpc>
            </a:pPr>
            <a:r>
              <a:rPr lang="en-US" sz="2800">
                <a:solidFill>
                  <a:srgbClr val="1B4290"/>
                </a:solidFill>
                <a:latin typeface="Roboto"/>
                <a:ea typeface="Roboto"/>
                <a:cs typeface="Roboto"/>
                <a:sym typeface="Roboto"/>
              </a:rPr>
              <a:t>🧬 </a:t>
            </a:r>
            <a:r>
              <a:rPr lang="en-US" b="true" sz="2800">
                <a:solidFill>
                  <a:srgbClr val="1B4290"/>
                </a:solidFill>
                <a:latin typeface="Roboto Bold"/>
                <a:ea typeface="Roboto Bold"/>
                <a:cs typeface="Roboto Bold"/>
                <a:sym typeface="Roboto Bold"/>
              </a:rPr>
              <a:t>Tỷ lệ protein (Protein Percentage)</a:t>
            </a:r>
          </a:p>
          <a:p>
            <a:pPr algn="l" marL="604521" indent="-302261" lvl="1">
              <a:lnSpc>
                <a:spcPts val="4032"/>
              </a:lnSpc>
              <a:buFont typeface="Arial"/>
              <a:buChar char="•"/>
            </a:pPr>
            <a:r>
              <a:rPr lang="en-US" b="true" sz="2800">
                <a:solidFill>
                  <a:srgbClr val="000000"/>
                </a:solidFill>
                <a:latin typeface="Roboto Bold"/>
                <a:ea typeface="Roboto Bold"/>
                <a:cs typeface="Roboto Bold"/>
                <a:sym typeface="Roboto Bold"/>
              </a:rPr>
              <a:t>Công thức:</a:t>
            </a:r>
            <a:r>
              <a:rPr lang="en-US" sz="2800">
                <a:solidFill>
                  <a:srgbClr val="000000"/>
                </a:solidFill>
                <a:latin typeface="Roboto"/>
                <a:ea typeface="Roboto"/>
                <a:cs typeface="Roboto"/>
                <a:sym typeface="Roboto"/>
              </a:rPr>
              <a:t> Protein% = (Muscle_Mass / W) × 100 - Water%</a:t>
            </a:r>
          </a:p>
          <a:p>
            <a:pPr algn="l">
              <a:lnSpc>
                <a:spcPts val="4032"/>
              </a:lnSpc>
            </a:pPr>
            <a:r>
              <a:rPr lang="en-US" sz="2800">
                <a:solidFill>
                  <a:srgbClr val="1B4290"/>
                </a:solidFill>
                <a:latin typeface="Roboto"/>
                <a:ea typeface="Roboto"/>
                <a:cs typeface="Roboto"/>
                <a:sym typeface="Roboto"/>
              </a:rPr>
              <a:t>⚠️ </a:t>
            </a:r>
            <a:r>
              <a:rPr lang="en-US" b="true" sz="2800">
                <a:solidFill>
                  <a:srgbClr val="1B4290"/>
                </a:solidFill>
                <a:latin typeface="Roboto Bold"/>
                <a:ea typeface="Roboto Bold"/>
                <a:cs typeface="Roboto Bold"/>
                <a:sym typeface="Roboto Bold"/>
              </a:rPr>
              <a:t>Mỡ nội tạng (Visceral Fat)</a:t>
            </a:r>
          </a:p>
          <a:p>
            <a:pPr algn="l" marL="604521" indent="-302261" lvl="1">
              <a:lnSpc>
                <a:spcPts val="4032"/>
              </a:lnSpc>
              <a:buFont typeface="Arial"/>
              <a:buChar char="•"/>
            </a:pPr>
            <a:r>
              <a:rPr lang="en-US" sz="2800">
                <a:solidFill>
                  <a:srgbClr val="000000"/>
                </a:solidFill>
                <a:latin typeface="Roboto"/>
                <a:ea typeface="Roboto"/>
                <a:cs typeface="Roboto"/>
                <a:sym typeface="Roboto"/>
              </a:rPr>
              <a:t>Công thức phức tạp dự</a:t>
            </a:r>
            <a:r>
              <a:rPr lang="en-US" sz="2800">
                <a:solidFill>
                  <a:srgbClr val="000000"/>
                </a:solidFill>
                <a:latin typeface="Roboto"/>
                <a:ea typeface="Roboto"/>
                <a:cs typeface="Roboto"/>
                <a:sym typeface="Roboto"/>
              </a:rPr>
              <a:t>a trên tỷ lệ chiều cao/cân nặng và tuổi</a:t>
            </a:r>
          </a:p>
          <a:p>
            <a:pPr algn="l" marL="604521" indent="-302261" lvl="1">
              <a:lnSpc>
                <a:spcPts val="4032"/>
              </a:lnSpc>
              <a:buFont typeface="Arial"/>
              <a:buChar char="•"/>
            </a:pPr>
            <a:r>
              <a:rPr lang="en-US" sz="2800">
                <a:solidFill>
                  <a:srgbClr val="000000"/>
                </a:solidFill>
                <a:latin typeface="Roboto"/>
                <a:ea typeface="Roboto"/>
                <a:cs typeface="Roboto"/>
                <a:sym typeface="Roboto"/>
              </a:rPr>
              <a:t>2 trường hợp: H &lt; W × 1.6 và H ≥ W × 1.6</a:t>
            </a:r>
          </a:p>
          <a:p>
            <a:pPr algn="l">
              <a:lnSpc>
                <a:spcPts val="4032"/>
              </a:lnSpc>
            </a:pPr>
            <a:r>
              <a:rPr lang="en-US" sz="2800">
                <a:solidFill>
                  <a:srgbClr val="1B4290"/>
                </a:solidFill>
                <a:latin typeface="Roboto"/>
                <a:ea typeface="Roboto"/>
                <a:cs typeface="Roboto"/>
                <a:sym typeface="Roboto"/>
              </a:rPr>
              <a:t>🎯 </a:t>
            </a:r>
            <a:r>
              <a:rPr lang="en-US" b="true" sz="2800">
                <a:solidFill>
                  <a:srgbClr val="1B4290"/>
                </a:solidFill>
                <a:latin typeface="Roboto Bold"/>
                <a:ea typeface="Roboto Bold"/>
                <a:cs typeface="Roboto Bold"/>
                <a:sym typeface="Roboto Bold"/>
              </a:rPr>
              <a:t>Cân nặng lý tưởng</a:t>
            </a:r>
            <a:r>
              <a:rPr lang="en-US" b="true" sz="2800">
                <a:solidFill>
                  <a:srgbClr val="1B4290"/>
                </a:solidFill>
                <a:latin typeface="Roboto Bold"/>
                <a:ea typeface="Roboto Bold"/>
                <a:cs typeface="Roboto Bold"/>
                <a:sym typeface="Roboto Bold"/>
              </a:rPr>
              <a:t> (Ideal Weight)</a:t>
            </a:r>
          </a:p>
          <a:p>
            <a:pPr algn="l" marL="604521" indent="-302261" lvl="1">
              <a:lnSpc>
                <a:spcPts val="4032"/>
              </a:lnSpc>
              <a:buFont typeface="Arial"/>
              <a:buChar char="•"/>
            </a:pPr>
            <a:r>
              <a:rPr lang="en-US" b="true" sz="2800">
                <a:solidFill>
                  <a:srgbClr val="000000"/>
                </a:solidFill>
                <a:latin typeface="Roboto Bold"/>
                <a:ea typeface="Roboto Bold"/>
                <a:cs typeface="Roboto Bold"/>
                <a:sym typeface="Roboto Bold"/>
              </a:rPr>
              <a:t>Phương pháp 1: </a:t>
            </a:r>
            <a:r>
              <a:rPr lang="en-US" sz="2800">
                <a:solidFill>
                  <a:srgbClr val="000000"/>
                </a:solidFill>
                <a:latin typeface="Roboto"/>
                <a:ea typeface="Roboto"/>
                <a:cs typeface="Roboto"/>
                <a:sym typeface="Roboto"/>
              </a:rPr>
              <a:t>Dựa trên chiều cao</a:t>
            </a:r>
          </a:p>
          <a:p>
            <a:pPr algn="l" marL="604521" indent="-302261" lvl="1">
              <a:lnSpc>
                <a:spcPts val="4032"/>
              </a:lnSpc>
              <a:buFont typeface="Arial"/>
              <a:buChar char="•"/>
            </a:pPr>
            <a:r>
              <a:rPr lang="en-US" b="true" sz="2800">
                <a:solidFill>
                  <a:srgbClr val="000000"/>
                </a:solidFill>
                <a:latin typeface="Roboto Bold"/>
                <a:ea typeface="Roboto Bold"/>
                <a:cs typeface="Roboto Bold"/>
                <a:sym typeface="Roboto Bold"/>
              </a:rPr>
              <a:t>Phươ</a:t>
            </a:r>
            <a:r>
              <a:rPr lang="en-US" b="true" sz="2800">
                <a:solidFill>
                  <a:srgbClr val="000000"/>
                </a:solidFill>
                <a:latin typeface="Roboto Bold"/>
                <a:ea typeface="Roboto Bold"/>
                <a:cs typeface="Roboto Bold"/>
                <a:sym typeface="Roboto Bold"/>
              </a:rPr>
              <a:t>ng pháp 2: </a:t>
            </a:r>
            <a:r>
              <a:rPr lang="en-US" sz="2800">
                <a:solidFill>
                  <a:srgbClr val="000000"/>
                </a:solidFill>
                <a:latin typeface="Roboto"/>
                <a:ea typeface="Roboto"/>
                <a:cs typeface="Roboto"/>
                <a:sym typeface="Roboto"/>
              </a:rPr>
              <a:t>Ideal_Weight = (22 × H) × H / 10000</a:t>
            </a:r>
          </a:p>
          <a:p>
            <a:pPr algn="l">
              <a:lnSpc>
                <a:spcPts val="4032"/>
              </a:lnSpc>
            </a:pPr>
            <a:r>
              <a:rPr lang="en-US" sz="2800">
                <a:solidFill>
                  <a:srgbClr val="1B4290"/>
                </a:solidFill>
                <a:latin typeface="Roboto"/>
                <a:ea typeface="Roboto"/>
                <a:cs typeface="Roboto"/>
                <a:sym typeface="Roboto"/>
              </a:rPr>
              <a:t>⏱️ </a:t>
            </a:r>
            <a:r>
              <a:rPr lang="en-US" b="true" sz="2800">
                <a:solidFill>
                  <a:srgbClr val="1B4290"/>
                </a:solidFill>
                <a:latin typeface="Roboto Bold"/>
                <a:ea typeface="Roboto Bold"/>
                <a:cs typeface="Roboto Bold"/>
                <a:sym typeface="Roboto Bold"/>
              </a:rPr>
              <a:t>Thời gian thăng bằng (One Leg Stand)</a:t>
            </a:r>
          </a:p>
          <a:p>
            <a:pPr algn="l" marL="604521" indent="-302261" lvl="1">
              <a:lnSpc>
                <a:spcPts val="4032"/>
              </a:lnSpc>
              <a:buFont typeface="Arial"/>
              <a:buChar char="•"/>
            </a:pPr>
            <a:r>
              <a:rPr lang="en-US" b="true" sz="2800">
                <a:solidFill>
                  <a:srgbClr val="000000"/>
                </a:solidFill>
                <a:latin typeface="Roboto Bold"/>
                <a:ea typeface="Roboto Bold"/>
                <a:cs typeface="Roboto Bold"/>
                <a:sym typeface="Roboto Bold"/>
              </a:rPr>
              <a:t>Phương pháp: </a:t>
            </a:r>
            <a:r>
              <a:rPr lang="en-US" sz="2800">
                <a:solidFill>
                  <a:srgbClr val="000000"/>
                </a:solidFill>
                <a:latin typeface="Roboto"/>
                <a:ea typeface="Roboto"/>
                <a:cs typeface="Roboto"/>
                <a:sym typeface="Roboto"/>
              </a:rPr>
              <a:t>Sử dụng camera và MediaPipe Pose</a:t>
            </a:r>
          </a:p>
          <a:p>
            <a:pPr algn="l" marL="604521" indent="-302261" lvl="1">
              <a:lnSpc>
                <a:spcPts val="4032"/>
              </a:lnSpc>
              <a:spcBef>
                <a:spcPct val="0"/>
              </a:spcBef>
              <a:buFont typeface="Arial"/>
              <a:buChar char="•"/>
            </a:pPr>
            <a:r>
              <a:rPr lang="en-US" b="true" sz="2800">
                <a:solidFill>
                  <a:srgbClr val="000000"/>
                </a:solidFill>
                <a:latin typeface="Roboto Bold"/>
                <a:ea typeface="Roboto Bold"/>
                <a:cs typeface="Roboto Bold"/>
                <a:sym typeface="Roboto Bold"/>
              </a:rPr>
              <a:t>Thuật toán: </a:t>
            </a:r>
            <a:r>
              <a:rPr lang="en-US" sz="2800">
                <a:solidFill>
                  <a:srgbClr val="000000"/>
                </a:solidFill>
                <a:latin typeface="Roboto"/>
                <a:ea typeface="Roboto"/>
                <a:cs typeface="Roboto"/>
                <a:sym typeface="Roboto"/>
              </a:rPr>
              <a:t>Cosine similarity giữa tư thế đứng 1 chân và 2 chân</a:t>
            </a:r>
          </a:p>
        </p:txBody>
      </p:sp>
    </p:spTree>
  </p:cSld>
  <p:clrMapOvr>
    <a:masterClrMapping/>
  </p:clrMapOvr>
  <p:transition spd="med">
    <p:push dir="l"/>
  </p:transition>
</p:sld>
</file>

<file path=ppt/slides/slide1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91467" y="421672"/>
            <a:ext cx="16496137" cy="1928908"/>
            <a:chOff x="0" y="0"/>
            <a:chExt cx="708772" cy="82931"/>
          </a:xfrm>
        </p:grpSpPr>
        <p:sp>
          <p:nvSpPr>
            <p:cNvPr name="Freeform 3" id="3"/>
            <p:cNvSpPr/>
            <p:nvPr/>
          </p:nvSpPr>
          <p:spPr>
            <a:xfrm flipH="false" flipV="false" rot="0">
              <a:off x="0" y="0"/>
              <a:ext cx="708772" cy="82931"/>
            </a:xfrm>
            <a:custGeom>
              <a:avLst/>
              <a:gdLst/>
              <a:ahLst/>
              <a:cxnLst/>
              <a:rect r="r" b="b" t="t" l="l"/>
              <a:pathLst>
                <a:path h="82931" w="708772">
                  <a:moveTo>
                    <a:pt x="708772" y="41466"/>
                  </a:moveTo>
                  <a:lnTo>
                    <a:pt x="708772" y="41466"/>
                  </a:lnTo>
                  <a:cubicBezTo>
                    <a:pt x="708772" y="52463"/>
                    <a:pt x="704404" y="63010"/>
                    <a:pt x="696627" y="70786"/>
                  </a:cubicBezTo>
                  <a:cubicBezTo>
                    <a:pt x="688851" y="78562"/>
                    <a:pt x="678304" y="82931"/>
                    <a:pt x="667307" y="82931"/>
                  </a:cubicBezTo>
                  <a:lnTo>
                    <a:pt x="41466" y="82931"/>
                  </a:lnTo>
                  <a:cubicBezTo>
                    <a:pt x="30468" y="82931"/>
                    <a:pt x="19921" y="78562"/>
                    <a:pt x="12145" y="70786"/>
                  </a:cubicBezTo>
                  <a:cubicBezTo>
                    <a:pt x="4369" y="63010"/>
                    <a:pt x="0" y="52463"/>
                    <a:pt x="0" y="41466"/>
                  </a:cubicBezTo>
                  <a:lnTo>
                    <a:pt x="0" y="41466"/>
                  </a:lnTo>
                  <a:cubicBezTo>
                    <a:pt x="0" y="30468"/>
                    <a:pt x="4369" y="19921"/>
                    <a:pt x="12145" y="12145"/>
                  </a:cubicBezTo>
                  <a:cubicBezTo>
                    <a:pt x="19921" y="4369"/>
                    <a:pt x="30468" y="0"/>
                    <a:pt x="41466" y="0"/>
                  </a:cubicBezTo>
                  <a:lnTo>
                    <a:pt x="667307" y="0"/>
                  </a:lnTo>
                  <a:cubicBezTo>
                    <a:pt x="678304" y="0"/>
                    <a:pt x="688851" y="4369"/>
                    <a:pt x="696627" y="12145"/>
                  </a:cubicBezTo>
                  <a:cubicBezTo>
                    <a:pt x="704404" y="19921"/>
                    <a:pt x="708772" y="30468"/>
                    <a:pt x="708772" y="41466"/>
                  </a:cubicBezTo>
                  <a:close/>
                </a:path>
              </a:pathLst>
            </a:custGeom>
            <a:solidFill>
              <a:srgbClr val="002699"/>
            </a:solidFill>
            <a:ln cap="rnd">
              <a:noFill/>
              <a:prstDash val="solid"/>
              <a:round/>
            </a:ln>
          </p:spPr>
        </p:sp>
        <p:sp>
          <p:nvSpPr>
            <p:cNvPr name="TextBox 4" id="4"/>
            <p:cNvSpPr txBox="true"/>
            <p:nvPr/>
          </p:nvSpPr>
          <p:spPr>
            <a:xfrm>
              <a:off x="0" y="-47625"/>
              <a:ext cx="708772" cy="130556"/>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1197883" y="638175"/>
            <a:ext cx="14665425" cy="1533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4.3 THÔNG SỐ SỬ DỤNG MACHINE LEARNING ĐỂ DỰ ĐOÁN</a:t>
            </a:r>
          </a:p>
        </p:txBody>
      </p:sp>
      <p:grpSp>
        <p:nvGrpSpPr>
          <p:cNvPr name="Group 6" id="6"/>
          <p:cNvGrpSpPr/>
          <p:nvPr/>
        </p:nvGrpSpPr>
        <p:grpSpPr>
          <a:xfrm rot="0">
            <a:off x="1028700" y="4029147"/>
            <a:ext cx="7142586" cy="1202420"/>
            <a:chOff x="0" y="0"/>
            <a:chExt cx="1881175" cy="316687"/>
          </a:xfrm>
        </p:grpSpPr>
        <p:sp>
          <p:nvSpPr>
            <p:cNvPr name="Freeform 7" id="7"/>
            <p:cNvSpPr/>
            <p:nvPr/>
          </p:nvSpPr>
          <p:spPr>
            <a:xfrm flipH="false" flipV="false" rot="0">
              <a:off x="0" y="0"/>
              <a:ext cx="1881175" cy="316687"/>
            </a:xfrm>
            <a:custGeom>
              <a:avLst/>
              <a:gdLst/>
              <a:ahLst/>
              <a:cxnLst/>
              <a:rect r="r" b="b" t="t" l="l"/>
              <a:pathLst>
                <a:path h="316687" w="1881175">
                  <a:moveTo>
                    <a:pt x="32517" y="0"/>
                  </a:moveTo>
                  <a:lnTo>
                    <a:pt x="1848658" y="0"/>
                  </a:lnTo>
                  <a:cubicBezTo>
                    <a:pt x="1857282" y="0"/>
                    <a:pt x="1865553" y="3426"/>
                    <a:pt x="1871651" y="9524"/>
                  </a:cubicBezTo>
                  <a:cubicBezTo>
                    <a:pt x="1877749" y="15622"/>
                    <a:pt x="1881175" y="23893"/>
                    <a:pt x="1881175" y="32517"/>
                  </a:cubicBezTo>
                  <a:lnTo>
                    <a:pt x="1881175" y="284169"/>
                  </a:lnTo>
                  <a:cubicBezTo>
                    <a:pt x="1881175" y="302128"/>
                    <a:pt x="1866617" y="316687"/>
                    <a:pt x="1848658" y="316687"/>
                  </a:cubicBezTo>
                  <a:lnTo>
                    <a:pt x="32517" y="316687"/>
                  </a:lnTo>
                  <a:cubicBezTo>
                    <a:pt x="23893" y="316687"/>
                    <a:pt x="15622" y="313261"/>
                    <a:pt x="9524" y="307163"/>
                  </a:cubicBezTo>
                  <a:cubicBezTo>
                    <a:pt x="3426" y="301064"/>
                    <a:pt x="0" y="292794"/>
                    <a:pt x="0" y="284169"/>
                  </a:cubicBezTo>
                  <a:lnTo>
                    <a:pt x="0" y="32517"/>
                  </a:lnTo>
                  <a:cubicBezTo>
                    <a:pt x="0" y="14558"/>
                    <a:pt x="14558" y="0"/>
                    <a:pt x="32517" y="0"/>
                  </a:cubicBezTo>
                  <a:close/>
                </a:path>
              </a:pathLst>
            </a:custGeom>
            <a:solidFill>
              <a:srgbClr val="E4F0F4"/>
            </a:solidFill>
          </p:spPr>
        </p:sp>
        <p:sp>
          <p:nvSpPr>
            <p:cNvPr name="TextBox 8" id="8"/>
            <p:cNvSpPr txBox="true"/>
            <p:nvPr/>
          </p:nvSpPr>
          <p:spPr>
            <a:xfrm>
              <a:off x="0" y="-123825"/>
              <a:ext cx="1881175" cy="440512"/>
            </a:xfrm>
            <a:prstGeom prst="rect">
              <a:avLst/>
            </a:prstGeom>
          </p:spPr>
          <p:txBody>
            <a:bodyPr anchor="ctr" rtlCol="false" tIns="127000" lIns="127000" bIns="127000" rIns="127000"/>
            <a:lstStyle/>
            <a:p>
              <a:pPr algn="just">
                <a:lnSpc>
                  <a:spcPts val="4249"/>
                </a:lnSpc>
              </a:pPr>
              <a:r>
                <a:rPr lang="en-US" sz="2499" b="true">
                  <a:solidFill>
                    <a:srgbClr val="1F4290"/>
                  </a:solidFill>
                  <a:latin typeface="Roboto Bold"/>
                  <a:ea typeface="Roboto Bold"/>
                  <a:cs typeface="Roboto Bold"/>
                  <a:sym typeface="Roboto Bold"/>
                </a:rPr>
                <a:t>📈 Thông số dự đoán</a:t>
              </a:r>
            </a:p>
            <a:p>
              <a:pPr algn="just">
                <a:lnSpc>
                  <a:spcPts val="4249"/>
                </a:lnSpc>
              </a:pPr>
              <a:r>
                <a:rPr lang="en-US" sz="2499">
                  <a:solidFill>
                    <a:srgbClr val="1B1C1D"/>
                  </a:solidFill>
                  <a:latin typeface="Roboto"/>
                  <a:ea typeface="Roboto"/>
                  <a:cs typeface="Roboto"/>
                  <a:sym typeface="Roboto"/>
                </a:rPr>
                <a:t>Tỷ lệ phần trăm mỡ cơ thể (Body Fat Percentage).</a:t>
              </a:r>
            </a:p>
          </p:txBody>
        </p:sp>
      </p:grpSp>
      <p:grpSp>
        <p:nvGrpSpPr>
          <p:cNvPr name="Group 9" id="9"/>
          <p:cNvGrpSpPr/>
          <p:nvPr/>
        </p:nvGrpSpPr>
        <p:grpSpPr>
          <a:xfrm rot="0">
            <a:off x="1028700" y="5596463"/>
            <a:ext cx="7142586" cy="1735820"/>
            <a:chOff x="0" y="0"/>
            <a:chExt cx="1881175" cy="457171"/>
          </a:xfrm>
        </p:grpSpPr>
        <p:sp>
          <p:nvSpPr>
            <p:cNvPr name="Freeform 10" id="10"/>
            <p:cNvSpPr/>
            <p:nvPr/>
          </p:nvSpPr>
          <p:spPr>
            <a:xfrm flipH="false" flipV="false" rot="0">
              <a:off x="0" y="0"/>
              <a:ext cx="1881175" cy="457171"/>
            </a:xfrm>
            <a:custGeom>
              <a:avLst/>
              <a:gdLst/>
              <a:ahLst/>
              <a:cxnLst/>
              <a:rect r="r" b="b" t="t" l="l"/>
              <a:pathLst>
                <a:path h="457171" w="1881175">
                  <a:moveTo>
                    <a:pt x="32517" y="0"/>
                  </a:moveTo>
                  <a:lnTo>
                    <a:pt x="1848658" y="0"/>
                  </a:lnTo>
                  <a:cubicBezTo>
                    <a:pt x="1857282" y="0"/>
                    <a:pt x="1865553" y="3426"/>
                    <a:pt x="1871651" y="9524"/>
                  </a:cubicBezTo>
                  <a:cubicBezTo>
                    <a:pt x="1877749" y="15622"/>
                    <a:pt x="1881175" y="23893"/>
                    <a:pt x="1881175" y="32517"/>
                  </a:cubicBezTo>
                  <a:lnTo>
                    <a:pt x="1881175" y="424653"/>
                  </a:lnTo>
                  <a:cubicBezTo>
                    <a:pt x="1881175" y="442612"/>
                    <a:pt x="1866617" y="457171"/>
                    <a:pt x="1848658" y="457171"/>
                  </a:cubicBezTo>
                  <a:lnTo>
                    <a:pt x="32517" y="457171"/>
                  </a:lnTo>
                  <a:cubicBezTo>
                    <a:pt x="23893" y="457171"/>
                    <a:pt x="15622" y="453745"/>
                    <a:pt x="9524" y="447647"/>
                  </a:cubicBezTo>
                  <a:cubicBezTo>
                    <a:pt x="3426" y="441548"/>
                    <a:pt x="0" y="433277"/>
                    <a:pt x="0" y="424653"/>
                  </a:cubicBezTo>
                  <a:lnTo>
                    <a:pt x="0" y="32517"/>
                  </a:lnTo>
                  <a:cubicBezTo>
                    <a:pt x="0" y="14558"/>
                    <a:pt x="14558" y="0"/>
                    <a:pt x="32517" y="0"/>
                  </a:cubicBezTo>
                  <a:close/>
                </a:path>
              </a:pathLst>
            </a:custGeom>
            <a:solidFill>
              <a:srgbClr val="E4F0F4"/>
            </a:solidFill>
          </p:spPr>
        </p:sp>
        <p:sp>
          <p:nvSpPr>
            <p:cNvPr name="TextBox 11" id="11"/>
            <p:cNvSpPr txBox="true"/>
            <p:nvPr/>
          </p:nvSpPr>
          <p:spPr>
            <a:xfrm>
              <a:off x="0" y="-123825"/>
              <a:ext cx="1881175" cy="580996"/>
            </a:xfrm>
            <a:prstGeom prst="rect">
              <a:avLst/>
            </a:prstGeom>
          </p:spPr>
          <p:txBody>
            <a:bodyPr anchor="ctr" rtlCol="false" tIns="127000" lIns="127000" bIns="127000" rIns="127000"/>
            <a:lstStyle/>
            <a:p>
              <a:pPr algn="just">
                <a:lnSpc>
                  <a:spcPts val="4249"/>
                </a:lnSpc>
              </a:pPr>
              <a:r>
                <a:rPr lang="en-US" sz="2499" b="true">
                  <a:solidFill>
                    <a:srgbClr val="1F4290"/>
                  </a:solidFill>
                  <a:latin typeface="Roboto Bold"/>
                  <a:ea typeface="Roboto Bold"/>
                  <a:cs typeface="Roboto Bold"/>
                  <a:sym typeface="Roboto Bold"/>
                </a:rPr>
                <a:t>🎯 Mục tiêu chính</a:t>
              </a:r>
            </a:p>
            <a:p>
              <a:pPr algn="just">
                <a:lnSpc>
                  <a:spcPts val="4249"/>
                </a:lnSpc>
              </a:pPr>
              <a:r>
                <a:rPr lang="en-US" sz="2499">
                  <a:solidFill>
                    <a:srgbClr val="1B1C1D"/>
                  </a:solidFill>
                  <a:latin typeface="Roboto"/>
                  <a:ea typeface="Roboto"/>
                  <a:cs typeface="Roboto"/>
                  <a:sym typeface="Roboto"/>
                </a:rPr>
                <a:t>Ước tính tỷ lệ mỡ bằng machine learning để giảm chi phí lắp đặt cảm biến.</a:t>
              </a:r>
            </a:p>
          </p:txBody>
        </p:sp>
      </p:grpSp>
      <p:grpSp>
        <p:nvGrpSpPr>
          <p:cNvPr name="Group 12" id="12"/>
          <p:cNvGrpSpPr/>
          <p:nvPr/>
        </p:nvGrpSpPr>
        <p:grpSpPr>
          <a:xfrm rot="0">
            <a:off x="1028700" y="7630503"/>
            <a:ext cx="7142586" cy="1202420"/>
            <a:chOff x="0" y="0"/>
            <a:chExt cx="1881175" cy="316687"/>
          </a:xfrm>
        </p:grpSpPr>
        <p:sp>
          <p:nvSpPr>
            <p:cNvPr name="Freeform 13" id="13"/>
            <p:cNvSpPr/>
            <p:nvPr/>
          </p:nvSpPr>
          <p:spPr>
            <a:xfrm flipH="false" flipV="false" rot="0">
              <a:off x="0" y="0"/>
              <a:ext cx="1881175" cy="316687"/>
            </a:xfrm>
            <a:custGeom>
              <a:avLst/>
              <a:gdLst/>
              <a:ahLst/>
              <a:cxnLst/>
              <a:rect r="r" b="b" t="t" l="l"/>
              <a:pathLst>
                <a:path h="316687" w="1881175">
                  <a:moveTo>
                    <a:pt x="32517" y="0"/>
                  </a:moveTo>
                  <a:lnTo>
                    <a:pt x="1848658" y="0"/>
                  </a:lnTo>
                  <a:cubicBezTo>
                    <a:pt x="1857282" y="0"/>
                    <a:pt x="1865553" y="3426"/>
                    <a:pt x="1871651" y="9524"/>
                  </a:cubicBezTo>
                  <a:cubicBezTo>
                    <a:pt x="1877749" y="15622"/>
                    <a:pt x="1881175" y="23893"/>
                    <a:pt x="1881175" y="32517"/>
                  </a:cubicBezTo>
                  <a:lnTo>
                    <a:pt x="1881175" y="284169"/>
                  </a:lnTo>
                  <a:cubicBezTo>
                    <a:pt x="1881175" y="302128"/>
                    <a:pt x="1866617" y="316687"/>
                    <a:pt x="1848658" y="316687"/>
                  </a:cubicBezTo>
                  <a:lnTo>
                    <a:pt x="32517" y="316687"/>
                  </a:lnTo>
                  <a:cubicBezTo>
                    <a:pt x="23893" y="316687"/>
                    <a:pt x="15622" y="313261"/>
                    <a:pt x="9524" y="307163"/>
                  </a:cubicBezTo>
                  <a:cubicBezTo>
                    <a:pt x="3426" y="301064"/>
                    <a:pt x="0" y="292794"/>
                    <a:pt x="0" y="284169"/>
                  </a:cubicBezTo>
                  <a:lnTo>
                    <a:pt x="0" y="32517"/>
                  </a:lnTo>
                  <a:cubicBezTo>
                    <a:pt x="0" y="14558"/>
                    <a:pt x="14558" y="0"/>
                    <a:pt x="32517" y="0"/>
                  </a:cubicBezTo>
                  <a:close/>
                </a:path>
              </a:pathLst>
            </a:custGeom>
            <a:solidFill>
              <a:srgbClr val="E4F0F4"/>
            </a:solidFill>
          </p:spPr>
        </p:sp>
        <p:sp>
          <p:nvSpPr>
            <p:cNvPr name="TextBox 14" id="14"/>
            <p:cNvSpPr txBox="true"/>
            <p:nvPr/>
          </p:nvSpPr>
          <p:spPr>
            <a:xfrm>
              <a:off x="0" y="-123825"/>
              <a:ext cx="1881175" cy="440512"/>
            </a:xfrm>
            <a:prstGeom prst="rect">
              <a:avLst/>
            </a:prstGeom>
          </p:spPr>
          <p:txBody>
            <a:bodyPr anchor="ctr" rtlCol="false" tIns="127000" lIns="127000" bIns="127000" rIns="127000"/>
            <a:lstStyle/>
            <a:p>
              <a:pPr algn="just">
                <a:lnSpc>
                  <a:spcPts val="4249"/>
                </a:lnSpc>
              </a:pPr>
              <a:r>
                <a:rPr lang="en-US" sz="2499" b="true">
                  <a:solidFill>
                    <a:srgbClr val="1F4290"/>
                  </a:solidFill>
                  <a:latin typeface="Roboto Bold"/>
                  <a:ea typeface="Roboto Bold"/>
                  <a:cs typeface="Roboto Bold"/>
                  <a:sym typeface="Roboto Bold"/>
                </a:rPr>
                <a:t>🤖 Mô hình sử dụng</a:t>
              </a:r>
            </a:p>
            <a:p>
              <a:pPr algn="just">
                <a:lnSpc>
                  <a:spcPts val="4249"/>
                </a:lnSpc>
              </a:pPr>
              <a:r>
                <a:rPr lang="en-US" sz="2499">
                  <a:solidFill>
                    <a:srgbClr val="1B1C1D"/>
                  </a:solidFill>
                  <a:latin typeface="Roboto"/>
                  <a:ea typeface="Roboto"/>
                  <a:cs typeface="Roboto"/>
                  <a:sym typeface="Roboto"/>
                </a:rPr>
                <a:t>Support Vector Regressor (SVR)</a:t>
              </a:r>
            </a:p>
          </p:txBody>
        </p:sp>
      </p:grpSp>
      <p:sp>
        <p:nvSpPr>
          <p:cNvPr name="AutoShape 15" id="15"/>
          <p:cNvSpPr/>
          <p:nvPr/>
        </p:nvSpPr>
        <p:spPr>
          <a:xfrm>
            <a:off x="2866579" y="3816589"/>
            <a:ext cx="3814264" cy="0"/>
          </a:xfrm>
          <a:prstGeom prst="line">
            <a:avLst/>
          </a:prstGeom>
          <a:ln cap="flat" w="38100">
            <a:solidFill>
              <a:srgbClr val="1B4290"/>
            </a:solidFill>
            <a:prstDash val="solid"/>
            <a:headEnd type="none" len="sm" w="sm"/>
            <a:tailEnd type="none" len="sm" w="sm"/>
          </a:ln>
        </p:spPr>
      </p:sp>
      <p:sp>
        <p:nvSpPr>
          <p:cNvPr name="TextBox 16" id="16"/>
          <p:cNvSpPr txBox="true"/>
          <p:nvPr/>
        </p:nvSpPr>
        <p:spPr>
          <a:xfrm rot="0">
            <a:off x="2439739" y="3181786"/>
            <a:ext cx="4667943" cy="537210"/>
          </a:xfrm>
          <a:prstGeom prst="rect">
            <a:avLst/>
          </a:prstGeom>
        </p:spPr>
        <p:txBody>
          <a:bodyPr anchor="t" rtlCol="false" tIns="0" lIns="0" bIns="0" rIns="0">
            <a:spAutoFit/>
          </a:bodyPr>
          <a:lstStyle/>
          <a:p>
            <a:pPr algn="ctr">
              <a:lnSpc>
                <a:spcPts val="4320"/>
              </a:lnSpc>
              <a:spcBef>
                <a:spcPct val="0"/>
              </a:spcBef>
            </a:pPr>
            <a:r>
              <a:rPr lang="en-US" b="true" sz="3000">
                <a:solidFill>
                  <a:srgbClr val="1B4290"/>
                </a:solidFill>
                <a:latin typeface="Roboto Bold"/>
                <a:ea typeface="Roboto Bold"/>
                <a:cs typeface="Roboto Bold"/>
                <a:sym typeface="Roboto Bold"/>
              </a:rPr>
              <a:t>ĐỊNH NGHĨA &amp; ĐẶC ĐIỂM</a:t>
            </a:r>
          </a:p>
        </p:txBody>
      </p:sp>
      <p:grpSp>
        <p:nvGrpSpPr>
          <p:cNvPr name="Group 17" id="17"/>
          <p:cNvGrpSpPr/>
          <p:nvPr/>
        </p:nvGrpSpPr>
        <p:grpSpPr>
          <a:xfrm rot="0">
            <a:off x="11570441" y="3267511"/>
            <a:ext cx="4109026" cy="568128"/>
            <a:chOff x="0" y="0"/>
            <a:chExt cx="5478702" cy="757505"/>
          </a:xfrm>
        </p:grpSpPr>
        <p:sp>
          <p:nvSpPr>
            <p:cNvPr name="AutoShape 18" id="18"/>
            <p:cNvSpPr/>
            <p:nvPr/>
          </p:nvSpPr>
          <p:spPr>
            <a:xfrm>
              <a:off x="500976" y="732105"/>
              <a:ext cx="4476750" cy="0"/>
            </a:xfrm>
            <a:prstGeom prst="line">
              <a:avLst/>
            </a:prstGeom>
            <a:ln cap="flat" w="50800">
              <a:solidFill>
                <a:srgbClr val="1B4290"/>
              </a:solidFill>
              <a:prstDash val="solid"/>
              <a:headEnd type="none" len="sm" w="sm"/>
              <a:tailEnd type="none" len="sm" w="sm"/>
            </a:ln>
          </p:spPr>
        </p:sp>
        <p:sp>
          <p:nvSpPr>
            <p:cNvPr name="TextBox 19" id="19"/>
            <p:cNvSpPr txBox="true"/>
            <p:nvPr/>
          </p:nvSpPr>
          <p:spPr>
            <a:xfrm rot="0">
              <a:off x="0" y="-85725"/>
              <a:ext cx="5478702" cy="687705"/>
            </a:xfrm>
            <a:prstGeom prst="rect">
              <a:avLst/>
            </a:prstGeom>
          </p:spPr>
          <p:txBody>
            <a:bodyPr anchor="t" rtlCol="false" tIns="0" lIns="0" bIns="0" rIns="0">
              <a:spAutoFit/>
            </a:bodyPr>
            <a:lstStyle/>
            <a:p>
              <a:pPr algn="ctr">
                <a:lnSpc>
                  <a:spcPts val="4320"/>
                </a:lnSpc>
                <a:spcBef>
                  <a:spcPct val="0"/>
                </a:spcBef>
              </a:pPr>
              <a:r>
                <a:rPr lang="en-US" b="true" sz="3000">
                  <a:solidFill>
                    <a:srgbClr val="1B4290"/>
                  </a:solidFill>
                  <a:latin typeface="Roboto Bold"/>
                  <a:ea typeface="Roboto Bold"/>
                  <a:cs typeface="Roboto Bold"/>
                  <a:sym typeface="Roboto Bold"/>
                </a:rPr>
                <a:t>DỮ LIỆU &amp; THUỘC TÍNH</a:t>
              </a:r>
            </a:p>
          </p:txBody>
        </p:sp>
      </p:grpSp>
      <p:sp>
        <p:nvSpPr>
          <p:cNvPr name="TextBox 20" id="20"/>
          <p:cNvSpPr txBox="true"/>
          <p:nvPr/>
        </p:nvSpPr>
        <p:spPr>
          <a:xfrm rot="0">
            <a:off x="16521410" y="9684397"/>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19 of 37</a:t>
            </a:r>
          </a:p>
        </p:txBody>
      </p:sp>
      <p:sp>
        <p:nvSpPr>
          <p:cNvPr name="TextBox 21" id="21"/>
          <p:cNvSpPr txBox="true"/>
          <p:nvPr/>
        </p:nvSpPr>
        <p:spPr>
          <a:xfrm rot="0">
            <a:off x="9710737" y="3952947"/>
            <a:ext cx="7591574" cy="447675"/>
          </a:xfrm>
          <a:prstGeom prst="rect">
            <a:avLst/>
          </a:prstGeom>
        </p:spPr>
        <p:txBody>
          <a:bodyPr anchor="t" rtlCol="false" tIns="0" lIns="0" bIns="0" rIns="0">
            <a:spAutoFit/>
          </a:bodyPr>
          <a:lstStyle/>
          <a:p>
            <a:pPr algn="ctr">
              <a:lnSpc>
                <a:spcPts val="3749"/>
              </a:lnSpc>
              <a:spcBef>
                <a:spcPct val="0"/>
              </a:spcBef>
            </a:pPr>
            <a:r>
              <a:rPr lang="en-US" sz="2499">
                <a:solidFill>
                  <a:srgbClr val="000000"/>
                </a:solidFill>
                <a:latin typeface="Roboto"/>
                <a:ea typeface="Roboto"/>
                <a:cs typeface="Roboto"/>
                <a:sym typeface="Roboto"/>
              </a:rPr>
              <a:t>Học từ tập dữ liệu </a:t>
            </a:r>
            <a:r>
              <a:rPr lang="en-US" b="true" sz="2499">
                <a:solidFill>
                  <a:srgbClr val="000000"/>
                </a:solidFill>
                <a:latin typeface="Roboto Bold"/>
                <a:ea typeface="Roboto Bold"/>
                <a:cs typeface="Roboto Bold"/>
                <a:sym typeface="Roboto Bold"/>
              </a:rPr>
              <a:t>13.400 bản ghi</a:t>
            </a:r>
            <a:r>
              <a:rPr lang="en-US" sz="2499">
                <a:solidFill>
                  <a:srgbClr val="000000"/>
                </a:solidFill>
                <a:latin typeface="Roboto"/>
                <a:ea typeface="Roboto"/>
                <a:cs typeface="Roboto"/>
                <a:sym typeface="Roboto"/>
              </a:rPr>
              <a:t> gồm các thuộc tính:</a:t>
            </a:r>
          </a:p>
        </p:txBody>
      </p:sp>
      <p:sp>
        <p:nvSpPr>
          <p:cNvPr name="TextBox 22" id="22"/>
          <p:cNvSpPr txBox="true"/>
          <p:nvPr/>
        </p:nvSpPr>
        <p:spPr>
          <a:xfrm rot="0">
            <a:off x="9710737" y="4629222"/>
            <a:ext cx="7548563" cy="1381125"/>
          </a:xfrm>
          <a:prstGeom prst="rect">
            <a:avLst/>
          </a:prstGeom>
        </p:spPr>
        <p:txBody>
          <a:bodyPr anchor="t" rtlCol="false" tIns="0" lIns="0" bIns="0" rIns="0">
            <a:spAutoFit/>
          </a:bodyPr>
          <a:lstStyle/>
          <a:p>
            <a:pPr algn="l">
              <a:lnSpc>
                <a:spcPts val="3749"/>
              </a:lnSpc>
              <a:spcBef>
                <a:spcPct val="0"/>
              </a:spcBef>
            </a:pPr>
            <a:r>
              <a:rPr lang="en-US" b="true" sz="2499">
                <a:solidFill>
                  <a:srgbClr val="1F4290"/>
                </a:solidFill>
                <a:latin typeface="Roboto Bold"/>
                <a:ea typeface="Roboto Bold"/>
                <a:cs typeface="Roboto Bold"/>
                <a:sym typeface="Roboto Bold"/>
              </a:rPr>
              <a:t>📥 </a:t>
            </a:r>
            <a:r>
              <a:rPr lang="en-US" b="true" sz="2499">
                <a:solidFill>
                  <a:srgbClr val="1F4290"/>
                </a:solidFill>
                <a:latin typeface="Roboto Bold"/>
                <a:ea typeface="Roboto Bold"/>
                <a:cs typeface="Roboto Bold"/>
                <a:sym typeface="Roboto Bold"/>
              </a:rPr>
              <a:t>Đầu vào chính:</a:t>
            </a:r>
          </a:p>
          <a:p>
            <a:pPr algn="l">
              <a:lnSpc>
                <a:spcPts val="3749"/>
              </a:lnSpc>
              <a:spcBef>
                <a:spcPct val="0"/>
              </a:spcBef>
            </a:pPr>
            <a:r>
              <a:rPr lang="en-US" sz="2499">
                <a:solidFill>
                  <a:srgbClr val="000000"/>
                </a:solidFill>
                <a:latin typeface="Roboto"/>
                <a:ea typeface="Roboto"/>
                <a:cs typeface="Roboto"/>
                <a:sym typeface="Roboto"/>
              </a:rPr>
              <a:t>Tuổi (age), Giới tính (gender), Chiều cao (height_cm), Cân nặng (weight_kg).</a:t>
            </a:r>
          </a:p>
        </p:txBody>
      </p:sp>
      <p:sp>
        <p:nvSpPr>
          <p:cNvPr name="TextBox 23" id="23"/>
          <p:cNvSpPr txBox="true"/>
          <p:nvPr/>
        </p:nvSpPr>
        <p:spPr>
          <a:xfrm rot="0">
            <a:off x="9710737" y="6238947"/>
            <a:ext cx="5670639" cy="914400"/>
          </a:xfrm>
          <a:prstGeom prst="rect">
            <a:avLst/>
          </a:prstGeom>
        </p:spPr>
        <p:txBody>
          <a:bodyPr anchor="t" rtlCol="false" tIns="0" lIns="0" bIns="0" rIns="0">
            <a:spAutoFit/>
          </a:bodyPr>
          <a:lstStyle/>
          <a:p>
            <a:pPr algn="l">
              <a:lnSpc>
                <a:spcPts val="3749"/>
              </a:lnSpc>
              <a:spcBef>
                <a:spcPct val="0"/>
              </a:spcBef>
            </a:pPr>
            <a:r>
              <a:rPr lang="en-US" b="true" sz="2499">
                <a:solidFill>
                  <a:srgbClr val="1F4290"/>
                </a:solidFill>
                <a:latin typeface="Roboto Bold"/>
                <a:ea typeface="Roboto Bold"/>
                <a:cs typeface="Roboto Bold"/>
                <a:sym typeface="Roboto Bold"/>
              </a:rPr>
              <a:t>📤 </a:t>
            </a:r>
            <a:r>
              <a:rPr lang="en-US" b="true" sz="2499">
                <a:solidFill>
                  <a:srgbClr val="1F4290"/>
                </a:solidFill>
                <a:latin typeface="Roboto Bold"/>
                <a:ea typeface="Roboto Bold"/>
                <a:cs typeface="Roboto Bold"/>
                <a:sym typeface="Roboto Bold"/>
              </a:rPr>
              <a:t>Đầu ra (Target):</a:t>
            </a:r>
          </a:p>
          <a:p>
            <a:pPr algn="l">
              <a:lnSpc>
                <a:spcPts val="3749"/>
              </a:lnSpc>
              <a:spcBef>
                <a:spcPct val="0"/>
              </a:spcBef>
            </a:pPr>
            <a:r>
              <a:rPr lang="en-US" sz="2499">
                <a:solidFill>
                  <a:srgbClr val="000000"/>
                </a:solidFill>
                <a:latin typeface="Roboto"/>
                <a:ea typeface="Roboto"/>
                <a:cs typeface="Roboto"/>
                <a:sym typeface="Roboto"/>
              </a:rPr>
              <a:t>Tỷ lệ mỡ cơ thể (body_fat).</a:t>
            </a:r>
          </a:p>
        </p:txBody>
      </p:sp>
      <p:sp>
        <p:nvSpPr>
          <p:cNvPr name="TextBox 24" id="24"/>
          <p:cNvSpPr txBox="true"/>
          <p:nvPr/>
        </p:nvSpPr>
        <p:spPr>
          <a:xfrm rot="0">
            <a:off x="9710737" y="7381947"/>
            <a:ext cx="7828433" cy="1381125"/>
          </a:xfrm>
          <a:prstGeom prst="rect">
            <a:avLst/>
          </a:prstGeom>
        </p:spPr>
        <p:txBody>
          <a:bodyPr anchor="t" rtlCol="false" tIns="0" lIns="0" bIns="0" rIns="0">
            <a:spAutoFit/>
          </a:bodyPr>
          <a:lstStyle/>
          <a:p>
            <a:pPr algn="l">
              <a:lnSpc>
                <a:spcPts val="3749"/>
              </a:lnSpc>
              <a:spcBef>
                <a:spcPct val="0"/>
              </a:spcBef>
            </a:pPr>
            <a:r>
              <a:rPr lang="en-US" b="true" sz="2499">
                <a:solidFill>
                  <a:srgbClr val="1F4290"/>
                </a:solidFill>
                <a:latin typeface="Roboto Bold"/>
                <a:ea typeface="Roboto Bold"/>
                <a:cs typeface="Roboto Bold"/>
                <a:sym typeface="Roboto Bold"/>
              </a:rPr>
              <a:t>🏷️ Th</a:t>
            </a:r>
            <a:r>
              <a:rPr lang="en-US" b="true" sz="2499">
                <a:solidFill>
                  <a:srgbClr val="1F4290"/>
                </a:solidFill>
                <a:latin typeface="Roboto Bold"/>
                <a:ea typeface="Roboto Bold"/>
                <a:cs typeface="Roboto Bold"/>
                <a:sym typeface="Roboto Bold"/>
              </a:rPr>
              <a:t>uộc tính khác:</a:t>
            </a:r>
          </a:p>
          <a:p>
            <a:pPr algn="l">
              <a:lnSpc>
                <a:spcPts val="3749"/>
              </a:lnSpc>
              <a:spcBef>
                <a:spcPct val="0"/>
              </a:spcBef>
            </a:pPr>
            <a:r>
              <a:rPr lang="en-US" sz="2499">
                <a:solidFill>
                  <a:srgbClr val="000000"/>
                </a:solidFill>
                <a:latin typeface="Roboto"/>
                <a:ea typeface="Roboto"/>
                <a:cs typeface="Roboto"/>
                <a:sym typeface="Roboto"/>
              </a:rPr>
              <a:t>Huyết áp, lực tay, gập người, gập bụng, nhảy xa, nhóm đối tượng.</a:t>
            </a:r>
          </a:p>
        </p:txBody>
      </p:sp>
    </p:spTree>
  </p:cSld>
  <p:clrMapOvr>
    <a:masterClrMapping/>
  </p:clrMapOvr>
  <p:transition spd="med">
    <p:push dir="l"/>
  </p:transition>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91467" y="421672"/>
            <a:ext cx="16657813" cy="1928908"/>
            <a:chOff x="0" y="0"/>
            <a:chExt cx="715719" cy="82931"/>
          </a:xfrm>
        </p:grpSpPr>
        <p:sp>
          <p:nvSpPr>
            <p:cNvPr name="Freeform 3" id="3"/>
            <p:cNvSpPr/>
            <p:nvPr/>
          </p:nvSpPr>
          <p:spPr>
            <a:xfrm flipH="false" flipV="false" rot="0">
              <a:off x="0" y="0"/>
              <a:ext cx="715719" cy="82931"/>
            </a:xfrm>
            <a:custGeom>
              <a:avLst/>
              <a:gdLst/>
              <a:ahLst/>
              <a:cxnLst/>
              <a:rect r="r" b="b" t="t" l="l"/>
              <a:pathLst>
                <a:path h="82931" w="715719">
                  <a:moveTo>
                    <a:pt x="715719" y="41466"/>
                  </a:moveTo>
                  <a:lnTo>
                    <a:pt x="715719" y="41466"/>
                  </a:lnTo>
                  <a:cubicBezTo>
                    <a:pt x="715719" y="52463"/>
                    <a:pt x="711350" y="63010"/>
                    <a:pt x="703574" y="70786"/>
                  </a:cubicBezTo>
                  <a:cubicBezTo>
                    <a:pt x="695798" y="78562"/>
                    <a:pt x="685251" y="82931"/>
                    <a:pt x="674253" y="82931"/>
                  </a:cubicBezTo>
                  <a:lnTo>
                    <a:pt x="41466" y="82931"/>
                  </a:lnTo>
                  <a:cubicBezTo>
                    <a:pt x="30468" y="82931"/>
                    <a:pt x="19921" y="78562"/>
                    <a:pt x="12145" y="70786"/>
                  </a:cubicBezTo>
                  <a:cubicBezTo>
                    <a:pt x="4369" y="63010"/>
                    <a:pt x="0" y="52463"/>
                    <a:pt x="0" y="41466"/>
                  </a:cubicBezTo>
                  <a:lnTo>
                    <a:pt x="0" y="41466"/>
                  </a:lnTo>
                  <a:cubicBezTo>
                    <a:pt x="0" y="30468"/>
                    <a:pt x="4369" y="19921"/>
                    <a:pt x="12145" y="12145"/>
                  </a:cubicBezTo>
                  <a:cubicBezTo>
                    <a:pt x="19921" y="4369"/>
                    <a:pt x="30468" y="0"/>
                    <a:pt x="41466" y="0"/>
                  </a:cubicBezTo>
                  <a:lnTo>
                    <a:pt x="674253" y="0"/>
                  </a:lnTo>
                  <a:cubicBezTo>
                    <a:pt x="685251" y="0"/>
                    <a:pt x="695798" y="4369"/>
                    <a:pt x="703574" y="12145"/>
                  </a:cubicBezTo>
                  <a:cubicBezTo>
                    <a:pt x="711350" y="19921"/>
                    <a:pt x="715719" y="30468"/>
                    <a:pt x="715719" y="41466"/>
                  </a:cubicBezTo>
                  <a:close/>
                </a:path>
              </a:pathLst>
            </a:custGeom>
            <a:solidFill>
              <a:srgbClr val="002699"/>
            </a:solidFill>
            <a:ln cap="rnd">
              <a:noFill/>
              <a:prstDash val="solid"/>
              <a:round/>
            </a:ln>
          </p:spPr>
        </p:sp>
        <p:sp>
          <p:nvSpPr>
            <p:cNvPr name="TextBox 4" id="4"/>
            <p:cNvSpPr txBox="true"/>
            <p:nvPr/>
          </p:nvSpPr>
          <p:spPr>
            <a:xfrm>
              <a:off x="0" y="-47625"/>
              <a:ext cx="715719" cy="130556"/>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1197883" y="638175"/>
            <a:ext cx="14665425" cy="1533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4.3 THÔNG SỐ SỬ DỤNG MACHINE LEARNING ĐỂ DỰ ĐOÁN</a:t>
            </a:r>
          </a:p>
        </p:txBody>
      </p:sp>
      <p:graphicFrame>
        <p:nvGraphicFramePr>
          <p:cNvPr name="Object 6" id="6"/>
          <p:cNvGraphicFramePr/>
          <p:nvPr/>
        </p:nvGraphicFramePr>
        <p:xfrm>
          <a:off x="1028700" y="2769451"/>
          <a:ext cx="13201650" cy="4400550"/>
        </p:xfrm>
        <a:graphic>
          <a:graphicData uri="http://schemas.openxmlformats.org/presentationml/2006/ole">
            <p:oleObj imgW="15836900" imgH="7035800" r:id="rId3" progId="Excel.Sheet.12" name="Worksheet">
              <p:embed/>
              <p:pic>
                <p:nvPicPr>
                  <p:cNvPr name="" id="0"/>
                  <p:cNvPicPr/>
                  <p:nvPr/>
                </p:nvPicPr>
                <p:blipFill>
                  <a:blip r:embed="rId2"/>
                  <a:stretch>
                    <a:fillRect/>
                  </a:stretch>
                </p:blipFill>
                <p:spPr>
                  <a:xfrm>
                    <a:off x="1270000" y="1270000"/>
                    <a:ext cx="1270000" cy="1270000"/>
                  </a:xfrm>
                  <a:prstGeom prst="rect"/>
                </p:spPr>
              </p:pic>
            </p:oleObj>
          </a:graphicData>
        </a:graphic>
      </p:graphicFrame>
      <p:sp>
        <p:nvSpPr>
          <p:cNvPr name="TextBox 7" id="7"/>
          <p:cNvSpPr txBox="true"/>
          <p:nvPr/>
        </p:nvSpPr>
        <p:spPr>
          <a:xfrm rot="0">
            <a:off x="16521410" y="9684397"/>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20 of 37</a:t>
            </a:r>
          </a:p>
        </p:txBody>
      </p:sp>
    </p:spTree>
  </p:cSld>
  <p:clrMapOvr>
    <a:masterClrMapping/>
  </p:clrMapOvr>
  <p:transition spd="med">
    <p:push dir="l"/>
  </p:transition>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91467" y="421672"/>
            <a:ext cx="16642859" cy="1928908"/>
            <a:chOff x="0" y="0"/>
            <a:chExt cx="715076" cy="82931"/>
          </a:xfrm>
        </p:grpSpPr>
        <p:sp>
          <p:nvSpPr>
            <p:cNvPr name="Freeform 3" id="3"/>
            <p:cNvSpPr/>
            <p:nvPr/>
          </p:nvSpPr>
          <p:spPr>
            <a:xfrm flipH="false" flipV="false" rot="0">
              <a:off x="0" y="0"/>
              <a:ext cx="715076" cy="82931"/>
            </a:xfrm>
            <a:custGeom>
              <a:avLst/>
              <a:gdLst/>
              <a:ahLst/>
              <a:cxnLst/>
              <a:rect r="r" b="b" t="t" l="l"/>
              <a:pathLst>
                <a:path h="82931" w="715076">
                  <a:moveTo>
                    <a:pt x="715076" y="41466"/>
                  </a:moveTo>
                  <a:lnTo>
                    <a:pt x="715076" y="41466"/>
                  </a:lnTo>
                  <a:cubicBezTo>
                    <a:pt x="715076" y="52463"/>
                    <a:pt x="710708" y="63010"/>
                    <a:pt x="702931" y="70786"/>
                  </a:cubicBezTo>
                  <a:cubicBezTo>
                    <a:pt x="695155" y="78562"/>
                    <a:pt x="684608" y="82931"/>
                    <a:pt x="673611" y="82931"/>
                  </a:cubicBezTo>
                  <a:lnTo>
                    <a:pt x="41466" y="82931"/>
                  </a:lnTo>
                  <a:cubicBezTo>
                    <a:pt x="30468" y="82931"/>
                    <a:pt x="19921" y="78562"/>
                    <a:pt x="12145" y="70786"/>
                  </a:cubicBezTo>
                  <a:cubicBezTo>
                    <a:pt x="4369" y="63010"/>
                    <a:pt x="0" y="52463"/>
                    <a:pt x="0" y="41466"/>
                  </a:cubicBezTo>
                  <a:lnTo>
                    <a:pt x="0" y="41466"/>
                  </a:lnTo>
                  <a:cubicBezTo>
                    <a:pt x="0" y="30468"/>
                    <a:pt x="4369" y="19921"/>
                    <a:pt x="12145" y="12145"/>
                  </a:cubicBezTo>
                  <a:cubicBezTo>
                    <a:pt x="19921" y="4369"/>
                    <a:pt x="30468" y="0"/>
                    <a:pt x="41466" y="0"/>
                  </a:cubicBezTo>
                  <a:lnTo>
                    <a:pt x="673611" y="0"/>
                  </a:lnTo>
                  <a:cubicBezTo>
                    <a:pt x="684608" y="0"/>
                    <a:pt x="695155" y="4369"/>
                    <a:pt x="702931" y="12145"/>
                  </a:cubicBezTo>
                  <a:cubicBezTo>
                    <a:pt x="710708" y="19921"/>
                    <a:pt x="715076" y="30468"/>
                    <a:pt x="715076" y="41466"/>
                  </a:cubicBezTo>
                  <a:close/>
                </a:path>
              </a:pathLst>
            </a:custGeom>
            <a:solidFill>
              <a:srgbClr val="002699"/>
            </a:solidFill>
            <a:ln cap="rnd">
              <a:noFill/>
              <a:prstDash val="solid"/>
              <a:round/>
            </a:ln>
          </p:spPr>
        </p:sp>
        <p:sp>
          <p:nvSpPr>
            <p:cNvPr name="TextBox 4" id="4"/>
            <p:cNvSpPr txBox="true"/>
            <p:nvPr/>
          </p:nvSpPr>
          <p:spPr>
            <a:xfrm>
              <a:off x="0" y="-47625"/>
              <a:ext cx="715076" cy="130556"/>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1197883" y="638175"/>
            <a:ext cx="14665425" cy="1533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4.3 THÔNG SỐ SỬ DỤNG MACHINE LEARNING ĐỂ DỰ ĐOÁN</a:t>
            </a:r>
          </a:p>
        </p:txBody>
      </p:sp>
      <p:sp>
        <p:nvSpPr>
          <p:cNvPr name="Freeform 6" id="6"/>
          <p:cNvSpPr/>
          <p:nvPr/>
        </p:nvSpPr>
        <p:spPr>
          <a:xfrm flipH="false" flipV="false" rot="0">
            <a:off x="9208875" y="2886152"/>
            <a:ext cx="8385104" cy="5502725"/>
          </a:xfrm>
          <a:custGeom>
            <a:avLst/>
            <a:gdLst/>
            <a:ahLst/>
            <a:cxnLst/>
            <a:rect r="r" b="b" t="t" l="l"/>
            <a:pathLst>
              <a:path h="5502725" w="8385104">
                <a:moveTo>
                  <a:pt x="0" y="0"/>
                </a:moveTo>
                <a:lnTo>
                  <a:pt x="8385104" y="0"/>
                </a:lnTo>
                <a:lnTo>
                  <a:pt x="8385104" y="5502724"/>
                </a:lnTo>
                <a:lnTo>
                  <a:pt x="0" y="5502724"/>
                </a:lnTo>
                <a:lnTo>
                  <a:pt x="0" y="0"/>
                </a:lnTo>
                <a:close/>
              </a:path>
            </a:pathLst>
          </a:custGeom>
          <a:blipFill>
            <a:blip r:embed="rId2"/>
            <a:stretch>
              <a:fillRect l="0" t="0" r="0" b="0"/>
            </a:stretch>
          </a:blipFill>
        </p:spPr>
      </p:sp>
      <p:sp>
        <p:nvSpPr>
          <p:cNvPr name="Freeform 7" id="7"/>
          <p:cNvSpPr/>
          <p:nvPr/>
        </p:nvSpPr>
        <p:spPr>
          <a:xfrm flipH="false" flipV="false" rot="0">
            <a:off x="694021" y="2886152"/>
            <a:ext cx="8514854" cy="5502725"/>
          </a:xfrm>
          <a:custGeom>
            <a:avLst/>
            <a:gdLst/>
            <a:ahLst/>
            <a:cxnLst/>
            <a:rect r="r" b="b" t="t" l="l"/>
            <a:pathLst>
              <a:path h="5502725" w="8514854">
                <a:moveTo>
                  <a:pt x="0" y="0"/>
                </a:moveTo>
                <a:lnTo>
                  <a:pt x="8514854" y="0"/>
                </a:lnTo>
                <a:lnTo>
                  <a:pt x="8514854" y="5502724"/>
                </a:lnTo>
                <a:lnTo>
                  <a:pt x="0" y="5502724"/>
                </a:lnTo>
                <a:lnTo>
                  <a:pt x="0" y="0"/>
                </a:lnTo>
                <a:close/>
              </a:path>
            </a:pathLst>
          </a:custGeom>
          <a:blipFill>
            <a:blip r:embed="rId3"/>
            <a:stretch>
              <a:fillRect l="0" t="0" r="0" b="0"/>
            </a:stretch>
          </a:blipFill>
        </p:spPr>
      </p:sp>
      <p:sp>
        <p:nvSpPr>
          <p:cNvPr name="TextBox 8" id="8"/>
          <p:cNvSpPr txBox="true"/>
          <p:nvPr/>
        </p:nvSpPr>
        <p:spPr>
          <a:xfrm rot="0">
            <a:off x="16521410" y="9684397"/>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21 of 37</a:t>
            </a:r>
          </a:p>
        </p:txBody>
      </p:sp>
      <p:sp>
        <p:nvSpPr>
          <p:cNvPr name="TextBox 9" id="9"/>
          <p:cNvSpPr txBox="true"/>
          <p:nvPr/>
        </p:nvSpPr>
        <p:spPr>
          <a:xfrm rot="0">
            <a:off x="3786570" y="8550801"/>
            <a:ext cx="2329755" cy="212731"/>
          </a:xfrm>
          <a:prstGeom prst="rect">
            <a:avLst/>
          </a:prstGeom>
        </p:spPr>
        <p:txBody>
          <a:bodyPr anchor="t" rtlCol="false" tIns="0" lIns="0" bIns="0" rIns="0">
            <a:spAutoFit/>
          </a:bodyPr>
          <a:lstStyle/>
          <a:p>
            <a:pPr algn="ctr">
              <a:lnSpc>
                <a:spcPts val="1250"/>
              </a:lnSpc>
            </a:pPr>
            <a:r>
              <a:rPr lang="en-US" sz="2500" b="true">
                <a:solidFill>
                  <a:srgbClr val="000000"/>
                </a:solidFill>
                <a:latin typeface="Roboto Bold"/>
                <a:ea typeface="Roboto Bold"/>
                <a:cs typeface="Roboto Bold"/>
                <a:sym typeface="Roboto Bold"/>
              </a:rPr>
              <a:t>Biểu đồ phần dư</a:t>
            </a:r>
          </a:p>
        </p:txBody>
      </p:sp>
      <p:sp>
        <p:nvSpPr>
          <p:cNvPr name="TextBox 10" id="10"/>
          <p:cNvSpPr txBox="true"/>
          <p:nvPr/>
        </p:nvSpPr>
        <p:spPr>
          <a:xfrm rot="0">
            <a:off x="12195175" y="8550801"/>
            <a:ext cx="2412504" cy="212731"/>
          </a:xfrm>
          <a:prstGeom prst="rect">
            <a:avLst/>
          </a:prstGeom>
        </p:spPr>
        <p:txBody>
          <a:bodyPr anchor="t" rtlCol="false" tIns="0" lIns="0" bIns="0" rIns="0">
            <a:spAutoFit/>
          </a:bodyPr>
          <a:lstStyle/>
          <a:p>
            <a:pPr algn="ctr">
              <a:lnSpc>
                <a:spcPts val="1250"/>
              </a:lnSpc>
            </a:pPr>
            <a:r>
              <a:rPr lang="en-US" sz="2500" b="true">
                <a:solidFill>
                  <a:srgbClr val="000000"/>
                </a:solidFill>
                <a:latin typeface="Roboto Bold"/>
                <a:ea typeface="Roboto Bold"/>
                <a:cs typeface="Roboto Bold"/>
                <a:sym typeface="Roboto Bold"/>
              </a:rPr>
              <a:t>Biểu đồ phân tán</a:t>
            </a:r>
          </a:p>
        </p:txBody>
      </p:sp>
    </p:spTree>
  </p:cSld>
  <p:clrMapOvr>
    <a:masterClrMapping/>
  </p:clrMapOvr>
  <p:transition spd="med">
    <p:push dir="l"/>
  </p:transition>
</p:sld>
</file>

<file path=ppt/slides/slide2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91467" y="421672"/>
            <a:ext cx="16837454" cy="1928908"/>
            <a:chOff x="0" y="0"/>
            <a:chExt cx="723437" cy="82931"/>
          </a:xfrm>
        </p:grpSpPr>
        <p:sp>
          <p:nvSpPr>
            <p:cNvPr name="Freeform 3" id="3"/>
            <p:cNvSpPr/>
            <p:nvPr/>
          </p:nvSpPr>
          <p:spPr>
            <a:xfrm flipH="false" flipV="false" rot="0">
              <a:off x="0" y="0"/>
              <a:ext cx="723437" cy="82931"/>
            </a:xfrm>
            <a:custGeom>
              <a:avLst/>
              <a:gdLst/>
              <a:ahLst/>
              <a:cxnLst/>
              <a:rect r="r" b="b" t="t" l="l"/>
              <a:pathLst>
                <a:path h="82931" w="723437">
                  <a:moveTo>
                    <a:pt x="723437" y="41466"/>
                  </a:moveTo>
                  <a:lnTo>
                    <a:pt x="723437" y="41466"/>
                  </a:lnTo>
                  <a:cubicBezTo>
                    <a:pt x="723437" y="52463"/>
                    <a:pt x="719069" y="63010"/>
                    <a:pt x="711292" y="70786"/>
                  </a:cubicBezTo>
                  <a:cubicBezTo>
                    <a:pt x="703516" y="78562"/>
                    <a:pt x="692969" y="82931"/>
                    <a:pt x="681972" y="82931"/>
                  </a:cubicBezTo>
                  <a:lnTo>
                    <a:pt x="41466" y="82931"/>
                  </a:lnTo>
                  <a:cubicBezTo>
                    <a:pt x="30468" y="82931"/>
                    <a:pt x="19921" y="78562"/>
                    <a:pt x="12145" y="70786"/>
                  </a:cubicBezTo>
                  <a:cubicBezTo>
                    <a:pt x="4369" y="63010"/>
                    <a:pt x="0" y="52463"/>
                    <a:pt x="0" y="41466"/>
                  </a:cubicBezTo>
                  <a:lnTo>
                    <a:pt x="0" y="41466"/>
                  </a:lnTo>
                  <a:cubicBezTo>
                    <a:pt x="0" y="30468"/>
                    <a:pt x="4369" y="19921"/>
                    <a:pt x="12145" y="12145"/>
                  </a:cubicBezTo>
                  <a:cubicBezTo>
                    <a:pt x="19921" y="4369"/>
                    <a:pt x="30468" y="0"/>
                    <a:pt x="41466" y="0"/>
                  </a:cubicBezTo>
                  <a:lnTo>
                    <a:pt x="681972" y="0"/>
                  </a:lnTo>
                  <a:cubicBezTo>
                    <a:pt x="692969" y="0"/>
                    <a:pt x="703516" y="4369"/>
                    <a:pt x="711292" y="12145"/>
                  </a:cubicBezTo>
                  <a:cubicBezTo>
                    <a:pt x="719069" y="19921"/>
                    <a:pt x="723437" y="30468"/>
                    <a:pt x="723437" y="41466"/>
                  </a:cubicBezTo>
                  <a:close/>
                </a:path>
              </a:pathLst>
            </a:custGeom>
            <a:solidFill>
              <a:srgbClr val="002699"/>
            </a:solidFill>
            <a:ln cap="rnd">
              <a:noFill/>
              <a:prstDash val="solid"/>
              <a:round/>
            </a:ln>
          </p:spPr>
        </p:sp>
        <p:sp>
          <p:nvSpPr>
            <p:cNvPr name="TextBox 4" id="4"/>
            <p:cNvSpPr txBox="true"/>
            <p:nvPr/>
          </p:nvSpPr>
          <p:spPr>
            <a:xfrm>
              <a:off x="0" y="-47625"/>
              <a:ext cx="723437" cy="130556"/>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1197883" y="638175"/>
            <a:ext cx="14665425" cy="1533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4.3 THÔNG SỐ SỬ DỤNG MACHINE LEARNING ĐỂ DỰ ĐOÁN</a:t>
            </a:r>
          </a:p>
        </p:txBody>
      </p:sp>
      <p:sp>
        <p:nvSpPr>
          <p:cNvPr name="Freeform 6" id="6"/>
          <p:cNvSpPr/>
          <p:nvPr/>
        </p:nvSpPr>
        <p:spPr>
          <a:xfrm flipH="false" flipV="false" rot="0">
            <a:off x="787477" y="2971837"/>
            <a:ext cx="8233753" cy="5331355"/>
          </a:xfrm>
          <a:custGeom>
            <a:avLst/>
            <a:gdLst/>
            <a:ahLst/>
            <a:cxnLst/>
            <a:rect r="r" b="b" t="t" l="l"/>
            <a:pathLst>
              <a:path h="5331355" w="8233753">
                <a:moveTo>
                  <a:pt x="0" y="0"/>
                </a:moveTo>
                <a:lnTo>
                  <a:pt x="8233753" y="0"/>
                </a:lnTo>
                <a:lnTo>
                  <a:pt x="8233753" y="5331355"/>
                </a:lnTo>
                <a:lnTo>
                  <a:pt x="0" y="5331355"/>
                </a:lnTo>
                <a:lnTo>
                  <a:pt x="0" y="0"/>
                </a:lnTo>
                <a:close/>
              </a:path>
            </a:pathLst>
          </a:custGeom>
          <a:blipFill>
            <a:blip r:embed="rId2"/>
            <a:stretch>
              <a:fillRect l="0" t="0" r="0" b="0"/>
            </a:stretch>
          </a:blipFill>
        </p:spPr>
      </p:sp>
      <p:sp>
        <p:nvSpPr>
          <p:cNvPr name="Freeform 7" id="7"/>
          <p:cNvSpPr/>
          <p:nvPr/>
        </p:nvSpPr>
        <p:spPr>
          <a:xfrm flipH="false" flipV="false" rot="0">
            <a:off x="9021230" y="2971837"/>
            <a:ext cx="8479292" cy="5331355"/>
          </a:xfrm>
          <a:custGeom>
            <a:avLst/>
            <a:gdLst/>
            <a:ahLst/>
            <a:cxnLst/>
            <a:rect r="r" b="b" t="t" l="l"/>
            <a:pathLst>
              <a:path h="5331355" w="8479292">
                <a:moveTo>
                  <a:pt x="0" y="0"/>
                </a:moveTo>
                <a:lnTo>
                  <a:pt x="8479293" y="0"/>
                </a:lnTo>
                <a:lnTo>
                  <a:pt x="8479293" y="5331355"/>
                </a:lnTo>
                <a:lnTo>
                  <a:pt x="0" y="5331355"/>
                </a:lnTo>
                <a:lnTo>
                  <a:pt x="0" y="0"/>
                </a:lnTo>
                <a:close/>
              </a:path>
            </a:pathLst>
          </a:custGeom>
          <a:blipFill>
            <a:blip r:embed="rId3"/>
            <a:stretch>
              <a:fillRect l="0" t="0" r="0" b="0"/>
            </a:stretch>
          </a:blipFill>
        </p:spPr>
      </p:sp>
      <p:sp>
        <p:nvSpPr>
          <p:cNvPr name="TextBox 8" id="8"/>
          <p:cNvSpPr txBox="true"/>
          <p:nvPr/>
        </p:nvSpPr>
        <p:spPr>
          <a:xfrm rot="0">
            <a:off x="16521410" y="9684397"/>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22 of 37</a:t>
            </a:r>
          </a:p>
        </p:txBody>
      </p:sp>
      <p:sp>
        <p:nvSpPr>
          <p:cNvPr name="TextBox 9" id="9"/>
          <p:cNvSpPr txBox="true"/>
          <p:nvPr/>
        </p:nvSpPr>
        <p:spPr>
          <a:xfrm rot="0">
            <a:off x="2701995" y="8465117"/>
            <a:ext cx="4404717" cy="212731"/>
          </a:xfrm>
          <a:prstGeom prst="rect">
            <a:avLst/>
          </a:prstGeom>
        </p:spPr>
        <p:txBody>
          <a:bodyPr anchor="t" rtlCol="false" tIns="0" lIns="0" bIns="0" rIns="0">
            <a:spAutoFit/>
          </a:bodyPr>
          <a:lstStyle/>
          <a:p>
            <a:pPr algn="ctr">
              <a:lnSpc>
                <a:spcPts val="1250"/>
              </a:lnSpc>
            </a:pPr>
            <a:r>
              <a:rPr lang="en-US" sz="2500" b="true">
                <a:solidFill>
                  <a:srgbClr val="000000"/>
                </a:solidFill>
                <a:latin typeface="Roboto Bold"/>
                <a:ea typeface="Roboto Bold"/>
                <a:cs typeface="Roboto Bold"/>
                <a:sym typeface="Roboto Bold"/>
              </a:rPr>
              <a:t>Biểu đồ phân phối của phần dư</a:t>
            </a:r>
          </a:p>
        </p:txBody>
      </p:sp>
      <p:sp>
        <p:nvSpPr>
          <p:cNvPr name="TextBox 10" id="10"/>
          <p:cNvSpPr txBox="true"/>
          <p:nvPr/>
        </p:nvSpPr>
        <p:spPr>
          <a:xfrm rot="0">
            <a:off x="11024139" y="8465117"/>
            <a:ext cx="4473476" cy="212731"/>
          </a:xfrm>
          <a:prstGeom prst="rect">
            <a:avLst/>
          </a:prstGeom>
        </p:spPr>
        <p:txBody>
          <a:bodyPr anchor="t" rtlCol="false" tIns="0" lIns="0" bIns="0" rIns="0">
            <a:spAutoFit/>
          </a:bodyPr>
          <a:lstStyle/>
          <a:p>
            <a:pPr algn="ctr">
              <a:lnSpc>
                <a:spcPts val="1250"/>
              </a:lnSpc>
            </a:pPr>
            <a:r>
              <a:rPr lang="en-US" sz="2500" b="true">
                <a:solidFill>
                  <a:srgbClr val="000000"/>
                </a:solidFill>
                <a:latin typeface="Roboto Bold"/>
                <a:ea typeface="Roboto Bold"/>
                <a:cs typeface="Roboto Bold"/>
                <a:sym typeface="Roboto Bold"/>
              </a:rPr>
              <a:t>Biểu đồ phân bối của các giá trị</a:t>
            </a:r>
          </a:p>
        </p:txBody>
      </p:sp>
    </p:spTree>
  </p:cSld>
  <p:clrMapOvr>
    <a:masterClrMapping/>
  </p:clrMapOvr>
  <p:transition spd="med">
    <p:push dir="l"/>
  </p:transition>
</p:sld>
</file>

<file path=ppt/slides/slide2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91467" y="421672"/>
            <a:ext cx="16749574" cy="1928908"/>
            <a:chOff x="0" y="0"/>
            <a:chExt cx="719661" cy="82931"/>
          </a:xfrm>
        </p:grpSpPr>
        <p:sp>
          <p:nvSpPr>
            <p:cNvPr name="Freeform 3" id="3"/>
            <p:cNvSpPr/>
            <p:nvPr/>
          </p:nvSpPr>
          <p:spPr>
            <a:xfrm flipH="false" flipV="false" rot="0">
              <a:off x="0" y="0"/>
              <a:ext cx="719661" cy="82931"/>
            </a:xfrm>
            <a:custGeom>
              <a:avLst/>
              <a:gdLst/>
              <a:ahLst/>
              <a:cxnLst/>
              <a:rect r="r" b="b" t="t" l="l"/>
              <a:pathLst>
                <a:path h="82931" w="719661">
                  <a:moveTo>
                    <a:pt x="719661" y="41466"/>
                  </a:moveTo>
                  <a:lnTo>
                    <a:pt x="719661" y="41466"/>
                  </a:lnTo>
                  <a:cubicBezTo>
                    <a:pt x="719661" y="52463"/>
                    <a:pt x="715293" y="63010"/>
                    <a:pt x="707516" y="70786"/>
                  </a:cubicBezTo>
                  <a:cubicBezTo>
                    <a:pt x="699740" y="78562"/>
                    <a:pt x="689193" y="82931"/>
                    <a:pt x="678196" y="82931"/>
                  </a:cubicBezTo>
                  <a:lnTo>
                    <a:pt x="41466" y="82931"/>
                  </a:lnTo>
                  <a:cubicBezTo>
                    <a:pt x="30468" y="82931"/>
                    <a:pt x="19921" y="78562"/>
                    <a:pt x="12145" y="70786"/>
                  </a:cubicBezTo>
                  <a:cubicBezTo>
                    <a:pt x="4369" y="63010"/>
                    <a:pt x="0" y="52463"/>
                    <a:pt x="0" y="41466"/>
                  </a:cubicBezTo>
                  <a:lnTo>
                    <a:pt x="0" y="41466"/>
                  </a:lnTo>
                  <a:cubicBezTo>
                    <a:pt x="0" y="30468"/>
                    <a:pt x="4369" y="19921"/>
                    <a:pt x="12145" y="12145"/>
                  </a:cubicBezTo>
                  <a:cubicBezTo>
                    <a:pt x="19921" y="4369"/>
                    <a:pt x="30468" y="0"/>
                    <a:pt x="41466" y="0"/>
                  </a:cubicBezTo>
                  <a:lnTo>
                    <a:pt x="678196" y="0"/>
                  </a:lnTo>
                  <a:cubicBezTo>
                    <a:pt x="689193" y="0"/>
                    <a:pt x="699740" y="4369"/>
                    <a:pt x="707516" y="12145"/>
                  </a:cubicBezTo>
                  <a:cubicBezTo>
                    <a:pt x="715293" y="19921"/>
                    <a:pt x="719661" y="30468"/>
                    <a:pt x="719661" y="41466"/>
                  </a:cubicBezTo>
                  <a:close/>
                </a:path>
              </a:pathLst>
            </a:custGeom>
            <a:solidFill>
              <a:srgbClr val="002699"/>
            </a:solidFill>
            <a:ln cap="rnd">
              <a:noFill/>
              <a:prstDash val="solid"/>
              <a:round/>
            </a:ln>
          </p:spPr>
        </p:sp>
        <p:sp>
          <p:nvSpPr>
            <p:cNvPr name="TextBox 4" id="4"/>
            <p:cNvSpPr txBox="true"/>
            <p:nvPr/>
          </p:nvSpPr>
          <p:spPr>
            <a:xfrm>
              <a:off x="0" y="-47625"/>
              <a:ext cx="719661" cy="130556"/>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1197883" y="638175"/>
            <a:ext cx="14665425" cy="1533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4.3 THÔNG SỐ SỬ DỤNG MACHINE LEARNING ĐỂ DỰ ĐOÁN</a:t>
            </a:r>
          </a:p>
        </p:txBody>
      </p:sp>
      <p:sp>
        <p:nvSpPr>
          <p:cNvPr name="TextBox 6" id="6"/>
          <p:cNvSpPr txBox="true"/>
          <p:nvPr/>
        </p:nvSpPr>
        <p:spPr>
          <a:xfrm rot="0">
            <a:off x="16521410" y="9684397"/>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23 of 37</a:t>
            </a:r>
          </a:p>
        </p:txBody>
      </p:sp>
      <p:sp>
        <p:nvSpPr>
          <p:cNvPr name="AutoShape 7" id="7"/>
          <p:cNvSpPr/>
          <p:nvPr/>
        </p:nvSpPr>
        <p:spPr>
          <a:xfrm>
            <a:off x="3159729" y="3330554"/>
            <a:ext cx="3814264" cy="0"/>
          </a:xfrm>
          <a:prstGeom prst="line">
            <a:avLst/>
          </a:prstGeom>
          <a:ln cap="flat" w="38100">
            <a:solidFill>
              <a:srgbClr val="1B4290"/>
            </a:solidFill>
            <a:prstDash val="solid"/>
            <a:headEnd type="none" len="sm" w="sm"/>
            <a:tailEnd type="none" len="sm" w="sm"/>
          </a:ln>
        </p:spPr>
      </p:sp>
      <p:sp>
        <p:nvSpPr>
          <p:cNvPr name="TextBox 8" id="8"/>
          <p:cNvSpPr txBox="true"/>
          <p:nvPr/>
        </p:nvSpPr>
        <p:spPr>
          <a:xfrm rot="0">
            <a:off x="2732889" y="2700769"/>
            <a:ext cx="4667943" cy="537210"/>
          </a:xfrm>
          <a:prstGeom prst="rect">
            <a:avLst/>
          </a:prstGeom>
        </p:spPr>
        <p:txBody>
          <a:bodyPr anchor="t" rtlCol="false" tIns="0" lIns="0" bIns="0" rIns="0">
            <a:spAutoFit/>
          </a:bodyPr>
          <a:lstStyle/>
          <a:p>
            <a:pPr algn="ctr">
              <a:lnSpc>
                <a:spcPts val="4320"/>
              </a:lnSpc>
              <a:spcBef>
                <a:spcPct val="0"/>
              </a:spcBef>
            </a:pPr>
            <a:r>
              <a:rPr lang="en-US" b="true" sz="3000">
                <a:solidFill>
                  <a:srgbClr val="1B4290"/>
                </a:solidFill>
                <a:latin typeface="Roboto Bold"/>
                <a:ea typeface="Roboto Bold"/>
                <a:cs typeface="Roboto Bold"/>
                <a:sym typeface="Roboto Bold"/>
              </a:rPr>
              <a:t>ĐÁNH GIÁ HIỆU SUẤT</a:t>
            </a:r>
          </a:p>
        </p:txBody>
      </p:sp>
      <p:sp>
        <p:nvSpPr>
          <p:cNvPr name="TextBox 9" id="9"/>
          <p:cNvSpPr txBox="true"/>
          <p:nvPr/>
        </p:nvSpPr>
        <p:spPr>
          <a:xfrm rot="0">
            <a:off x="1790663" y="3460170"/>
            <a:ext cx="4617095" cy="561975"/>
          </a:xfrm>
          <a:prstGeom prst="rect">
            <a:avLst/>
          </a:prstGeom>
        </p:spPr>
        <p:txBody>
          <a:bodyPr anchor="t" rtlCol="false" tIns="0" lIns="0" bIns="0" rIns="0">
            <a:spAutoFit/>
          </a:bodyPr>
          <a:lstStyle/>
          <a:p>
            <a:pPr algn="l">
              <a:lnSpc>
                <a:spcPts val="4500"/>
              </a:lnSpc>
              <a:spcBef>
                <a:spcPct val="0"/>
              </a:spcBef>
            </a:pPr>
            <a:r>
              <a:rPr lang="en-US" b="true" sz="3000">
                <a:solidFill>
                  <a:srgbClr val="1B4290"/>
                </a:solidFill>
                <a:latin typeface="Roboto Bold"/>
                <a:ea typeface="Roboto Bold"/>
                <a:cs typeface="Roboto Bold"/>
                <a:sym typeface="Roboto Bold"/>
              </a:rPr>
              <a:t>✅ </a:t>
            </a:r>
            <a:r>
              <a:rPr lang="en-US" b="true" sz="3000">
                <a:solidFill>
                  <a:srgbClr val="1B4290"/>
                </a:solidFill>
                <a:latin typeface="Roboto Bold"/>
                <a:ea typeface="Roboto Bold"/>
                <a:cs typeface="Roboto Bold"/>
                <a:sym typeface="Roboto Bold"/>
              </a:rPr>
              <a:t>Ổn định &amp; Đáng tin cậy:</a:t>
            </a:r>
          </a:p>
        </p:txBody>
      </p:sp>
      <p:sp>
        <p:nvSpPr>
          <p:cNvPr name="TextBox 10" id="10"/>
          <p:cNvSpPr txBox="true"/>
          <p:nvPr/>
        </p:nvSpPr>
        <p:spPr>
          <a:xfrm rot="0">
            <a:off x="1790663" y="4065156"/>
            <a:ext cx="6552396" cy="1298575"/>
          </a:xfrm>
          <a:prstGeom prst="rect">
            <a:avLst/>
          </a:prstGeom>
        </p:spPr>
        <p:txBody>
          <a:bodyPr anchor="t" rtlCol="false" tIns="0" lIns="0" bIns="0" rIns="0">
            <a:spAutoFit/>
          </a:bodyPr>
          <a:lstStyle/>
          <a:p>
            <a:pPr algn="l">
              <a:lnSpc>
                <a:spcPts val="3499"/>
              </a:lnSpc>
              <a:spcBef>
                <a:spcPct val="0"/>
              </a:spcBef>
            </a:pPr>
            <a:r>
              <a:rPr lang="en-US" sz="2499">
                <a:solidFill>
                  <a:srgbClr val="000000"/>
                </a:solidFill>
                <a:latin typeface="Roboto"/>
                <a:ea typeface="Roboto"/>
                <a:cs typeface="Roboto"/>
                <a:sym typeface="Roboto"/>
              </a:rPr>
              <a:t>Mô hình có sai số thấp và độ chênh lệch không đáng kể giữa tập huấn luyện và kiểm thử.</a:t>
            </a:r>
          </a:p>
        </p:txBody>
      </p:sp>
      <p:sp>
        <p:nvSpPr>
          <p:cNvPr name="TextBox 11" id="11"/>
          <p:cNvSpPr txBox="true"/>
          <p:nvPr/>
        </p:nvSpPr>
        <p:spPr>
          <a:xfrm rot="0">
            <a:off x="1790663" y="5620906"/>
            <a:ext cx="4847332" cy="533400"/>
          </a:xfrm>
          <a:prstGeom prst="rect">
            <a:avLst/>
          </a:prstGeom>
        </p:spPr>
        <p:txBody>
          <a:bodyPr anchor="t" rtlCol="false" tIns="0" lIns="0" bIns="0" rIns="0">
            <a:spAutoFit/>
          </a:bodyPr>
          <a:lstStyle/>
          <a:p>
            <a:pPr algn="l">
              <a:lnSpc>
                <a:spcPts val="4200"/>
              </a:lnSpc>
              <a:spcBef>
                <a:spcPct val="0"/>
              </a:spcBef>
            </a:pPr>
            <a:r>
              <a:rPr lang="en-US" b="true" sz="3000">
                <a:solidFill>
                  <a:srgbClr val="1B4290"/>
                </a:solidFill>
                <a:latin typeface="Roboto Bold"/>
                <a:ea typeface="Roboto Bold"/>
                <a:cs typeface="Roboto Bold"/>
                <a:sym typeface="Roboto Bold"/>
              </a:rPr>
              <a:t>📊 </a:t>
            </a:r>
            <a:r>
              <a:rPr lang="en-US" b="true" sz="3000">
                <a:solidFill>
                  <a:srgbClr val="1B4290"/>
                </a:solidFill>
                <a:latin typeface="Roboto Bold"/>
                <a:ea typeface="Roboto Bold"/>
                <a:cs typeface="Roboto Bold"/>
                <a:sym typeface="Roboto Bold"/>
              </a:rPr>
              <a:t>Sai số trung bình (3-4%):</a:t>
            </a:r>
          </a:p>
        </p:txBody>
      </p:sp>
      <p:sp>
        <p:nvSpPr>
          <p:cNvPr name="TextBox 12" id="12"/>
          <p:cNvSpPr txBox="true"/>
          <p:nvPr/>
        </p:nvSpPr>
        <p:spPr>
          <a:xfrm rot="0">
            <a:off x="1790663" y="6201931"/>
            <a:ext cx="6552396" cy="1298575"/>
          </a:xfrm>
          <a:prstGeom prst="rect">
            <a:avLst/>
          </a:prstGeom>
        </p:spPr>
        <p:txBody>
          <a:bodyPr anchor="t" rtlCol="false" tIns="0" lIns="0" bIns="0" rIns="0">
            <a:spAutoFit/>
          </a:bodyPr>
          <a:lstStyle/>
          <a:p>
            <a:pPr algn="l">
              <a:lnSpc>
                <a:spcPts val="3499"/>
              </a:lnSpc>
              <a:spcBef>
                <a:spcPct val="0"/>
              </a:spcBef>
            </a:pPr>
            <a:r>
              <a:rPr lang="en-US" sz="2499">
                <a:solidFill>
                  <a:srgbClr val="000000"/>
                </a:solidFill>
                <a:latin typeface="Roboto"/>
                <a:ea typeface="Roboto"/>
                <a:cs typeface="Roboto"/>
                <a:sym typeface="Roboto"/>
              </a:rPr>
              <a:t>Được xem là 'khá tốt' trong bối cảnh dự đoán chỉ số sinh học (vốn bị ảnh hưởng bởi nhiều yếu tố sinh lý).</a:t>
            </a:r>
          </a:p>
        </p:txBody>
      </p:sp>
      <p:sp>
        <p:nvSpPr>
          <p:cNvPr name="TextBox 13" id="13"/>
          <p:cNvSpPr txBox="true"/>
          <p:nvPr/>
        </p:nvSpPr>
        <p:spPr>
          <a:xfrm rot="0">
            <a:off x="9774998" y="2700769"/>
            <a:ext cx="6722340" cy="537210"/>
          </a:xfrm>
          <a:prstGeom prst="rect">
            <a:avLst/>
          </a:prstGeom>
        </p:spPr>
        <p:txBody>
          <a:bodyPr anchor="t" rtlCol="false" tIns="0" lIns="0" bIns="0" rIns="0">
            <a:spAutoFit/>
          </a:bodyPr>
          <a:lstStyle/>
          <a:p>
            <a:pPr algn="ctr">
              <a:lnSpc>
                <a:spcPts val="4320"/>
              </a:lnSpc>
              <a:spcBef>
                <a:spcPct val="0"/>
              </a:spcBef>
            </a:pPr>
            <a:r>
              <a:rPr lang="en-US" b="true" sz="3000">
                <a:solidFill>
                  <a:srgbClr val="1B4290"/>
                </a:solidFill>
                <a:latin typeface="Roboto Bold"/>
                <a:ea typeface="Roboto Bold"/>
                <a:cs typeface="Roboto Bold"/>
                <a:sym typeface="Roboto Bold"/>
              </a:rPr>
              <a:t>ĐỊNH HƯỚNG CẢI THIỆN Ở TƯƠNG LAI</a:t>
            </a:r>
          </a:p>
        </p:txBody>
      </p:sp>
      <p:sp>
        <p:nvSpPr>
          <p:cNvPr name="AutoShape 14" id="14"/>
          <p:cNvSpPr/>
          <p:nvPr/>
        </p:nvSpPr>
        <p:spPr>
          <a:xfrm>
            <a:off x="11318233" y="3349604"/>
            <a:ext cx="3814264" cy="0"/>
          </a:xfrm>
          <a:prstGeom prst="line">
            <a:avLst/>
          </a:prstGeom>
          <a:ln cap="flat" w="38100">
            <a:solidFill>
              <a:srgbClr val="1B4290"/>
            </a:solidFill>
            <a:prstDash val="solid"/>
            <a:headEnd type="none" len="sm" w="sm"/>
            <a:tailEnd type="none" len="sm" w="sm"/>
          </a:ln>
        </p:spPr>
      </p:sp>
      <p:sp>
        <p:nvSpPr>
          <p:cNvPr name="TextBox 15" id="15"/>
          <p:cNvSpPr txBox="true"/>
          <p:nvPr/>
        </p:nvSpPr>
        <p:spPr>
          <a:xfrm rot="0">
            <a:off x="9860458" y="3460170"/>
            <a:ext cx="4054525" cy="561975"/>
          </a:xfrm>
          <a:prstGeom prst="rect">
            <a:avLst/>
          </a:prstGeom>
        </p:spPr>
        <p:txBody>
          <a:bodyPr anchor="t" rtlCol="false" tIns="0" lIns="0" bIns="0" rIns="0">
            <a:spAutoFit/>
          </a:bodyPr>
          <a:lstStyle/>
          <a:p>
            <a:pPr algn="l">
              <a:lnSpc>
                <a:spcPts val="4500"/>
              </a:lnSpc>
              <a:spcBef>
                <a:spcPct val="0"/>
              </a:spcBef>
            </a:pPr>
            <a:r>
              <a:rPr lang="en-US" b="true" sz="3000">
                <a:solidFill>
                  <a:srgbClr val="1B4290"/>
                </a:solidFill>
                <a:latin typeface="Roboto Bold"/>
                <a:ea typeface="Roboto Bold"/>
                <a:cs typeface="Roboto Bold"/>
                <a:sym typeface="Roboto Bold"/>
              </a:rPr>
              <a:t>⚙️ Mở</a:t>
            </a:r>
            <a:r>
              <a:rPr lang="en-US" b="true" sz="3000">
                <a:solidFill>
                  <a:srgbClr val="1B4290"/>
                </a:solidFill>
                <a:latin typeface="Roboto Bold"/>
                <a:ea typeface="Roboto Bold"/>
                <a:cs typeface="Roboto Bold"/>
                <a:sym typeface="Roboto Bold"/>
              </a:rPr>
              <a:t> rộng tập dữ liệu:</a:t>
            </a:r>
          </a:p>
        </p:txBody>
      </p:sp>
      <p:sp>
        <p:nvSpPr>
          <p:cNvPr name="TextBox 16" id="16"/>
          <p:cNvSpPr txBox="true"/>
          <p:nvPr/>
        </p:nvSpPr>
        <p:spPr>
          <a:xfrm rot="0">
            <a:off x="9860458" y="4633481"/>
            <a:ext cx="3882777" cy="561975"/>
          </a:xfrm>
          <a:prstGeom prst="rect">
            <a:avLst/>
          </a:prstGeom>
        </p:spPr>
        <p:txBody>
          <a:bodyPr anchor="t" rtlCol="false" tIns="0" lIns="0" bIns="0" rIns="0">
            <a:spAutoFit/>
          </a:bodyPr>
          <a:lstStyle/>
          <a:p>
            <a:pPr algn="l">
              <a:lnSpc>
                <a:spcPts val="4500"/>
              </a:lnSpc>
              <a:spcBef>
                <a:spcPct val="0"/>
              </a:spcBef>
            </a:pPr>
            <a:r>
              <a:rPr lang="en-US" b="true" sz="3000">
                <a:solidFill>
                  <a:srgbClr val="1B4290"/>
                </a:solidFill>
                <a:latin typeface="Roboto Bold"/>
                <a:ea typeface="Roboto Bold"/>
                <a:cs typeface="Roboto Bold"/>
                <a:sym typeface="Roboto Bold"/>
              </a:rPr>
              <a:t>🔍 Bổ</a:t>
            </a:r>
            <a:r>
              <a:rPr lang="en-US" b="true" sz="3000">
                <a:solidFill>
                  <a:srgbClr val="1B4290"/>
                </a:solidFill>
                <a:latin typeface="Roboto Bold"/>
                <a:ea typeface="Roboto Bold"/>
                <a:cs typeface="Roboto Bold"/>
                <a:sym typeface="Roboto Bold"/>
              </a:rPr>
              <a:t> sung đặc trưng:</a:t>
            </a:r>
          </a:p>
        </p:txBody>
      </p:sp>
      <p:sp>
        <p:nvSpPr>
          <p:cNvPr name="TextBox 17" id="17"/>
          <p:cNvSpPr txBox="true"/>
          <p:nvPr/>
        </p:nvSpPr>
        <p:spPr>
          <a:xfrm rot="0">
            <a:off x="9860458" y="6262256"/>
            <a:ext cx="4997648" cy="561975"/>
          </a:xfrm>
          <a:prstGeom prst="rect">
            <a:avLst/>
          </a:prstGeom>
        </p:spPr>
        <p:txBody>
          <a:bodyPr anchor="t" rtlCol="false" tIns="0" lIns="0" bIns="0" rIns="0">
            <a:spAutoFit/>
          </a:bodyPr>
          <a:lstStyle/>
          <a:p>
            <a:pPr algn="l">
              <a:lnSpc>
                <a:spcPts val="4500"/>
              </a:lnSpc>
              <a:spcBef>
                <a:spcPct val="0"/>
              </a:spcBef>
            </a:pPr>
            <a:r>
              <a:rPr lang="en-US" b="true" sz="3000">
                <a:solidFill>
                  <a:srgbClr val="1B4290"/>
                </a:solidFill>
                <a:latin typeface="Roboto Bold"/>
                <a:ea typeface="Roboto Bold"/>
                <a:cs typeface="Roboto Bold"/>
                <a:sym typeface="Roboto Bold"/>
              </a:rPr>
              <a:t>🧠 Thử</a:t>
            </a:r>
            <a:r>
              <a:rPr lang="en-US" b="true" sz="3000">
                <a:solidFill>
                  <a:srgbClr val="1B4290"/>
                </a:solidFill>
                <a:latin typeface="Roboto Bold"/>
                <a:ea typeface="Roboto Bold"/>
                <a:cs typeface="Roboto Bold"/>
                <a:sym typeface="Roboto Bold"/>
              </a:rPr>
              <a:t> nghiệm mô hình mới:</a:t>
            </a:r>
          </a:p>
        </p:txBody>
      </p:sp>
      <p:sp>
        <p:nvSpPr>
          <p:cNvPr name="TextBox 18" id="18"/>
          <p:cNvSpPr txBox="true"/>
          <p:nvPr/>
        </p:nvSpPr>
        <p:spPr>
          <a:xfrm rot="0">
            <a:off x="9860458" y="4055631"/>
            <a:ext cx="6535489" cy="428625"/>
          </a:xfrm>
          <a:prstGeom prst="rect">
            <a:avLst/>
          </a:prstGeom>
        </p:spPr>
        <p:txBody>
          <a:bodyPr anchor="t" rtlCol="false" tIns="0" lIns="0" bIns="0" rIns="0">
            <a:spAutoFit/>
          </a:bodyPr>
          <a:lstStyle/>
          <a:p>
            <a:pPr algn="l">
              <a:lnSpc>
                <a:spcPts val="3599"/>
              </a:lnSpc>
              <a:spcBef>
                <a:spcPct val="0"/>
              </a:spcBef>
            </a:pPr>
            <a:r>
              <a:rPr lang="en-US" sz="2499">
                <a:solidFill>
                  <a:srgbClr val="000000"/>
                </a:solidFill>
                <a:latin typeface="Roboto"/>
                <a:ea typeface="Roboto"/>
                <a:cs typeface="Roboto"/>
                <a:sym typeface="Roboto"/>
              </a:rPr>
              <a:t>Tăng số lượng bản ghi để mô hình học tốt hơn.</a:t>
            </a:r>
          </a:p>
        </p:txBody>
      </p:sp>
      <p:sp>
        <p:nvSpPr>
          <p:cNvPr name="TextBox 19" id="19"/>
          <p:cNvSpPr txBox="true"/>
          <p:nvPr/>
        </p:nvSpPr>
        <p:spPr>
          <a:xfrm rot="0">
            <a:off x="9860458" y="5233556"/>
            <a:ext cx="6551418" cy="876300"/>
          </a:xfrm>
          <a:prstGeom prst="rect">
            <a:avLst/>
          </a:prstGeom>
        </p:spPr>
        <p:txBody>
          <a:bodyPr anchor="t" rtlCol="false" tIns="0" lIns="0" bIns="0" rIns="0">
            <a:spAutoFit/>
          </a:bodyPr>
          <a:lstStyle/>
          <a:p>
            <a:pPr algn="l">
              <a:lnSpc>
                <a:spcPts val="3599"/>
              </a:lnSpc>
              <a:spcBef>
                <a:spcPct val="0"/>
              </a:spcBef>
            </a:pPr>
            <a:r>
              <a:rPr lang="en-US" sz="2499">
                <a:solidFill>
                  <a:srgbClr val="000000"/>
                </a:solidFill>
                <a:latin typeface="Roboto"/>
                <a:ea typeface="Roboto"/>
                <a:cs typeface="Roboto"/>
                <a:sym typeface="Roboto"/>
              </a:rPr>
              <a:t>Thêm các đặc trưng đầu vào mới để tăng độ chính xác.</a:t>
            </a:r>
          </a:p>
        </p:txBody>
      </p:sp>
      <p:sp>
        <p:nvSpPr>
          <p:cNvPr name="TextBox 20" id="20"/>
          <p:cNvSpPr txBox="true"/>
          <p:nvPr/>
        </p:nvSpPr>
        <p:spPr>
          <a:xfrm rot="0">
            <a:off x="9860458" y="6862331"/>
            <a:ext cx="6324005" cy="428625"/>
          </a:xfrm>
          <a:prstGeom prst="rect">
            <a:avLst/>
          </a:prstGeom>
        </p:spPr>
        <p:txBody>
          <a:bodyPr anchor="t" rtlCol="false" tIns="0" lIns="0" bIns="0" rIns="0">
            <a:spAutoFit/>
          </a:bodyPr>
          <a:lstStyle/>
          <a:p>
            <a:pPr algn="l">
              <a:lnSpc>
                <a:spcPts val="3599"/>
              </a:lnSpc>
              <a:spcBef>
                <a:spcPct val="0"/>
              </a:spcBef>
            </a:pPr>
            <a:r>
              <a:rPr lang="en-US" sz="2499">
                <a:solidFill>
                  <a:srgbClr val="000000"/>
                </a:solidFill>
                <a:latin typeface="Roboto"/>
                <a:ea typeface="Roboto"/>
                <a:cs typeface="Roboto"/>
                <a:sym typeface="Roboto"/>
              </a:rPr>
              <a:t>Sử dụng các mô hình học máy nâng cao hơn.</a:t>
            </a:r>
          </a:p>
        </p:txBody>
      </p:sp>
    </p:spTree>
  </p:cSld>
  <p:clrMapOvr>
    <a:masterClrMapping/>
  </p:clrMapOvr>
  <p:transition spd="med">
    <p:push dir="l"/>
  </p:transition>
</p:sld>
</file>

<file path=ppt/slides/slide2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91467" y="421672"/>
            <a:ext cx="18412878" cy="1928908"/>
            <a:chOff x="0" y="0"/>
            <a:chExt cx="791127" cy="82931"/>
          </a:xfrm>
        </p:grpSpPr>
        <p:sp>
          <p:nvSpPr>
            <p:cNvPr name="Freeform 3" id="3"/>
            <p:cNvSpPr/>
            <p:nvPr/>
          </p:nvSpPr>
          <p:spPr>
            <a:xfrm flipH="false" flipV="false" rot="0">
              <a:off x="0" y="0"/>
              <a:ext cx="791127" cy="82931"/>
            </a:xfrm>
            <a:custGeom>
              <a:avLst/>
              <a:gdLst/>
              <a:ahLst/>
              <a:cxnLst/>
              <a:rect r="r" b="b" t="t" l="l"/>
              <a:pathLst>
                <a:path h="82931" w="791127">
                  <a:moveTo>
                    <a:pt x="791127" y="41466"/>
                  </a:moveTo>
                  <a:lnTo>
                    <a:pt x="791127" y="41466"/>
                  </a:lnTo>
                  <a:cubicBezTo>
                    <a:pt x="791127" y="52463"/>
                    <a:pt x="786758" y="63010"/>
                    <a:pt x="778982" y="70786"/>
                  </a:cubicBezTo>
                  <a:cubicBezTo>
                    <a:pt x="771205" y="78562"/>
                    <a:pt x="760659" y="82931"/>
                    <a:pt x="749661" y="82931"/>
                  </a:cubicBezTo>
                  <a:lnTo>
                    <a:pt x="41466" y="82931"/>
                  </a:lnTo>
                  <a:cubicBezTo>
                    <a:pt x="30468" y="82931"/>
                    <a:pt x="19921" y="78562"/>
                    <a:pt x="12145" y="70786"/>
                  </a:cubicBezTo>
                  <a:cubicBezTo>
                    <a:pt x="4369" y="63010"/>
                    <a:pt x="0" y="52463"/>
                    <a:pt x="0" y="41466"/>
                  </a:cubicBezTo>
                  <a:lnTo>
                    <a:pt x="0" y="41466"/>
                  </a:lnTo>
                  <a:cubicBezTo>
                    <a:pt x="0" y="30468"/>
                    <a:pt x="4369" y="19921"/>
                    <a:pt x="12145" y="12145"/>
                  </a:cubicBezTo>
                  <a:cubicBezTo>
                    <a:pt x="19921" y="4369"/>
                    <a:pt x="30468" y="0"/>
                    <a:pt x="41466" y="0"/>
                  </a:cubicBezTo>
                  <a:lnTo>
                    <a:pt x="749661" y="0"/>
                  </a:lnTo>
                  <a:cubicBezTo>
                    <a:pt x="760659" y="0"/>
                    <a:pt x="771205" y="4369"/>
                    <a:pt x="778982" y="12145"/>
                  </a:cubicBezTo>
                  <a:cubicBezTo>
                    <a:pt x="786758" y="19921"/>
                    <a:pt x="791127" y="30468"/>
                    <a:pt x="791127" y="41466"/>
                  </a:cubicBezTo>
                  <a:close/>
                </a:path>
              </a:pathLst>
            </a:custGeom>
            <a:solidFill>
              <a:srgbClr val="002699"/>
            </a:solidFill>
            <a:ln cap="rnd">
              <a:noFill/>
              <a:prstDash val="solid"/>
              <a:round/>
            </a:ln>
          </p:spPr>
        </p:sp>
        <p:sp>
          <p:nvSpPr>
            <p:cNvPr name="TextBox 4" id="4"/>
            <p:cNvSpPr txBox="true"/>
            <p:nvPr/>
          </p:nvSpPr>
          <p:spPr>
            <a:xfrm>
              <a:off x="0" y="-47625"/>
              <a:ext cx="791127" cy="130556"/>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1197883" y="638175"/>
            <a:ext cx="14665425" cy="1533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4.4 SO SÁNH VỚI CHỈ SỐ VỚI THIẾT BỊ THỰC TẾ</a:t>
            </a:r>
          </a:p>
        </p:txBody>
      </p:sp>
      <p:graphicFrame>
        <p:nvGraphicFramePr>
          <p:cNvPr name="Object 6" id="6"/>
          <p:cNvGraphicFramePr/>
          <p:nvPr/>
        </p:nvGraphicFramePr>
        <p:xfrm>
          <a:off x="1453342" y="2566448"/>
          <a:ext cx="9429750" cy="8172450"/>
        </p:xfrm>
        <a:graphic>
          <a:graphicData uri="http://schemas.openxmlformats.org/presentationml/2006/ole">
            <p:oleObj imgW="11315700" imgH="10058400" r:id="rId3" progId="Excel.Sheet.12" name="Worksheet">
              <p:embed/>
              <p:pic>
                <p:nvPicPr>
                  <p:cNvPr name="" id="0"/>
                  <p:cNvPicPr/>
                  <p:nvPr/>
                </p:nvPicPr>
                <p:blipFill>
                  <a:blip r:embed="rId2"/>
                  <a:stretch>
                    <a:fillRect/>
                  </a:stretch>
                </p:blipFill>
                <p:spPr>
                  <a:xfrm>
                    <a:off x="1270000" y="1270000"/>
                    <a:ext cx="1270000" cy="1270000"/>
                  </a:xfrm>
                  <a:prstGeom prst="rect"/>
                </p:spPr>
              </p:pic>
            </p:oleObj>
          </a:graphicData>
        </a:graphic>
      </p:graphicFrame>
      <p:sp>
        <p:nvSpPr>
          <p:cNvPr name="TextBox 7" id="7"/>
          <p:cNvSpPr txBox="true"/>
          <p:nvPr/>
        </p:nvSpPr>
        <p:spPr>
          <a:xfrm rot="0">
            <a:off x="16521410" y="9684397"/>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24 of 37</a:t>
            </a:r>
          </a:p>
        </p:txBody>
      </p:sp>
    </p:spTree>
  </p:cSld>
  <p:clrMapOvr>
    <a:masterClrMapping/>
  </p:clrMapOvr>
  <p:transition spd="med">
    <p:push dir="l"/>
  </p:transition>
</p:sld>
</file>

<file path=ppt/slides/slide2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91467" y="421672"/>
            <a:ext cx="18412878" cy="1928908"/>
            <a:chOff x="0" y="0"/>
            <a:chExt cx="791127" cy="82931"/>
          </a:xfrm>
        </p:grpSpPr>
        <p:sp>
          <p:nvSpPr>
            <p:cNvPr name="Freeform 3" id="3"/>
            <p:cNvSpPr/>
            <p:nvPr/>
          </p:nvSpPr>
          <p:spPr>
            <a:xfrm flipH="false" flipV="false" rot="0">
              <a:off x="0" y="0"/>
              <a:ext cx="791127" cy="82931"/>
            </a:xfrm>
            <a:custGeom>
              <a:avLst/>
              <a:gdLst/>
              <a:ahLst/>
              <a:cxnLst/>
              <a:rect r="r" b="b" t="t" l="l"/>
              <a:pathLst>
                <a:path h="82931" w="791127">
                  <a:moveTo>
                    <a:pt x="791127" y="41466"/>
                  </a:moveTo>
                  <a:lnTo>
                    <a:pt x="791127" y="41466"/>
                  </a:lnTo>
                  <a:cubicBezTo>
                    <a:pt x="791127" y="52463"/>
                    <a:pt x="786758" y="63010"/>
                    <a:pt x="778982" y="70786"/>
                  </a:cubicBezTo>
                  <a:cubicBezTo>
                    <a:pt x="771205" y="78562"/>
                    <a:pt x="760659" y="82931"/>
                    <a:pt x="749661" y="82931"/>
                  </a:cubicBezTo>
                  <a:lnTo>
                    <a:pt x="41466" y="82931"/>
                  </a:lnTo>
                  <a:cubicBezTo>
                    <a:pt x="30468" y="82931"/>
                    <a:pt x="19921" y="78562"/>
                    <a:pt x="12145" y="70786"/>
                  </a:cubicBezTo>
                  <a:cubicBezTo>
                    <a:pt x="4369" y="63010"/>
                    <a:pt x="0" y="52463"/>
                    <a:pt x="0" y="41466"/>
                  </a:cubicBezTo>
                  <a:lnTo>
                    <a:pt x="0" y="41466"/>
                  </a:lnTo>
                  <a:cubicBezTo>
                    <a:pt x="0" y="30468"/>
                    <a:pt x="4369" y="19921"/>
                    <a:pt x="12145" y="12145"/>
                  </a:cubicBezTo>
                  <a:cubicBezTo>
                    <a:pt x="19921" y="4369"/>
                    <a:pt x="30468" y="0"/>
                    <a:pt x="41466" y="0"/>
                  </a:cubicBezTo>
                  <a:lnTo>
                    <a:pt x="749661" y="0"/>
                  </a:lnTo>
                  <a:cubicBezTo>
                    <a:pt x="760659" y="0"/>
                    <a:pt x="771205" y="4369"/>
                    <a:pt x="778982" y="12145"/>
                  </a:cubicBezTo>
                  <a:cubicBezTo>
                    <a:pt x="786758" y="19921"/>
                    <a:pt x="791127" y="30468"/>
                    <a:pt x="791127" y="41466"/>
                  </a:cubicBezTo>
                  <a:close/>
                </a:path>
              </a:pathLst>
            </a:custGeom>
            <a:solidFill>
              <a:srgbClr val="002699"/>
            </a:solidFill>
            <a:ln cap="rnd">
              <a:noFill/>
              <a:prstDash val="solid"/>
              <a:round/>
            </a:ln>
          </p:spPr>
        </p:sp>
        <p:sp>
          <p:nvSpPr>
            <p:cNvPr name="TextBox 4" id="4"/>
            <p:cNvSpPr txBox="true"/>
            <p:nvPr/>
          </p:nvSpPr>
          <p:spPr>
            <a:xfrm>
              <a:off x="0" y="-47625"/>
              <a:ext cx="791127" cy="130556"/>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1197883" y="638175"/>
            <a:ext cx="14665425" cy="1533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4.4 BÀI KIỂM TRA THĂNG BẰNG ĐỨNG MỘT CHÂN (SLS TEST) [SLS]</a:t>
            </a:r>
          </a:p>
        </p:txBody>
      </p:sp>
      <p:grpSp>
        <p:nvGrpSpPr>
          <p:cNvPr name="Group 6" id="6"/>
          <p:cNvGrpSpPr/>
          <p:nvPr/>
        </p:nvGrpSpPr>
        <p:grpSpPr>
          <a:xfrm rot="0">
            <a:off x="3254927" y="3302784"/>
            <a:ext cx="4109026" cy="568128"/>
            <a:chOff x="0" y="0"/>
            <a:chExt cx="5478702" cy="757505"/>
          </a:xfrm>
        </p:grpSpPr>
        <p:sp>
          <p:nvSpPr>
            <p:cNvPr name="AutoShape 7" id="7"/>
            <p:cNvSpPr/>
            <p:nvPr/>
          </p:nvSpPr>
          <p:spPr>
            <a:xfrm>
              <a:off x="500976" y="732105"/>
              <a:ext cx="4476750" cy="0"/>
            </a:xfrm>
            <a:prstGeom prst="line">
              <a:avLst/>
            </a:prstGeom>
            <a:ln cap="flat" w="50800">
              <a:solidFill>
                <a:srgbClr val="1B4290"/>
              </a:solidFill>
              <a:prstDash val="solid"/>
              <a:headEnd type="none" len="sm" w="sm"/>
              <a:tailEnd type="none" len="sm" w="sm"/>
            </a:ln>
          </p:spPr>
        </p:sp>
        <p:sp>
          <p:nvSpPr>
            <p:cNvPr name="TextBox 8" id="8"/>
            <p:cNvSpPr txBox="true"/>
            <p:nvPr/>
          </p:nvSpPr>
          <p:spPr>
            <a:xfrm rot="0">
              <a:off x="0" y="-85725"/>
              <a:ext cx="5478702" cy="687705"/>
            </a:xfrm>
            <a:prstGeom prst="rect">
              <a:avLst/>
            </a:prstGeom>
          </p:spPr>
          <p:txBody>
            <a:bodyPr anchor="t" rtlCol="false" tIns="0" lIns="0" bIns="0" rIns="0">
              <a:spAutoFit/>
            </a:bodyPr>
            <a:lstStyle/>
            <a:p>
              <a:pPr algn="ctr">
                <a:lnSpc>
                  <a:spcPts val="4320"/>
                </a:lnSpc>
                <a:spcBef>
                  <a:spcPct val="0"/>
                </a:spcBef>
              </a:pPr>
              <a:r>
                <a:rPr lang="en-US" b="true" sz="3000">
                  <a:solidFill>
                    <a:srgbClr val="1B4290"/>
                  </a:solidFill>
                  <a:latin typeface="Roboto Bold"/>
                  <a:ea typeface="Roboto Bold"/>
                  <a:cs typeface="Roboto Bold"/>
                  <a:sym typeface="Roboto Bold"/>
                </a:rPr>
                <a:t>MỤC ĐÍCH</a:t>
              </a:r>
            </a:p>
          </p:txBody>
        </p:sp>
      </p:grpSp>
      <p:grpSp>
        <p:nvGrpSpPr>
          <p:cNvPr name="Group 9" id="9"/>
          <p:cNvGrpSpPr/>
          <p:nvPr/>
        </p:nvGrpSpPr>
        <p:grpSpPr>
          <a:xfrm rot="0">
            <a:off x="11527402" y="3302784"/>
            <a:ext cx="4109026" cy="568128"/>
            <a:chOff x="0" y="0"/>
            <a:chExt cx="5478702" cy="757505"/>
          </a:xfrm>
        </p:grpSpPr>
        <p:sp>
          <p:nvSpPr>
            <p:cNvPr name="AutoShape 10" id="10"/>
            <p:cNvSpPr/>
            <p:nvPr/>
          </p:nvSpPr>
          <p:spPr>
            <a:xfrm>
              <a:off x="500976" y="732105"/>
              <a:ext cx="4476750" cy="0"/>
            </a:xfrm>
            <a:prstGeom prst="line">
              <a:avLst/>
            </a:prstGeom>
            <a:ln cap="flat" w="50800">
              <a:solidFill>
                <a:srgbClr val="1B4290"/>
              </a:solidFill>
              <a:prstDash val="solid"/>
              <a:headEnd type="none" len="sm" w="sm"/>
              <a:tailEnd type="none" len="sm" w="sm"/>
            </a:ln>
          </p:spPr>
        </p:sp>
        <p:sp>
          <p:nvSpPr>
            <p:cNvPr name="TextBox 11" id="11"/>
            <p:cNvSpPr txBox="true"/>
            <p:nvPr/>
          </p:nvSpPr>
          <p:spPr>
            <a:xfrm rot="0">
              <a:off x="0" y="-85725"/>
              <a:ext cx="5478702" cy="687705"/>
            </a:xfrm>
            <a:prstGeom prst="rect">
              <a:avLst/>
            </a:prstGeom>
          </p:spPr>
          <p:txBody>
            <a:bodyPr anchor="t" rtlCol="false" tIns="0" lIns="0" bIns="0" rIns="0">
              <a:spAutoFit/>
            </a:bodyPr>
            <a:lstStyle/>
            <a:p>
              <a:pPr algn="ctr">
                <a:lnSpc>
                  <a:spcPts val="4320"/>
                </a:lnSpc>
                <a:spcBef>
                  <a:spcPct val="0"/>
                </a:spcBef>
              </a:pPr>
              <a:r>
                <a:rPr lang="en-US" b="true" sz="3000">
                  <a:solidFill>
                    <a:srgbClr val="1B4290"/>
                  </a:solidFill>
                  <a:latin typeface="Roboto Bold"/>
                  <a:ea typeface="Roboto Bold"/>
                  <a:cs typeface="Roboto Bold"/>
                  <a:sym typeface="Roboto Bold"/>
                </a:rPr>
                <a:t>CÁCH THỰC HIỆN</a:t>
              </a:r>
            </a:p>
          </p:txBody>
        </p:sp>
      </p:grpSp>
      <p:grpSp>
        <p:nvGrpSpPr>
          <p:cNvPr name="Group 12" id="12"/>
          <p:cNvGrpSpPr/>
          <p:nvPr/>
        </p:nvGrpSpPr>
        <p:grpSpPr>
          <a:xfrm rot="0">
            <a:off x="10278906" y="4052282"/>
            <a:ext cx="476954" cy="476954"/>
            <a:chOff x="0" y="0"/>
            <a:chExt cx="812800" cy="812800"/>
          </a:xfrm>
        </p:grpSpPr>
        <p:sp>
          <p:nvSpPr>
            <p:cNvPr name="Freeform 13" id="1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B4290"/>
            </a:solidFill>
          </p:spPr>
        </p:sp>
        <p:sp>
          <p:nvSpPr>
            <p:cNvPr name="TextBox 14" id="14"/>
            <p:cNvSpPr txBox="true"/>
            <p:nvPr/>
          </p:nvSpPr>
          <p:spPr>
            <a:xfrm>
              <a:off x="76200" y="180975"/>
              <a:ext cx="660400" cy="555625"/>
            </a:xfrm>
            <a:prstGeom prst="rect">
              <a:avLst/>
            </a:prstGeom>
          </p:spPr>
          <p:txBody>
            <a:bodyPr anchor="ctr" rtlCol="false" tIns="25400" lIns="25400" bIns="25400" rIns="25400"/>
            <a:lstStyle/>
            <a:p>
              <a:pPr algn="ctr">
                <a:lnSpc>
                  <a:spcPts val="900"/>
                </a:lnSpc>
              </a:pPr>
              <a:r>
                <a:rPr lang="en-US" b="true" sz="1800">
                  <a:solidFill>
                    <a:srgbClr val="FFFFFF"/>
                  </a:solidFill>
                  <a:latin typeface="Roboto Bold"/>
                  <a:ea typeface="Roboto Bold"/>
                  <a:cs typeface="Roboto Bold"/>
                  <a:sym typeface="Roboto Bold"/>
                </a:rPr>
                <a:t>1</a:t>
              </a:r>
            </a:p>
          </p:txBody>
        </p:sp>
      </p:grpSp>
      <p:grpSp>
        <p:nvGrpSpPr>
          <p:cNvPr name="Group 15" id="15"/>
          <p:cNvGrpSpPr/>
          <p:nvPr/>
        </p:nvGrpSpPr>
        <p:grpSpPr>
          <a:xfrm rot="0">
            <a:off x="10278906" y="4854314"/>
            <a:ext cx="476954" cy="501650"/>
            <a:chOff x="0" y="0"/>
            <a:chExt cx="812800" cy="854885"/>
          </a:xfrm>
        </p:grpSpPr>
        <p:sp>
          <p:nvSpPr>
            <p:cNvPr name="Freeform 16" id="16"/>
            <p:cNvSpPr/>
            <p:nvPr/>
          </p:nvSpPr>
          <p:spPr>
            <a:xfrm flipH="false" flipV="false" rot="0">
              <a:off x="0" y="0"/>
              <a:ext cx="812800" cy="854885"/>
            </a:xfrm>
            <a:custGeom>
              <a:avLst/>
              <a:gdLst/>
              <a:ahLst/>
              <a:cxnLst/>
              <a:rect r="r" b="b" t="t" l="l"/>
              <a:pathLst>
                <a:path h="854885" w="812800">
                  <a:moveTo>
                    <a:pt x="406400" y="0"/>
                  </a:moveTo>
                  <a:cubicBezTo>
                    <a:pt x="181951" y="0"/>
                    <a:pt x="0" y="191372"/>
                    <a:pt x="0" y="427442"/>
                  </a:cubicBezTo>
                  <a:cubicBezTo>
                    <a:pt x="0" y="663512"/>
                    <a:pt x="181951" y="854885"/>
                    <a:pt x="406400" y="854885"/>
                  </a:cubicBezTo>
                  <a:cubicBezTo>
                    <a:pt x="630849" y="854885"/>
                    <a:pt x="812800" y="663512"/>
                    <a:pt x="812800" y="427442"/>
                  </a:cubicBezTo>
                  <a:cubicBezTo>
                    <a:pt x="812800" y="191372"/>
                    <a:pt x="630849" y="0"/>
                    <a:pt x="406400" y="0"/>
                  </a:cubicBezTo>
                  <a:close/>
                </a:path>
              </a:pathLst>
            </a:custGeom>
            <a:solidFill>
              <a:srgbClr val="1B4290"/>
            </a:solidFill>
          </p:spPr>
        </p:sp>
        <p:sp>
          <p:nvSpPr>
            <p:cNvPr name="TextBox 17" id="17"/>
            <p:cNvSpPr txBox="true"/>
            <p:nvPr/>
          </p:nvSpPr>
          <p:spPr>
            <a:xfrm>
              <a:off x="76200" y="184920"/>
              <a:ext cx="660400" cy="589819"/>
            </a:xfrm>
            <a:prstGeom prst="rect">
              <a:avLst/>
            </a:prstGeom>
          </p:spPr>
          <p:txBody>
            <a:bodyPr anchor="ctr" rtlCol="false" tIns="25400" lIns="25400" bIns="25400" rIns="25400"/>
            <a:lstStyle/>
            <a:p>
              <a:pPr algn="ctr">
                <a:lnSpc>
                  <a:spcPts val="900"/>
                </a:lnSpc>
              </a:pPr>
              <a:r>
                <a:rPr lang="en-US" b="true" sz="1800">
                  <a:solidFill>
                    <a:srgbClr val="FFFFFF"/>
                  </a:solidFill>
                  <a:latin typeface="Roboto Bold"/>
                  <a:ea typeface="Roboto Bold"/>
                  <a:cs typeface="Roboto Bold"/>
                  <a:sym typeface="Roboto Bold"/>
                </a:rPr>
                <a:t>2</a:t>
              </a:r>
            </a:p>
          </p:txBody>
        </p:sp>
      </p:grpSp>
      <p:grpSp>
        <p:nvGrpSpPr>
          <p:cNvPr name="Group 18" id="18"/>
          <p:cNvGrpSpPr/>
          <p:nvPr/>
        </p:nvGrpSpPr>
        <p:grpSpPr>
          <a:xfrm rot="0">
            <a:off x="10278906" y="5727439"/>
            <a:ext cx="476954" cy="476954"/>
            <a:chOff x="0" y="0"/>
            <a:chExt cx="812800" cy="812800"/>
          </a:xfrm>
        </p:grpSpPr>
        <p:sp>
          <p:nvSpPr>
            <p:cNvPr name="Freeform 19" id="1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B4290"/>
            </a:solidFill>
          </p:spPr>
        </p:sp>
        <p:sp>
          <p:nvSpPr>
            <p:cNvPr name="TextBox 20" id="20"/>
            <p:cNvSpPr txBox="true"/>
            <p:nvPr/>
          </p:nvSpPr>
          <p:spPr>
            <a:xfrm>
              <a:off x="76200" y="180975"/>
              <a:ext cx="660400" cy="555625"/>
            </a:xfrm>
            <a:prstGeom prst="rect">
              <a:avLst/>
            </a:prstGeom>
          </p:spPr>
          <p:txBody>
            <a:bodyPr anchor="ctr" rtlCol="false" tIns="25400" lIns="25400" bIns="25400" rIns="25400"/>
            <a:lstStyle/>
            <a:p>
              <a:pPr algn="ctr">
                <a:lnSpc>
                  <a:spcPts val="900"/>
                </a:lnSpc>
              </a:pPr>
              <a:r>
                <a:rPr lang="en-US" b="true" sz="1800">
                  <a:solidFill>
                    <a:srgbClr val="FFFFFF"/>
                  </a:solidFill>
                  <a:latin typeface="Roboto Bold"/>
                  <a:ea typeface="Roboto Bold"/>
                  <a:cs typeface="Roboto Bold"/>
                  <a:sym typeface="Roboto Bold"/>
                </a:rPr>
                <a:t>3</a:t>
              </a:r>
            </a:p>
          </p:txBody>
        </p:sp>
      </p:grpSp>
      <p:grpSp>
        <p:nvGrpSpPr>
          <p:cNvPr name="Group 21" id="21"/>
          <p:cNvGrpSpPr/>
          <p:nvPr/>
        </p:nvGrpSpPr>
        <p:grpSpPr>
          <a:xfrm rot="0">
            <a:off x="10278906" y="6528243"/>
            <a:ext cx="476954" cy="476954"/>
            <a:chOff x="0" y="0"/>
            <a:chExt cx="812800" cy="812800"/>
          </a:xfrm>
        </p:grpSpPr>
        <p:sp>
          <p:nvSpPr>
            <p:cNvPr name="Freeform 22" id="22"/>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B4290"/>
            </a:solidFill>
          </p:spPr>
        </p:sp>
        <p:sp>
          <p:nvSpPr>
            <p:cNvPr name="TextBox 23" id="23"/>
            <p:cNvSpPr txBox="true"/>
            <p:nvPr/>
          </p:nvSpPr>
          <p:spPr>
            <a:xfrm>
              <a:off x="76200" y="180975"/>
              <a:ext cx="660400" cy="555625"/>
            </a:xfrm>
            <a:prstGeom prst="rect">
              <a:avLst/>
            </a:prstGeom>
          </p:spPr>
          <p:txBody>
            <a:bodyPr anchor="ctr" rtlCol="false" tIns="25400" lIns="25400" bIns="25400" rIns="25400"/>
            <a:lstStyle/>
            <a:p>
              <a:pPr algn="ctr">
                <a:lnSpc>
                  <a:spcPts val="900"/>
                </a:lnSpc>
              </a:pPr>
              <a:r>
                <a:rPr lang="en-US" b="true" sz="1800">
                  <a:solidFill>
                    <a:srgbClr val="FFFFFF"/>
                  </a:solidFill>
                  <a:latin typeface="Roboto Bold"/>
                  <a:ea typeface="Roboto Bold"/>
                  <a:cs typeface="Roboto Bold"/>
                  <a:sym typeface="Roboto Bold"/>
                </a:rPr>
                <a:t>4</a:t>
              </a:r>
            </a:p>
          </p:txBody>
        </p:sp>
      </p:grpSp>
      <p:sp>
        <p:nvSpPr>
          <p:cNvPr name="Freeform 24" id="24"/>
          <p:cNvSpPr/>
          <p:nvPr/>
        </p:nvSpPr>
        <p:spPr>
          <a:xfrm flipH="false" flipV="false" rot="0">
            <a:off x="6115884" y="5560338"/>
            <a:ext cx="3718532" cy="4322497"/>
          </a:xfrm>
          <a:custGeom>
            <a:avLst/>
            <a:gdLst/>
            <a:ahLst/>
            <a:cxnLst/>
            <a:rect r="r" b="b" t="t" l="l"/>
            <a:pathLst>
              <a:path h="4322497" w="3718532">
                <a:moveTo>
                  <a:pt x="0" y="0"/>
                </a:moveTo>
                <a:lnTo>
                  <a:pt x="3718531" y="0"/>
                </a:lnTo>
                <a:lnTo>
                  <a:pt x="3718531" y="4322497"/>
                </a:lnTo>
                <a:lnTo>
                  <a:pt x="0" y="4322497"/>
                </a:lnTo>
                <a:lnTo>
                  <a:pt x="0" y="0"/>
                </a:lnTo>
                <a:close/>
              </a:path>
            </a:pathLst>
          </a:custGeom>
          <a:blipFill>
            <a:blip r:embed="rId2"/>
            <a:stretch>
              <a:fillRect l="0" t="0" r="0" b="0"/>
            </a:stretch>
          </a:blipFill>
        </p:spPr>
      </p:sp>
      <p:sp>
        <p:nvSpPr>
          <p:cNvPr name="TextBox 25" id="25"/>
          <p:cNvSpPr txBox="true"/>
          <p:nvPr/>
        </p:nvSpPr>
        <p:spPr>
          <a:xfrm rot="0">
            <a:off x="16521410" y="9684397"/>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25 of 37</a:t>
            </a:r>
          </a:p>
        </p:txBody>
      </p:sp>
      <p:sp>
        <p:nvSpPr>
          <p:cNvPr name="TextBox 26" id="26"/>
          <p:cNvSpPr txBox="true"/>
          <p:nvPr/>
        </p:nvSpPr>
        <p:spPr>
          <a:xfrm rot="0">
            <a:off x="1028700" y="8961120"/>
            <a:ext cx="4642693" cy="297180"/>
          </a:xfrm>
          <a:prstGeom prst="rect">
            <a:avLst/>
          </a:prstGeom>
        </p:spPr>
        <p:txBody>
          <a:bodyPr anchor="t" rtlCol="false" tIns="0" lIns="0" bIns="0" rIns="0">
            <a:spAutoFit/>
          </a:bodyPr>
          <a:lstStyle/>
          <a:p>
            <a:pPr algn="ctr">
              <a:lnSpc>
                <a:spcPts val="2520"/>
              </a:lnSpc>
              <a:spcBef>
                <a:spcPct val="0"/>
              </a:spcBef>
            </a:pPr>
            <a:r>
              <a:rPr lang="en-US" sz="1800">
                <a:solidFill>
                  <a:srgbClr val="000000"/>
                </a:solidFill>
                <a:latin typeface="Canva Sans"/>
                <a:ea typeface="Canva Sans"/>
                <a:cs typeface="Canva Sans"/>
                <a:sym typeface="Canva Sans"/>
              </a:rPr>
              <a:t> [SLS] Physiopedia. Single Leg Stance Test </a:t>
            </a:r>
          </a:p>
        </p:txBody>
      </p:sp>
      <p:sp>
        <p:nvSpPr>
          <p:cNvPr name="TextBox 27" id="27"/>
          <p:cNvSpPr txBox="true"/>
          <p:nvPr/>
        </p:nvSpPr>
        <p:spPr>
          <a:xfrm rot="0">
            <a:off x="1417125" y="4004657"/>
            <a:ext cx="7784630" cy="1736725"/>
          </a:xfrm>
          <a:prstGeom prst="rect">
            <a:avLst/>
          </a:prstGeom>
        </p:spPr>
        <p:txBody>
          <a:bodyPr anchor="t" rtlCol="false" tIns="0" lIns="0" bIns="0" rIns="0">
            <a:spAutoFit/>
          </a:bodyPr>
          <a:lstStyle/>
          <a:p>
            <a:pPr algn="l">
              <a:lnSpc>
                <a:spcPts val="3499"/>
              </a:lnSpc>
            </a:pPr>
            <a:r>
              <a:rPr lang="en-US" sz="2499">
                <a:solidFill>
                  <a:srgbClr val="000000"/>
                </a:solidFill>
                <a:latin typeface="Roboto"/>
                <a:ea typeface="Roboto"/>
                <a:cs typeface="Roboto"/>
                <a:sym typeface="Roboto"/>
              </a:rPr>
              <a:t>⚖️ </a:t>
            </a:r>
            <a:r>
              <a:rPr lang="en-US" sz="2499">
                <a:solidFill>
                  <a:srgbClr val="000000"/>
                </a:solidFill>
                <a:latin typeface="Roboto"/>
                <a:ea typeface="Roboto"/>
                <a:cs typeface="Roboto"/>
                <a:sym typeface="Roboto"/>
              </a:rPr>
              <a:t>Đánh giá khả năng giữ thăng bằng và kiểm soát tư thế.</a:t>
            </a:r>
          </a:p>
          <a:p>
            <a:pPr algn="l">
              <a:lnSpc>
                <a:spcPts val="3499"/>
              </a:lnSpc>
            </a:pPr>
            <a:r>
              <a:rPr lang="en-US" sz="2499">
                <a:solidFill>
                  <a:srgbClr val="000000"/>
                </a:solidFill>
                <a:latin typeface="Roboto"/>
                <a:ea typeface="Roboto"/>
                <a:cs typeface="Roboto"/>
                <a:sym typeface="Roboto"/>
              </a:rPr>
              <a:t>🧠 Theo dõi các rối loạn thần kinh, cơ xương.</a:t>
            </a:r>
          </a:p>
          <a:p>
            <a:pPr algn="l">
              <a:lnSpc>
                <a:spcPts val="3499"/>
              </a:lnSpc>
            </a:pPr>
            <a:r>
              <a:rPr lang="en-US" sz="2499">
                <a:solidFill>
                  <a:srgbClr val="000000"/>
                </a:solidFill>
                <a:latin typeface="Roboto"/>
                <a:ea typeface="Roboto"/>
                <a:cs typeface="Roboto"/>
                <a:sym typeface="Roboto"/>
              </a:rPr>
              <a:t>⚠️ Phát hiện nguy cơ té ngã.</a:t>
            </a:r>
          </a:p>
        </p:txBody>
      </p:sp>
      <p:sp>
        <p:nvSpPr>
          <p:cNvPr name="TextBox 28" id="28"/>
          <p:cNvSpPr txBox="true"/>
          <p:nvPr/>
        </p:nvSpPr>
        <p:spPr>
          <a:xfrm rot="0">
            <a:off x="10868846" y="6522245"/>
            <a:ext cx="6016079" cy="422275"/>
          </a:xfrm>
          <a:prstGeom prst="rect">
            <a:avLst/>
          </a:prstGeom>
        </p:spPr>
        <p:txBody>
          <a:bodyPr anchor="t" rtlCol="false" tIns="0" lIns="0" bIns="0" rIns="0">
            <a:spAutoFit/>
          </a:bodyPr>
          <a:lstStyle/>
          <a:p>
            <a:pPr algn="l">
              <a:lnSpc>
                <a:spcPts val="3499"/>
              </a:lnSpc>
              <a:spcBef>
                <a:spcPct val="0"/>
              </a:spcBef>
            </a:pPr>
            <a:r>
              <a:rPr lang="en-US" sz="2499">
                <a:solidFill>
                  <a:srgbClr val="000000"/>
                </a:solidFill>
                <a:latin typeface="Roboto"/>
                <a:ea typeface="Roboto"/>
                <a:cs typeface="Roboto"/>
                <a:sym typeface="Roboto"/>
              </a:rPr>
              <a:t>Dừng khi chân chạm đất hoặc tay rời hông </a:t>
            </a:r>
          </a:p>
        </p:txBody>
      </p:sp>
      <p:sp>
        <p:nvSpPr>
          <p:cNvPr name="TextBox 29" id="29"/>
          <p:cNvSpPr txBox="true"/>
          <p:nvPr/>
        </p:nvSpPr>
        <p:spPr>
          <a:xfrm rot="0">
            <a:off x="10868846" y="4055809"/>
            <a:ext cx="3482280" cy="422275"/>
          </a:xfrm>
          <a:prstGeom prst="rect">
            <a:avLst/>
          </a:prstGeom>
        </p:spPr>
        <p:txBody>
          <a:bodyPr anchor="t" rtlCol="false" tIns="0" lIns="0" bIns="0" rIns="0">
            <a:spAutoFit/>
          </a:bodyPr>
          <a:lstStyle/>
          <a:p>
            <a:pPr algn="ctr">
              <a:lnSpc>
                <a:spcPts val="3499"/>
              </a:lnSpc>
              <a:spcBef>
                <a:spcPct val="0"/>
              </a:spcBef>
            </a:pPr>
            <a:r>
              <a:rPr lang="en-US" sz="2499">
                <a:solidFill>
                  <a:srgbClr val="000000"/>
                </a:solidFill>
                <a:latin typeface="Roboto"/>
                <a:ea typeface="Roboto"/>
                <a:cs typeface="Roboto"/>
                <a:sym typeface="Roboto"/>
              </a:rPr>
              <a:t>Mở mắt, tay chống hông.</a:t>
            </a:r>
          </a:p>
        </p:txBody>
      </p:sp>
      <p:sp>
        <p:nvSpPr>
          <p:cNvPr name="TextBox 30" id="30"/>
          <p:cNvSpPr txBox="true"/>
          <p:nvPr/>
        </p:nvSpPr>
        <p:spPr>
          <a:xfrm rot="0">
            <a:off x="10868846" y="4870189"/>
            <a:ext cx="4106614" cy="422275"/>
          </a:xfrm>
          <a:prstGeom prst="rect">
            <a:avLst/>
          </a:prstGeom>
        </p:spPr>
        <p:txBody>
          <a:bodyPr anchor="t" rtlCol="false" tIns="0" lIns="0" bIns="0" rIns="0">
            <a:spAutoFit/>
          </a:bodyPr>
          <a:lstStyle/>
          <a:p>
            <a:pPr algn="ctr">
              <a:lnSpc>
                <a:spcPts val="3499"/>
              </a:lnSpc>
              <a:spcBef>
                <a:spcPct val="0"/>
              </a:spcBef>
            </a:pPr>
            <a:r>
              <a:rPr lang="en-US" sz="2499">
                <a:solidFill>
                  <a:srgbClr val="000000"/>
                </a:solidFill>
                <a:latin typeface="Roboto"/>
                <a:ea typeface="Roboto"/>
                <a:cs typeface="Roboto"/>
                <a:sym typeface="Roboto"/>
              </a:rPr>
              <a:t>Đứng một chân không hỗ trợ.</a:t>
            </a:r>
          </a:p>
        </p:txBody>
      </p:sp>
      <p:sp>
        <p:nvSpPr>
          <p:cNvPr name="TextBox 31" id="31"/>
          <p:cNvSpPr txBox="true"/>
          <p:nvPr/>
        </p:nvSpPr>
        <p:spPr>
          <a:xfrm rot="0">
            <a:off x="10868846" y="5730966"/>
            <a:ext cx="5033516" cy="422275"/>
          </a:xfrm>
          <a:prstGeom prst="rect">
            <a:avLst/>
          </a:prstGeom>
        </p:spPr>
        <p:txBody>
          <a:bodyPr anchor="t" rtlCol="false" tIns="0" lIns="0" bIns="0" rIns="0">
            <a:spAutoFit/>
          </a:bodyPr>
          <a:lstStyle/>
          <a:p>
            <a:pPr algn="ctr">
              <a:lnSpc>
                <a:spcPts val="3499"/>
              </a:lnSpc>
              <a:spcBef>
                <a:spcPct val="0"/>
              </a:spcBef>
            </a:pPr>
            <a:r>
              <a:rPr lang="en-US" sz="2499">
                <a:solidFill>
                  <a:srgbClr val="000000"/>
                </a:solidFill>
                <a:latin typeface="Roboto"/>
                <a:ea typeface="Roboto"/>
                <a:cs typeface="Roboto"/>
                <a:sym typeface="Roboto"/>
              </a:rPr>
              <a:t>Bắt đầu tính giờ khi chân kia rời đất.</a:t>
            </a:r>
          </a:p>
        </p:txBody>
      </p:sp>
    </p:spTree>
  </p:cSld>
  <p:clrMapOvr>
    <a:masterClrMapping/>
  </p:clrMapOvr>
  <p:transition spd="med">
    <p:push dir="l"/>
  </p:transition>
</p:sld>
</file>

<file path=ppt/slides/slide2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91467" y="421672"/>
            <a:ext cx="18412878" cy="1928908"/>
            <a:chOff x="0" y="0"/>
            <a:chExt cx="791127" cy="82931"/>
          </a:xfrm>
        </p:grpSpPr>
        <p:sp>
          <p:nvSpPr>
            <p:cNvPr name="Freeform 3" id="3"/>
            <p:cNvSpPr/>
            <p:nvPr/>
          </p:nvSpPr>
          <p:spPr>
            <a:xfrm flipH="false" flipV="false" rot="0">
              <a:off x="0" y="0"/>
              <a:ext cx="791127" cy="82931"/>
            </a:xfrm>
            <a:custGeom>
              <a:avLst/>
              <a:gdLst/>
              <a:ahLst/>
              <a:cxnLst/>
              <a:rect r="r" b="b" t="t" l="l"/>
              <a:pathLst>
                <a:path h="82931" w="791127">
                  <a:moveTo>
                    <a:pt x="791127" y="41466"/>
                  </a:moveTo>
                  <a:lnTo>
                    <a:pt x="791127" y="41466"/>
                  </a:lnTo>
                  <a:cubicBezTo>
                    <a:pt x="791127" y="52463"/>
                    <a:pt x="786758" y="63010"/>
                    <a:pt x="778982" y="70786"/>
                  </a:cubicBezTo>
                  <a:cubicBezTo>
                    <a:pt x="771205" y="78562"/>
                    <a:pt x="760659" y="82931"/>
                    <a:pt x="749661" y="82931"/>
                  </a:cubicBezTo>
                  <a:lnTo>
                    <a:pt x="41466" y="82931"/>
                  </a:lnTo>
                  <a:cubicBezTo>
                    <a:pt x="30468" y="82931"/>
                    <a:pt x="19921" y="78562"/>
                    <a:pt x="12145" y="70786"/>
                  </a:cubicBezTo>
                  <a:cubicBezTo>
                    <a:pt x="4369" y="63010"/>
                    <a:pt x="0" y="52463"/>
                    <a:pt x="0" y="41466"/>
                  </a:cubicBezTo>
                  <a:lnTo>
                    <a:pt x="0" y="41466"/>
                  </a:lnTo>
                  <a:cubicBezTo>
                    <a:pt x="0" y="30468"/>
                    <a:pt x="4369" y="19921"/>
                    <a:pt x="12145" y="12145"/>
                  </a:cubicBezTo>
                  <a:cubicBezTo>
                    <a:pt x="19921" y="4369"/>
                    <a:pt x="30468" y="0"/>
                    <a:pt x="41466" y="0"/>
                  </a:cubicBezTo>
                  <a:lnTo>
                    <a:pt x="749661" y="0"/>
                  </a:lnTo>
                  <a:cubicBezTo>
                    <a:pt x="760659" y="0"/>
                    <a:pt x="771205" y="4369"/>
                    <a:pt x="778982" y="12145"/>
                  </a:cubicBezTo>
                  <a:cubicBezTo>
                    <a:pt x="786758" y="19921"/>
                    <a:pt x="791127" y="30468"/>
                    <a:pt x="791127" y="41466"/>
                  </a:cubicBezTo>
                  <a:close/>
                </a:path>
              </a:pathLst>
            </a:custGeom>
            <a:solidFill>
              <a:srgbClr val="002699"/>
            </a:solidFill>
            <a:ln cap="rnd">
              <a:noFill/>
              <a:prstDash val="solid"/>
              <a:round/>
            </a:ln>
          </p:spPr>
        </p:sp>
        <p:sp>
          <p:nvSpPr>
            <p:cNvPr name="TextBox 4" id="4"/>
            <p:cNvSpPr txBox="true"/>
            <p:nvPr/>
          </p:nvSpPr>
          <p:spPr>
            <a:xfrm>
              <a:off x="0" y="-47625"/>
              <a:ext cx="791127" cy="130556"/>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1197883" y="638175"/>
            <a:ext cx="14665425" cy="1533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4.4 BÀI KIỂM TRA THĂNG BẰNG ĐỨNG MỘT CHÂN (SLS TEST) [SLS]</a:t>
            </a:r>
          </a:p>
        </p:txBody>
      </p:sp>
      <p:sp>
        <p:nvSpPr>
          <p:cNvPr name="TextBox 6" id="6"/>
          <p:cNvSpPr txBox="true"/>
          <p:nvPr/>
        </p:nvSpPr>
        <p:spPr>
          <a:xfrm rot="0">
            <a:off x="16521410" y="9684397"/>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26 of 37</a:t>
            </a:r>
          </a:p>
        </p:txBody>
      </p:sp>
      <p:sp>
        <p:nvSpPr>
          <p:cNvPr name="TextBox 7" id="7"/>
          <p:cNvSpPr txBox="true"/>
          <p:nvPr/>
        </p:nvSpPr>
        <p:spPr>
          <a:xfrm rot="0">
            <a:off x="1029787" y="2499993"/>
            <a:ext cx="6045845" cy="619125"/>
          </a:xfrm>
          <a:prstGeom prst="rect">
            <a:avLst/>
          </a:prstGeom>
        </p:spPr>
        <p:txBody>
          <a:bodyPr anchor="t" rtlCol="false" tIns="0" lIns="0" bIns="0" rIns="0">
            <a:spAutoFit/>
          </a:bodyPr>
          <a:lstStyle/>
          <a:p>
            <a:pPr algn="ctr">
              <a:lnSpc>
                <a:spcPts val="5100"/>
              </a:lnSpc>
              <a:spcBef>
                <a:spcPct val="0"/>
              </a:spcBef>
            </a:pPr>
            <a:r>
              <a:rPr lang="en-US" b="true" sz="3000">
                <a:solidFill>
                  <a:srgbClr val="1B4290"/>
                </a:solidFill>
                <a:latin typeface="Roboto Bold"/>
                <a:ea typeface="Roboto Bold"/>
                <a:cs typeface="Roboto Bold"/>
                <a:sym typeface="Roboto Bold"/>
              </a:rPr>
              <a:t>KIẾN TRÚC VÀ LUỒNG HOẠT ĐỘNG</a:t>
            </a:r>
          </a:p>
        </p:txBody>
      </p:sp>
      <p:sp>
        <p:nvSpPr>
          <p:cNvPr name="AutoShape 8" id="8"/>
          <p:cNvSpPr/>
          <p:nvPr/>
        </p:nvSpPr>
        <p:spPr>
          <a:xfrm flipV="true">
            <a:off x="1028745" y="3185793"/>
            <a:ext cx="16230555" cy="38100"/>
          </a:xfrm>
          <a:prstGeom prst="line">
            <a:avLst/>
          </a:prstGeom>
          <a:ln cap="flat" w="38100">
            <a:solidFill>
              <a:srgbClr val="1B4290"/>
            </a:solidFill>
            <a:prstDash val="solid"/>
            <a:headEnd type="none" len="sm" w="sm"/>
            <a:tailEnd type="none" len="sm" w="sm"/>
          </a:ln>
        </p:spPr>
      </p:sp>
      <p:sp>
        <p:nvSpPr>
          <p:cNvPr name="TextBox 9" id="9"/>
          <p:cNvSpPr txBox="true"/>
          <p:nvPr/>
        </p:nvSpPr>
        <p:spPr>
          <a:xfrm rot="0">
            <a:off x="1655984" y="3270472"/>
            <a:ext cx="5226844" cy="619125"/>
          </a:xfrm>
          <a:prstGeom prst="rect">
            <a:avLst/>
          </a:prstGeom>
        </p:spPr>
        <p:txBody>
          <a:bodyPr anchor="t" rtlCol="false" tIns="0" lIns="0" bIns="0" rIns="0">
            <a:spAutoFit/>
          </a:bodyPr>
          <a:lstStyle/>
          <a:p>
            <a:pPr algn="ctr">
              <a:lnSpc>
                <a:spcPts val="5100"/>
              </a:lnSpc>
              <a:spcBef>
                <a:spcPct val="0"/>
              </a:spcBef>
            </a:pPr>
            <a:r>
              <a:rPr lang="en-US" b="true" sz="3000">
                <a:solidFill>
                  <a:srgbClr val="1B4290"/>
                </a:solidFill>
                <a:latin typeface="Roboto Bold"/>
                <a:ea typeface="Roboto Bold"/>
                <a:cs typeface="Roboto Bold"/>
                <a:sym typeface="Roboto Bold"/>
              </a:rPr>
              <a:t>Giai đoạn thu thập mẫu chuẩn:</a:t>
            </a:r>
          </a:p>
        </p:txBody>
      </p:sp>
      <p:sp>
        <p:nvSpPr>
          <p:cNvPr name="TextBox 10" id="10"/>
          <p:cNvSpPr txBox="true"/>
          <p:nvPr/>
        </p:nvSpPr>
        <p:spPr>
          <a:xfrm rot="0">
            <a:off x="1028700" y="3955226"/>
            <a:ext cx="16230600" cy="1031875"/>
          </a:xfrm>
          <a:prstGeom prst="rect">
            <a:avLst/>
          </a:prstGeom>
        </p:spPr>
        <p:txBody>
          <a:bodyPr anchor="t" rtlCol="false" tIns="0" lIns="0" bIns="0" rIns="0">
            <a:spAutoFit/>
          </a:bodyPr>
          <a:lstStyle/>
          <a:p>
            <a:pPr algn="l">
              <a:lnSpc>
                <a:spcPts val="4249"/>
              </a:lnSpc>
              <a:spcBef>
                <a:spcPct val="0"/>
              </a:spcBef>
            </a:pPr>
            <a:r>
              <a:rPr lang="en-US" sz="2499">
                <a:solidFill>
                  <a:srgbClr val="000000"/>
                </a:solidFill>
                <a:latin typeface="Roboto"/>
                <a:ea typeface="Roboto"/>
                <a:cs typeface="Roboto"/>
                <a:sym typeface="Roboto"/>
              </a:rPr>
              <a:t>Người dùng đứng hai chân để thu thập mẫu two_legs_samples, sau đó đứng một chân để thu thập mẫu one_leg_samples. Mỗi mẫu là một vector tọa độ landmarks.</a:t>
            </a:r>
          </a:p>
        </p:txBody>
      </p:sp>
      <p:sp>
        <p:nvSpPr>
          <p:cNvPr name="TextBox 11" id="11"/>
          <p:cNvSpPr txBox="true"/>
          <p:nvPr/>
        </p:nvSpPr>
        <p:spPr>
          <a:xfrm rot="0">
            <a:off x="1655940" y="5159256"/>
            <a:ext cx="4067770" cy="619125"/>
          </a:xfrm>
          <a:prstGeom prst="rect">
            <a:avLst/>
          </a:prstGeom>
        </p:spPr>
        <p:txBody>
          <a:bodyPr anchor="t" rtlCol="false" tIns="0" lIns="0" bIns="0" rIns="0">
            <a:spAutoFit/>
          </a:bodyPr>
          <a:lstStyle/>
          <a:p>
            <a:pPr algn="ctr">
              <a:lnSpc>
                <a:spcPts val="5100"/>
              </a:lnSpc>
              <a:spcBef>
                <a:spcPct val="0"/>
              </a:spcBef>
            </a:pPr>
            <a:r>
              <a:rPr lang="en-US" b="true" sz="3000">
                <a:solidFill>
                  <a:srgbClr val="1B4290"/>
                </a:solidFill>
                <a:latin typeface="Roboto Bold"/>
                <a:ea typeface="Roboto Bold"/>
                <a:cs typeface="Roboto Bold"/>
                <a:sym typeface="Roboto Bold"/>
              </a:rPr>
              <a:t>Giai đoạn đo đạc chính:</a:t>
            </a:r>
          </a:p>
        </p:txBody>
      </p:sp>
      <p:sp>
        <p:nvSpPr>
          <p:cNvPr name="TextBox 12" id="12"/>
          <p:cNvSpPr txBox="true"/>
          <p:nvPr/>
        </p:nvSpPr>
        <p:spPr>
          <a:xfrm rot="0">
            <a:off x="1028655" y="5752981"/>
            <a:ext cx="16230600" cy="1031875"/>
          </a:xfrm>
          <a:prstGeom prst="rect">
            <a:avLst/>
          </a:prstGeom>
        </p:spPr>
        <p:txBody>
          <a:bodyPr anchor="t" rtlCol="false" tIns="0" lIns="0" bIns="0" rIns="0">
            <a:spAutoFit/>
          </a:bodyPr>
          <a:lstStyle/>
          <a:p>
            <a:pPr algn="l">
              <a:lnSpc>
                <a:spcPts val="4249"/>
              </a:lnSpc>
              <a:spcBef>
                <a:spcPct val="0"/>
              </a:spcBef>
            </a:pPr>
            <a:r>
              <a:rPr lang="en-US" sz="2499">
                <a:solidFill>
                  <a:srgbClr val="000000"/>
                </a:solidFill>
                <a:latin typeface="Roboto"/>
                <a:ea typeface="Roboto"/>
                <a:cs typeface="Roboto"/>
                <a:sym typeface="Roboto"/>
              </a:rPr>
              <a:t>Xử lý v</a:t>
            </a:r>
            <a:r>
              <a:rPr lang="en-US" sz="2499">
                <a:solidFill>
                  <a:srgbClr val="000000"/>
                </a:solidFill>
                <a:latin typeface="Roboto"/>
                <a:ea typeface="Roboto"/>
                <a:cs typeface="Roboto"/>
                <a:sym typeface="Roboto"/>
              </a:rPr>
              <a:t>ideo liên tục, xác định tư thế hiện tại qua cosine similarity giữa vector hiện tại và hai bộ mẫu. Khi phát hiện tư thế một chân, ghi nhận thời gian và độ lệch COM.</a:t>
            </a:r>
          </a:p>
        </p:txBody>
      </p:sp>
      <p:sp>
        <p:nvSpPr>
          <p:cNvPr name="TextBox 13" id="13"/>
          <p:cNvSpPr txBox="true"/>
          <p:nvPr/>
        </p:nvSpPr>
        <p:spPr>
          <a:xfrm rot="0">
            <a:off x="1655895" y="6976060"/>
            <a:ext cx="3219599" cy="619125"/>
          </a:xfrm>
          <a:prstGeom prst="rect">
            <a:avLst/>
          </a:prstGeom>
        </p:spPr>
        <p:txBody>
          <a:bodyPr anchor="t" rtlCol="false" tIns="0" lIns="0" bIns="0" rIns="0">
            <a:spAutoFit/>
          </a:bodyPr>
          <a:lstStyle/>
          <a:p>
            <a:pPr algn="ctr">
              <a:lnSpc>
                <a:spcPts val="5100"/>
              </a:lnSpc>
              <a:spcBef>
                <a:spcPct val="0"/>
              </a:spcBef>
            </a:pPr>
            <a:r>
              <a:rPr lang="en-US" b="true" sz="3000">
                <a:solidFill>
                  <a:srgbClr val="1B4290"/>
                </a:solidFill>
                <a:latin typeface="Roboto Bold"/>
                <a:ea typeface="Roboto Bold"/>
                <a:cs typeface="Roboto Bold"/>
                <a:sym typeface="Roboto Bold"/>
              </a:rPr>
              <a:t>Giai đoạn kết thúc:</a:t>
            </a:r>
          </a:p>
        </p:txBody>
      </p:sp>
      <p:sp>
        <p:nvSpPr>
          <p:cNvPr name="TextBox 14" id="14"/>
          <p:cNvSpPr txBox="true"/>
          <p:nvPr/>
        </p:nvSpPr>
        <p:spPr>
          <a:xfrm rot="0">
            <a:off x="1028655" y="7572960"/>
            <a:ext cx="16230600" cy="1031875"/>
          </a:xfrm>
          <a:prstGeom prst="rect">
            <a:avLst/>
          </a:prstGeom>
        </p:spPr>
        <p:txBody>
          <a:bodyPr anchor="t" rtlCol="false" tIns="0" lIns="0" bIns="0" rIns="0">
            <a:spAutoFit/>
          </a:bodyPr>
          <a:lstStyle/>
          <a:p>
            <a:pPr algn="l">
              <a:lnSpc>
                <a:spcPts val="4249"/>
              </a:lnSpc>
              <a:spcBef>
                <a:spcPct val="0"/>
              </a:spcBef>
            </a:pPr>
            <a:r>
              <a:rPr lang="en-US" sz="2499">
                <a:solidFill>
                  <a:srgbClr val="000000"/>
                </a:solidFill>
                <a:latin typeface="Roboto"/>
                <a:ea typeface="Roboto"/>
                <a:cs typeface="Roboto"/>
                <a:sym typeface="Roboto"/>
              </a:rPr>
              <a:t>Người dùng đứng hai chân để thu thập mẫu two_legs_samples, sau đó đứng một chân để thu thập mẫu one_leg_samples. Mỗi mẫu là một vector tọa độ landmarks.</a:t>
            </a:r>
          </a:p>
        </p:txBody>
      </p:sp>
      <p:grpSp>
        <p:nvGrpSpPr>
          <p:cNvPr name="Group 15" id="15"/>
          <p:cNvGrpSpPr/>
          <p:nvPr/>
        </p:nvGrpSpPr>
        <p:grpSpPr>
          <a:xfrm rot="0">
            <a:off x="1028700" y="3422520"/>
            <a:ext cx="476954" cy="476954"/>
            <a:chOff x="0" y="0"/>
            <a:chExt cx="812800" cy="812800"/>
          </a:xfrm>
        </p:grpSpPr>
        <p:sp>
          <p:nvSpPr>
            <p:cNvPr name="Freeform 16" id="1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B4290"/>
            </a:solidFill>
          </p:spPr>
        </p:sp>
        <p:sp>
          <p:nvSpPr>
            <p:cNvPr name="TextBox 17" id="17"/>
            <p:cNvSpPr txBox="true"/>
            <p:nvPr/>
          </p:nvSpPr>
          <p:spPr>
            <a:xfrm>
              <a:off x="76200" y="180975"/>
              <a:ext cx="660400" cy="555625"/>
            </a:xfrm>
            <a:prstGeom prst="rect">
              <a:avLst/>
            </a:prstGeom>
          </p:spPr>
          <p:txBody>
            <a:bodyPr anchor="ctr" rtlCol="false" tIns="25400" lIns="25400" bIns="25400" rIns="25400"/>
            <a:lstStyle/>
            <a:p>
              <a:pPr algn="ctr">
                <a:lnSpc>
                  <a:spcPts val="900"/>
                </a:lnSpc>
              </a:pPr>
              <a:r>
                <a:rPr lang="en-US" b="true" sz="1800">
                  <a:solidFill>
                    <a:srgbClr val="FFFFFF"/>
                  </a:solidFill>
                  <a:latin typeface="Roboto Bold"/>
                  <a:ea typeface="Roboto Bold"/>
                  <a:cs typeface="Roboto Bold"/>
                  <a:sym typeface="Roboto Bold"/>
                </a:rPr>
                <a:t>1</a:t>
              </a:r>
            </a:p>
          </p:txBody>
        </p:sp>
      </p:grpSp>
      <p:grpSp>
        <p:nvGrpSpPr>
          <p:cNvPr name="Group 18" id="18"/>
          <p:cNvGrpSpPr/>
          <p:nvPr/>
        </p:nvGrpSpPr>
        <p:grpSpPr>
          <a:xfrm rot="0">
            <a:off x="1028655" y="5301426"/>
            <a:ext cx="476954" cy="476954"/>
            <a:chOff x="0" y="0"/>
            <a:chExt cx="812800" cy="812800"/>
          </a:xfrm>
        </p:grpSpPr>
        <p:sp>
          <p:nvSpPr>
            <p:cNvPr name="Freeform 19" id="1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B4290"/>
            </a:solidFill>
          </p:spPr>
        </p:sp>
        <p:sp>
          <p:nvSpPr>
            <p:cNvPr name="TextBox 20" id="20"/>
            <p:cNvSpPr txBox="true"/>
            <p:nvPr/>
          </p:nvSpPr>
          <p:spPr>
            <a:xfrm>
              <a:off x="76200" y="180975"/>
              <a:ext cx="660400" cy="555625"/>
            </a:xfrm>
            <a:prstGeom prst="rect">
              <a:avLst/>
            </a:prstGeom>
          </p:spPr>
          <p:txBody>
            <a:bodyPr anchor="ctr" rtlCol="false" tIns="25400" lIns="25400" bIns="25400" rIns="25400"/>
            <a:lstStyle/>
            <a:p>
              <a:pPr algn="ctr">
                <a:lnSpc>
                  <a:spcPts val="900"/>
                </a:lnSpc>
              </a:pPr>
              <a:r>
                <a:rPr lang="en-US" b="true" sz="1800">
                  <a:solidFill>
                    <a:srgbClr val="FFFFFF"/>
                  </a:solidFill>
                  <a:latin typeface="Roboto Bold"/>
                  <a:ea typeface="Roboto Bold"/>
                  <a:cs typeface="Roboto Bold"/>
                  <a:sym typeface="Roboto Bold"/>
                </a:rPr>
                <a:t>2</a:t>
              </a:r>
            </a:p>
          </p:txBody>
        </p:sp>
      </p:grpSp>
      <p:grpSp>
        <p:nvGrpSpPr>
          <p:cNvPr name="Group 21" id="21"/>
          <p:cNvGrpSpPr/>
          <p:nvPr/>
        </p:nvGrpSpPr>
        <p:grpSpPr>
          <a:xfrm rot="0">
            <a:off x="1028611" y="7118231"/>
            <a:ext cx="476954" cy="476954"/>
            <a:chOff x="0" y="0"/>
            <a:chExt cx="812800" cy="812800"/>
          </a:xfrm>
        </p:grpSpPr>
        <p:sp>
          <p:nvSpPr>
            <p:cNvPr name="Freeform 22" id="22"/>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B4290"/>
            </a:solidFill>
          </p:spPr>
        </p:sp>
        <p:sp>
          <p:nvSpPr>
            <p:cNvPr name="TextBox 23" id="23"/>
            <p:cNvSpPr txBox="true"/>
            <p:nvPr/>
          </p:nvSpPr>
          <p:spPr>
            <a:xfrm>
              <a:off x="76200" y="180975"/>
              <a:ext cx="660400" cy="555625"/>
            </a:xfrm>
            <a:prstGeom prst="rect">
              <a:avLst/>
            </a:prstGeom>
          </p:spPr>
          <p:txBody>
            <a:bodyPr anchor="ctr" rtlCol="false" tIns="25400" lIns="25400" bIns="25400" rIns="25400"/>
            <a:lstStyle/>
            <a:p>
              <a:pPr algn="ctr">
                <a:lnSpc>
                  <a:spcPts val="900"/>
                </a:lnSpc>
              </a:pPr>
              <a:r>
                <a:rPr lang="en-US" b="true" sz="1800">
                  <a:solidFill>
                    <a:srgbClr val="FFFFFF"/>
                  </a:solidFill>
                  <a:latin typeface="Roboto Bold"/>
                  <a:ea typeface="Roboto Bold"/>
                  <a:cs typeface="Roboto Bold"/>
                  <a:sym typeface="Roboto Bold"/>
                </a:rPr>
                <a:t>3</a:t>
              </a:r>
            </a:p>
          </p:txBody>
        </p:sp>
      </p:grpSp>
    </p:spTree>
  </p:cSld>
  <p:clrMapOvr>
    <a:masterClrMapping/>
  </p:clrMapOvr>
  <p:transition spd="med">
    <p:push dir="l"/>
  </p:transition>
</p:sld>
</file>

<file path=ppt/slides/slide2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91467" y="421672"/>
            <a:ext cx="12705715" cy="1174416"/>
            <a:chOff x="0" y="0"/>
            <a:chExt cx="545913" cy="50493"/>
          </a:xfrm>
        </p:grpSpPr>
        <p:sp>
          <p:nvSpPr>
            <p:cNvPr name="Freeform 3" id="3"/>
            <p:cNvSpPr/>
            <p:nvPr/>
          </p:nvSpPr>
          <p:spPr>
            <a:xfrm flipH="false" flipV="false" rot="0">
              <a:off x="0" y="0"/>
              <a:ext cx="545913" cy="50493"/>
            </a:xfrm>
            <a:custGeom>
              <a:avLst/>
              <a:gdLst/>
              <a:ahLst/>
              <a:cxnLst/>
              <a:rect r="r" b="b" t="t" l="l"/>
              <a:pathLst>
                <a:path h="50493" w="545913">
                  <a:moveTo>
                    <a:pt x="545913" y="25246"/>
                  </a:moveTo>
                  <a:lnTo>
                    <a:pt x="545913" y="25246"/>
                  </a:lnTo>
                  <a:cubicBezTo>
                    <a:pt x="545913" y="39189"/>
                    <a:pt x="534610" y="50493"/>
                    <a:pt x="520667" y="50493"/>
                  </a:cubicBezTo>
                  <a:lnTo>
                    <a:pt x="25246" y="50493"/>
                  </a:lnTo>
                  <a:cubicBezTo>
                    <a:pt x="18551" y="50493"/>
                    <a:pt x="12129" y="47833"/>
                    <a:pt x="7394" y="43098"/>
                  </a:cubicBezTo>
                  <a:cubicBezTo>
                    <a:pt x="2660" y="38364"/>
                    <a:pt x="0" y="31942"/>
                    <a:pt x="0" y="25246"/>
                  </a:cubicBezTo>
                  <a:lnTo>
                    <a:pt x="0" y="25246"/>
                  </a:lnTo>
                  <a:cubicBezTo>
                    <a:pt x="0" y="18551"/>
                    <a:pt x="2660" y="12129"/>
                    <a:pt x="7394" y="7394"/>
                  </a:cubicBezTo>
                  <a:cubicBezTo>
                    <a:pt x="12129" y="2660"/>
                    <a:pt x="18551" y="0"/>
                    <a:pt x="25246" y="0"/>
                  </a:cubicBezTo>
                  <a:lnTo>
                    <a:pt x="520667" y="0"/>
                  </a:lnTo>
                  <a:cubicBezTo>
                    <a:pt x="527363" y="0"/>
                    <a:pt x="533784" y="2660"/>
                    <a:pt x="538519" y="7394"/>
                  </a:cubicBezTo>
                  <a:cubicBezTo>
                    <a:pt x="543253" y="12129"/>
                    <a:pt x="545913" y="18551"/>
                    <a:pt x="545913" y="25246"/>
                  </a:cubicBezTo>
                  <a:close/>
                </a:path>
              </a:pathLst>
            </a:custGeom>
            <a:solidFill>
              <a:srgbClr val="002699"/>
            </a:solidFill>
            <a:ln cap="rnd">
              <a:noFill/>
              <a:prstDash val="solid"/>
              <a:round/>
            </a:ln>
          </p:spPr>
        </p:sp>
        <p:sp>
          <p:nvSpPr>
            <p:cNvPr name="TextBox 4" id="4"/>
            <p:cNvSpPr txBox="true"/>
            <p:nvPr/>
          </p:nvSpPr>
          <p:spPr>
            <a:xfrm>
              <a:off x="0" y="-47625"/>
              <a:ext cx="545913" cy="98118"/>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1137459" y="638175"/>
            <a:ext cx="14665425" cy="771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4.6 GIAO DIỆN WEBAPP</a:t>
            </a:r>
          </a:p>
        </p:txBody>
      </p:sp>
      <p:sp>
        <p:nvSpPr>
          <p:cNvPr name="Freeform 6" id="6"/>
          <p:cNvSpPr/>
          <p:nvPr/>
        </p:nvSpPr>
        <p:spPr>
          <a:xfrm flipH="false" flipV="false" rot="0">
            <a:off x="1028700" y="1814208"/>
            <a:ext cx="7693202" cy="7917814"/>
          </a:xfrm>
          <a:custGeom>
            <a:avLst/>
            <a:gdLst/>
            <a:ahLst/>
            <a:cxnLst/>
            <a:rect r="r" b="b" t="t" l="l"/>
            <a:pathLst>
              <a:path h="7917814" w="7693202">
                <a:moveTo>
                  <a:pt x="0" y="0"/>
                </a:moveTo>
                <a:lnTo>
                  <a:pt x="7693202" y="0"/>
                </a:lnTo>
                <a:lnTo>
                  <a:pt x="7693202" y="7917814"/>
                </a:lnTo>
                <a:lnTo>
                  <a:pt x="0" y="7917814"/>
                </a:lnTo>
                <a:lnTo>
                  <a:pt x="0" y="0"/>
                </a:lnTo>
                <a:close/>
              </a:path>
            </a:pathLst>
          </a:custGeom>
          <a:blipFill>
            <a:blip r:embed="rId2"/>
            <a:stretch>
              <a:fillRect l="-51346" t="-6899" r="-52985" b="-4776"/>
            </a:stretch>
          </a:blipFill>
        </p:spPr>
      </p:sp>
      <p:sp>
        <p:nvSpPr>
          <p:cNvPr name="Freeform 7" id="7"/>
          <p:cNvSpPr/>
          <p:nvPr/>
        </p:nvSpPr>
        <p:spPr>
          <a:xfrm flipH="false" flipV="false" rot="0">
            <a:off x="9637674" y="1814208"/>
            <a:ext cx="7621626" cy="7917814"/>
          </a:xfrm>
          <a:custGeom>
            <a:avLst/>
            <a:gdLst/>
            <a:ahLst/>
            <a:cxnLst/>
            <a:rect r="r" b="b" t="t" l="l"/>
            <a:pathLst>
              <a:path h="7917814" w="7621626">
                <a:moveTo>
                  <a:pt x="0" y="0"/>
                </a:moveTo>
                <a:lnTo>
                  <a:pt x="7621626" y="0"/>
                </a:lnTo>
                <a:lnTo>
                  <a:pt x="7621626" y="7917814"/>
                </a:lnTo>
                <a:lnTo>
                  <a:pt x="0" y="7917814"/>
                </a:lnTo>
                <a:lnTo>
                  <a:pt x="0" y="0"/>
                </a:lnTo>
                <a:close/>
              </a:path>
            </a:pathLst>
          </a:custGeom>
          <a:blipFill>
            <a:blip r:embed="rId3"/>
            <a:stretch>
              <a:fillRect l="-52582" t="-6458" r="-52309" b="-4481"/>
            </a:stretch>
          </a:blipFill>
        </p:spPr>
      </p:sp>
      <p:sp>
        <p:nvSpPr>
          <p:cNvPr name="TextBox 8" id="8"/>
          <p:cNvSpPr txBox="true"/>
          <p:nvPr/>
        </p:nvSpPr>
        <p:spPr>
          <a:xfrm rot="0">
            <a:off x="16521410" y="9684397"/>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27 of 37</a:t>
            </a:r>
          </a:p>
        </p:txBody>
      </p:sp>
    </p:spTree>
  </p:cSld>
  <p:clrMapOvr>
    <a:masterClrMapping/>
  </p:clrMapOvr>
  <p:transition spd="med">
    <p:push dir="l"/>
  </p:transition>
</p:sld>
</file>

<file path=ppt/slides/slide2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91467" y="421672"/>
            <a:ext cx="12364397" cy="1156452"/>
            <a:chOff x="0" y="0"/>
            <a:chExt cx="531248" cy="49720"/>
          </a:xfrm>
        </p:grpSpPr>
        <p:sp>
          <p:nvSpPr>
            <p:cNvPr name="Freeform 3" id="3"/>
            <p:cNvSpPr/>
            <p:nvPr/>
          </p:nvSpPr>
          <p:spPr>
            <a:xfrm flipH="false" flipV="false" rot="0">
              <a:off x="0" y="0"/>
              <a:ext cx="531248" cy="49720"/>
            </a:xfrm>
            <a:custGeom>
              <a:avLst/>
              <a:gdLst/>
              <a:ahLst/>
              <a:cxnLst/>
              <a:rect r="r" b="b" t="t" l="l"/>
              <a:pathLst>
                <a:path h="49720" w="531248">
                  <a:moveTo>
                    <a:pt x="531248" y="24860"/>
                  </a:moveTo>
                  <a:lnTo>
                    <a:pt x="531248" y="24860"/>
                  </a:lnTo>
                  <a:cubicBezTo>
                    <a:pt x="531248" y="31453"/>
                    <a:pt x="528629" y="37777"/>
                    <a:pt x="523967" y="42439"/>
                  </a:cubicBezTo>
                  <a:cubicBezTo>
                    <a:pt x="519304" y="47101"/>
                    <a:pt x="512981" y="49720"/>
                    <a:pt x="506388" y="49720"/>
                  </a:cubicBezTo>
                  <a:lnTo>
                    <a:pt x="24860" y="49720"/>
                  </a:lnTo>
                  <a:cubicBezTo>
                    <a:pt x="18267" y="49720"/>
                    <a:pt x="11944" y="47101"/>
                    <a:pt x="7281" y="42439"/>
                  </a:cubicBezTo>
                  <a:cubicBezTo>
                    <a:pt x="2619" y="37777"/>
                    <a:pt x="0" y="31453"/>
                    <a:pt x="0" y="24860"/>
                  </a:cubicBezTo>
                  <a:lnTo>
                    <a:pt x="0" y="24860"/>
                  </a:lnTo>
                  <a:cubicBezTo>
                    <a:pt x="0" y="18267"/>
                    <a:pt x="2619" y="11944"/>
                    <a:pt x="7281" y="7281"/>
                  </a:cubicBezTo>
                  <a:cubicBezTo>
                    <a:pt x="11944" y="2619"/>
                    <a:pt x="18267" y="0"/>
                    <a:pt x="24860" y="0"/>
                  </a:cubicBezTo>
                  <a:lnTo>
                    <a:pt x="506388" y="0"/>
                  </a:lnTo>
                  <a:cubicBezTo>
                    <a:pt x="520118" y="0"/>
                    <a:pt x="531248" y="11130"/>
                    <a:pt x="531248" y="24860"/>
                  </a:cubicBezTo>
                  <a:close/>
                </a:path>
              </a:pathLst>
            </a:custGeom>
            <a:solidFill>
              <a:srgbClr val="002699"/>
            </a:solidFill>
            <a:ln cap="rnd">
              <a:noFill/>
              <a:prstDash val="solid"/>
              <a:round/>
            </a:ln>
          </p:spPr>
        </p:sp>
        <p:sp>
          <p:nvSpPr>
            <p:cNvPr name="TextBox 4" id="4"/>
            <p:cNvSpPr txBox="true"/>
            <p:nvPr/>
          </p:nvSpPr>
          <p:spPr>
            <a:xfrm>
              <a:off x="0" y="-47625"/>
              <a:ext cx="531248" cy="97345"/>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1137459" y="638175"/>
            <a:ext cx="14665425" cy="771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4.6 GIAO DIỆN WEBAPP</a:t>
            </a:r>
          </a:p>
        </p:txBody>
      </p:sp>
      <p:sp>
        <p:nvSpPr>
          <p:cNvPr name="Freeform 6" id="6"/>
          <p:cNvSpPr/>
          <p:nvPr/>
        </p:nvSpPr>
        <p:spPr>
          <a:xfrm flipH="false" flipV="false" rot="0">
            <a:off x="2370774" y="2537704"/>
            <a:ext cx="5780542" cy="6304780"/>
          </a:xfrm>
          <a:custGeom>
            <a:avLst/>
            <a:gdLst/>
            <a:ahLst/>
            <a:cxnLst/>
            <a:rect r="r" b="b" t="t" l="l"/>
            <a:pathLst>
              <a:path h="6304780" w="5780542">
                <a:moveTo>
                  <a:pt x="0" y="0"/>
                </a:moveTo>
                <a:lnTo>
                  <a:pt x="5780542" y="0"/>
                </a:lnTo>
                <a:lnTo>
                  <a:pt x="5780542" y="6304780"/>
                </a:lnTo>
                <a:lnTo>
                  <a:pt x="0" y="6304780"/>
                </a:lnTo>
                <a:lnTo>
                  <a:pt x="0" y="0"/>
                </a:lnTo>
                <a:close/>
              </a:path>
            </a:pathLst>
          </a:custGeom>
          <a:blipFill>
            <a:blip r:embed="rId2"/>
            <a:stretch>
              <a:fillRect l="-114404" t="-13664" r="-113527" b="-55460"/>
            </a:stretch>
          </a:blipFill>
        </p:spPr>
      </p:sp>
      <p:sp>
        <p:nvSpPr>
          <p:cNvPr name="Freeform 7" id="7"/>
          <p:cNvSpPr/>
          <p:nvPr/>
        </p:nvSpPr>
        <p:spPr>
          <a:xfrm flipH="false" flipV="false" rot="0">
            <a:off x="8723676" y="2537704"/>
            <a:ext cx="7193550" cy="6304780"/>
          </a:xfrm>
          <a:custGeom>
            <a:avLst/>
            <a:gdLst/>
            <a:ahLst/>
            <a:cxnLst/>
            <a:rect r="r" b="b" t="t" l="l"/>
            <a:pathLst>
              <a:path h="6304780" w="7193550">
                <a:moveTo>
                  <a:pt x="0" y="0"/>
                </a:moveTo>
                <a:lnTo>
                  <a:pt x="7193550" y="0"/>
                </a:lnTo>
                <a:lnTo>
                  <a:pt x="7193550" y="6304780"/>
                </a:lnTo>
                <a:lnTo>
                  <a:pt x="0" y="6304780"/>
                </a:lnTo>
                <a:lnTo>
                  <a:pt x="0" y="0"/>
                </a:lnTo>
                <a:close/>
              </a:path>
            </a:pathLst>
          </a:custGeom>
          <a:blipFill>
            <a:blip r:embed="rId3"/>
            <a:stretch>
              <a:fillRect l="-113468" t="-16432" r="-113032" b="-93114"/>
            </a:stretch>
          </a:blipFill>
        </p:spPr>
      </p:sp>
      <p:sp>
        <p:nvSpPr>
          <p:cNvPr name="TextBox 8" id="8"/>
          <p:cNvSpPr txBox="true"/>
          <p:nvPr/>
        </p:nvSpPr>
        <p:spPr>
          <a:xfrm rot="0">
            <a:off x="16521410" y="9684397"/>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28 of 37</a:t>
            </a:r>
          </a:p>
        </p:txBody>
      </p:sp>
    </p:spTree>
  </p:cSld>
  <p:clrMapOvr>
    <a:masterClrMapping/>
  </p:clrMapOvr>
  <p:transition spd="med">
    <p:push dir="l"/>
  </p:transition>
</p:sld>
</file>

<file path=ppt/slides/slide2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91467" y="421672"/>
            <a:ext cx="12364397" cy="1156452"/>
            <a:chOff x="0" y="0"/>
            <a:chExt cx="531248" cy="49720"/>
          </a:xfrm>
        </p:grpSpPr>
        <p:sp>
          <p:nvSpPr>
            <p:cNvPr name="Freeform 3" id="3"/>
            <p:cNvSpPr/>
            <p:nvPr/>
          </p:nvSpPr>
          <p:spPr>
            <a:xfrm flipH="false" flipV="false" rot="0">
              <a:off x="0" y="0"/>
              <a:ext cx="531248" cy="49720"/>
            </a:xfrm>
            <a:custGeom>
              <a:avLst/>
              <a:gdLst/>
              <a:ahLst/>
              <a:cxnLst/>
              <a:rect r="r" b="b" t="t" l="l"/>
              <a:pathLst>
                <a:path h="49720" w="531248">
                  <a:moveTo>
                    <a:pt x="531248" y="24860"/>
                  </a:moveTo>
                  <a:lnTo>
                    <a:pt x="531248" y="24860"/>
                  </a:lnTo>
                  <a:cubicBezTo>
                    <a:pt x="531248" y="31453"/>
                    <a:pt x="528629" y="37777"/>
                    <a:pt x="523967" y="42439"/>
                  </a:cubicBezTo>
                  <a:cubicBezTo>
                    <a:pt x="519304" y="47101"/>
                    <a:pt x="512981" y="49720"/>
                    <a:pt x="506388" y="49720"/>
                  </a:cubicBezTo>
                  <a:lnTo>
                    <a:pt x="24860" y="49720"/>
                  </a:lnTo>
                  <a:cubicBezTo>
                    <a:pt x="18267" y="49720"/>
                    <a:pt x="11944" y="47101"/>
                    <a:pt x="7281" y="42439"/>
                  </a:cubicBezTo>
                  <a:cubicBezTo>
                    <a:pt x="2619" y="37777"/>
                    <a:pt x="0" y="31453"/>
                    <a:pt x="0" y="24860"/>
                  </a:cubicBezTo>
                  <a:lnTo>
                    <a:pt x="0" y="24860"/>
                  </a:lnTo>
                  <a:cubicBezTo>
                    <a:pt x="0" y="18267"/>
                    <a:pt x="2619" y="11944"/>
                    <a:pt x="7281" y="7281"/>
                  </a:cubicBezTo>
                  <a:cubicBezTo>
                    <a:pt x="11944" y="2619"/>
                    <a:pt x="18267" y="0"/>
                    <a:pt x="24860" y="0"/>
                  </a:cubicBezTo>
                  <a:lnTo>
                    <a:pt x="506388" y="0"/>
                  </a:lnTo>
                  <a:cubicBezTo>
                    <a:pt x="520118" y="0"/>
                    <a:pt x="531248" y="11130"/>
                    <a:pt x="531248" y="24860"/>
                  </a:cubicBezTo>
                  <a:close/>
                </a:path>
              </a:pathLst>
            </a:custGeom>
            <a:solidFill>
              <a:srgbClr val="002699"/>
            </a:solidFill>
            <a:ln cap="rnd">
              <a:noFill/>
              <a:prstDash val="solid"/>
              <a:round/>
            </a:ln>
          </p:spPr>
        </p:sp>
        <p:sp>
          <p:nvSpPr>
            <p:cNvPr name="TextBox 4" id="4"/>
            <p:cNvSpPr txBox="true"/>
            <p:nvPr/>
          </p:nvSpPr>
          <p:spPr>
            <a:xfrm>
              <a:off x="0" y="-47625"/>
              <a:ext cx="531248" cy="97345"/>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1137459" y="638175"/>
            <a:ext cx="14665425" cy="771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4.6 GIAO DIỆN WEBAPP</a:t>
            </a:r>
          </a:p>
        </p:txBody>
      </p:sp>
      <p:sp>
        <p:nvSpPr>
          <p:cNvPr name="Freeform 6" id="6"/>
          <p:cNvSpPr/>
          <p:nvPr/>
        </p:nvSpPr>
        <p:spPr>
          <a:xfrm flipH="false" flipV="false" rot="0">
            <a:off x="598023" y="3219101"/>
            <a:ext cx="5493773" cy="3848798"/>
          </a:xfrm>
          <a:custGeom>
            <a:avLst/>
            <a:gdLst/>
            <a:ahLst/>
            <a:cxnLst/>
            <a:rect r="r" b="b" t="t" l="l"/>
            <a:pathLst>
              <a:path h="3848798" w="5493773">
                <a:moveTo>
                  <a:pt x="0" y="0"/>
                </a:moveTo>
                <a:lnTo>
                  <a:pt x="5493773" y="0"/>
                </a:lnTo>
                <a:lnTo>
                  <a:pt x="5493773" y="3848798"/>
                </a:lnTo>
                <a:lnTo>
                  <a:pt x="0" y="3848798"/>
                </a:lnTo>
                <a:lnTo>
                  <a:pt x="0" y="0"/>
                </a:lnTo>
                <a:close/>
              </a:path>
            </a:pathLst>
          </a:custGeom>
          <a:blipFill>
            <a:blip r:embed="rId2"/>
            <a:stretch>
              <a:fillRect l="-113966" t="-20647" r="-113966" b="-142653"/>
            </a:stretch>
          </a:blipFill>
        </p:spPr>
      </p:sp>
      <p:sp>
        <p:nvSpPr>
          <p:cNvPr name="Freeform 7" id="7"/>
          <p:cNvSpPr/>
          <p:nvPr/>
        </p:nvSpPr>
        <p:spPr>
          <a:xfrm flipH="false" flipV="false" rot="0">
            <a:off x="6537041" y="3219101"/>
            <a:ext cx="5587777" cy="3848798"/>
          </a:xfrm>
          <a:custGeom>
            <a:avLst/>
            <a:gdLst/>
            <a:ahLst/>
            <a:cxnLst/>
            <a:rect r="r" b="b" t="t" l="l"/>
            <a:pathLst>
              <a:path h="3848798" w="5587777">
                <a:moveTo>
                  <a:pt x="0" y="0"/>
                </a:moveTo>
                <a:lnTo>
                  <a:pt x="5587776" y="0"/>
                </a:lnTo>
                <a:lnTo>
                  <a:pt x="5587776" y="3848798"/>
                </a:lnTo>
                <a:lnTo>
                  <a:pt x="0" y="3848798"/>
                </a:lnTo>
                <a:lnTo>
                  <a:pt x="0" y="0"/>
                </a:lnTo>
                <a:close/>
              </a:path>
            </a:pathLst>
          </a:custGeom>
          <a:blipFill>
            <a:blip r:embed="rId3"/>
            <a:stretch>
              <a:fillRect l="-113032" t="-20908" r="-113468" b="-145728"/>
            </a:stretch>
          </a:blipFill>
        </p:spPr>
      </p:sp>
      <p:sp>
        <p:nvSpPr>
          <p:cNvPr name="Freeform 8" id="8"/>
          <p:cNvSpPr/>
          <p:nvPr/>
        </p:nvSpPr>
        <p:spPr>
          <a:xfrm flipH="false" flipV="false" rot="0">
            <a:off x="12572492" y="3219101"/>
            <a:ext cx="5117485" cy="3848798"/>
          </a:xfrm>
          <a:custGeom>
            <a:avLst/>
            <a:gdLst/>
            <a:ahLst/>
            <a:cxnLst/>
            <a:rect r="r" b="b" t="t" l="l"/>
            <a:pathLst>
              <a:path h="3848798" w="5117485">
                <a:moveTo>
                  <a:pt x="0" y="0"/>
                </a:moveTo>
                <a:lnTo>
                  <a:pt x="5117485" y="0"/>
                </a:lnTo>
                <a:lnTo>
                  <a:pt x="5117485" y="3848798"/>
                </a:lnTo>
                <a:lnTo>
                  <a:pt x="0" y="3848798"/>
                </a:lnTo>
                <a:lnTo>
                  <a:pt x="0" y="0"/>
                </a:lnTo>
                <a:close/>
              </a:path>
            </a:pathLst>
          </a:custGeom>
          <a:blipFill>
            <a:blip r:embed="rId4"/>
            <a:stretch>
              <a:fillRect l="-114908" t="-19317" r="-114468" b="-127028"/>
            </a:stretch>
          </a:blipFill>
        </p:spPr>
      </p:sp>
      <p:sp>
        <p:nvSpPr>
          <p:cNvPr name="TextBox 9" id="9"/>
          <p:cNvSpPr txBox="true"/>
          <p:nvPr/>
        </p:nvSpPr>
        <p:spPr>
          <a:xfrm rot="0">
            <a:off x="16521410" y="9684397"/>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29 of 37</a:t>
            </a:r>
          </a:p>
        </p:txBody>
      </p:sp>
    </p:spTree>
  </p:cSld>
  <p:clrMapOvr>
    <a:masterClrMapping/>
  </p:clrMapOvr>
  <p:transition spd="med">
    <p:push dir="l"/>
  </p:transition>
</p:sld>
</file>

<file path=ppt/slides/slide3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91467" y="421672"/>
            <a:ext cx="12364397" cy="1156452"/>
            <a:chOff x="0" y="0"/>
            <a:chExt cx="531248" cy="49720"/>
          </a:xfrm>
        </p:grpSpPr>
        <p:sp>
          <p:nvSpPr>
            <p:cNvPr name="Freeform 3" id="3"/>
            <p:cNvSpPr/>
            <p:nvPr/>
          </p:nvSpPr>
          <p:spPr>
            <a:xfrm flipH="false" flipV="false" rot="0">
              <a:off x="0" y="0"/>
              <a:ext cx="531248" cy="49720"/>
            </a:xfrm>
            <a:custGeom>
              <a:avLst/>
              <a:gdLst/>
              <a:ahLst/>
              <a:cxnLst/>
              <a:rect r="r" b="b" t="t" l="l"/>
              <a:pathLst>
                <a:path h="49720" w="531248">
                  <a:moveTo>
                    <a:pt x="531248" y="24860"/>
                  </a:moveTo>
                  <a:lnTo>
                    <a:pt x="531248" y="24860"/>
                  </a:lnTo>
                  <a:cubicBezTo>
                    <a:pt x="531248" y="31453"/>
                    <a:pt x="528629" y="37777"/>
                    <a:pt x="523967" y="42439"/>
                  </a:cubicBezTo>
                  <a:cubicBezTo>
                    <a:pt x="519304" y="47101"/>
                    <a:pt x="512981" y="49720"/>
                    <a:pt x="506388" y="49720"/>
                  </a:cubicBezTo>
                  <a:lnTo>
                    <a:pt x="24860" y="49720"/>
                  </a:lnTo>
                  <a:cubicBezTo>
                    <a:pt x="18267" y="49720"/>
                    <a:pt x="11944" y="47101"/>
                    <a:pt x="7281" y="42439"/>
                  </a:cubicBezTo>
                  <a:cubicBezTo>
                    <a:pt x="2619" y="37777"/>
                    <a:pt x="0" y="31453"/>
                    <a:pt x="0" y="24860"/>
                  </a:cubicBezTo>
                  <a:lnTo>
                    <a:pt x="0" y="24860"/>
                  </a:lnTo>
                  <a:cubicBezTo>
                    <a:pt x="0" y="18267"/>
                    <a:pt x="2619" y="11944"/>
                    <a:pt x="7281" y="7281"/>
                  </a:cubicBezTo>
                  <a:cubicBezTo>
                    <a:pt x="11944" y="2619"/>
                    <a:pt x="18267" y="0"/>
                    <a:pt x="24860" y="0"/>
                  </a:cubicBezTo>
                  <a:lnTo>
                    <a:pt x="506388" y="0"/>
                  </a:lnTo>
                  <a:cubicBezTo>
                    <a:pt x="520118" y="0"/>
                    <a:pt x="531248" y="11130"/>
                    <a:pt x="531248" y="24860"/>
                  </a:cubicBezTo>
                  <a:close/>
                </a:path>
              </a:pathLst>
            </a:custGeom>
            <a:solidFill>
              <a:srgbClr val="002699"/>
            </a:solidFill>
            <a:ln cap="rnd">
              <a:noFill/>
              <a:prstDash val="solid"/>
              <a:round/>
            </a:ln>
          </p:spPr>
        </p:sp>
        <p:sp>
          <p:nvSpPr>
            <p:cNvPr name="TextBox 4" id="4"/>
            <p:cNvSpPr txBox="true"/>
            <p:nvPr/>
          </p:nvSpPr>
          <p:spPr>
            <a:xfrm>
              <a:off x="0" y="-47625"/>
              <a:ext cx="531248" cy="97345"/>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1137459" y="638175"/>
            <a:ext cx="14665425" cy="771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4.6 GIAO DIỆN WEBAPP</a:t>
            </a:r>
          </a:p>
        </p:txBody>
      </p:sp>
      <p:sp>
        <p:nvSpPr>
          <p:cNvPr name="Freeform 6" id="6"/>
          <p:cNvSpPr/>
          <p:nvPr/>
        </p:nvSpPr>
        <p:spPr>
          <a:xfrm flipH="false" flipV="false" rot="0">
            <a:off x="2345387" y="2001351"/>
            <a:ext cx="5778423" cy="7575934"/>
          </a:xfrm>
          <a:custGeom>
            <a:avLst/>
            <a:gdLst/>
            <a:ahLst/>
            <a:cxnLst/>
            <a:rect r="r" b="b" t="t" l="l"/>
            <a:pathLst>
              <a:path h="7575934" w="5778423">
                <a:moveTo>
                  <a:pt x="0" y="0"/>
                </a:moveTo>
                <a:lnTo>
                  <a:pt x="5778423" y="0"/>
                </a:lnTo>
                <a:lnTo>
                  <a:pt x="5778423" y="7575934"/>
                </a:lnTo>
                <a:lnTo>
                  <a:pt x="0" y="7575934"/>
                </a:lnTo>
                <a:lnTo>
                  <a:pt x="0" y="0"/>
                </a:lnTo>
                <a:close/>
              </a:path>
            </a:pathLst>
          </a:custGeom>
          <a:blipFill>
            <a:blip r:embed="rId2"/>
            <a:stretch>
              <a:fillRect l="-112054" t="-10559" r="-111621" b="-28309"/>
            </a:stretch>
          </a:blipFill>
        </p:spPr>
      </p:sp>
      <p:sp>
        <p:nvSpPr>
          <p:cNvPr name="Freeform 7" id="7"/>
          <p:cNvSpPr/>
          <p:nvPr/>
        </p:nvSpPr>
        <p:spPr>
          <a:xfrm flipH="false" flipV="false" rot="0">
            <a:off x="10117309" y="2013286"/>
            <a:ext cx="5825304" cy="7563999"/>
          </a:xfrm>
          <a:custGeom>
            <a:avLst/>
            <a:gdLst/>
            <a:ahLst/>
            <a:cxnLst/>
            <a:rect r="r" b="b" t="t" l="l"/>
            <a:pathLst>
              <a:path h="7563999" w="5825304">
                <a:moveTo>
                  <a:pt x="0" y="0"/>
                </a:moveTo>
                <a:lnTo>
                  <a:pt x="5825304" y="0"/>
                </a:lnTo>
                <a:lnTo>
                  <a:pt x="5825304" y="7563999"/>
                </a:lnTo>
                <a:lnTo>
                  <a:pt x="0" y="7563999"/>
                </a:lnTo>
                <a:lnTo>
                  <a:pt x="0" y="0"/>
                </a:lnTo>
                <a:close/>
              </a:path>
            </a:pathLst>
          </a:custGeom>
          <a:blipFill>
            <a:blip r:embed="rId3"/>
            <a:stretch>
              <a:fillRect l="-112541" t="-10708" r="-112541" b="-30117"/>
            </a:stretch>
          </a:blipFill>
        </p:spPr>
      </p:sp>
      <p:sp>
        <p:nvSpPr>
          <p:cNvPr name="TextBox 8" id="8"/>
          <p:cNvSpPr txBox="true"/>
          <p:nvPr/>
        </p:nvSpPr>
        <p:spPr>
          <a:xfrm rot="0">
            <a:off x="16521410" y="9684397"/>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30 of 37</a:t>
            </a:r>
          </a:p>
        </p:txBody>
      </p:sp>
    </p:spTree>
  </p:cSld>
  <p:clrMapOvr>
    <a:masterClrMapping/>
  </p:clrMapOvr>
  <p:transition spd="med">
    <p:push dir="l"/>
  </p:transition>
</p:sld>
</file>

<file path=ppt/slides/slide3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91467" y="421672"/>
            <a:ext cx="12364397" cy="1156452"/>
            <a:chOff x="0" y="0"/>
            <a:chExt cx="531248" cy="49720"/>
          </a:xfrm>
        </p:grpSpPr>
        <p:sp>
          <p:nvSpPr>
            <p:cNvPr name="Freeform 3" id="3"/>
            <p:cNvSpPr/>
            <p:nvPr/>
          </p:nvSpPr>
          <p:spPr>
            <a:xfrm flipH="false" flipV="false" rot="0">
              <a:off x="0" y="0"/>
              <a:ext cx="531248" cy="49720"/>
            </a:xfrm>
            <a:custGeom>
              <a:avLst/>
              <a:gdLst/>
              <a:ahLst/>
              <a:cxnLst/>
              <a:rect r="r" b="b" t="t" l="l"/>
              <a:pathLst>
                <a:path h="49720" w="531248">
                  <a:moveTo>
                    <a:pt x="531248" y="24860"/>
                  </a:moveTo>
                  <a:lnTo>
                    <a:pt x="531248" y="24860"/>
                  </a:lnTo>
                  <a:cubicBezTo>
                    <a:pt x="531248" y="31453"/>
                    <a:pt x="528629" y="37777"/>
                    <a:pt x="523967" y="42439"/>
                  </a:cubicBezTo>
                  <a:cubicBezTo>
                    <a:pt x="519304" y="47101"/>
                    <a:pt x="512981" y="49720"/>
                    <a:pt x="506388" y="49720"/>
                  </a:cubicBezTo>
                  <a:lnTo>
                    <a:pt x="24860" y="49720"/>
                  </a:lnTo>
                  <a:cubicBezTo>
                    <a:pt x="18267" y="49720"/>
                    <a:pt x="11944" y="47101"/>
                    <a:pt x="7281" y="42439"/>
                  </a:cubicBezTo>
                  <a:cubicBezTo>
                    <a:pt x="2619" y="37777"/>
                    <a:pt x="0" y="31453"/>
                    <a:pt x="0" y="24860"/>
                  </a:cubicBezTo>
                  <a:lnTo>
                    <a:pt x="0" y="24860"/>
                  </a:lnTo>
                  <a:cubicBezTo>
                    <a:pt x="0" y="18267"/>
                    <a:pt x="2619" y="11944"/>
                    <a:pt x="7281" y="7281"/>
                  </a:cubicBezTo>
                  <a:cubicBezTo>
                    <a:pt x="11944" y="2619"/>
                    <a:pt x="18267" y="0"/>
                    <a:pt x="24860" y="0"/>
                  </a:cubicBezTo>
                  <a:lnTo>
                    <a:pt x="506388" y="0"/>
                  </a:lnTo>
                  <a:cubicBezTo>
                    <a:pt x="520118" y="0"/>
                    <a:pt x="531248" y="11130"/>
                    <a:pt x="531248" y="24860"/>
                  </a:cubicBezTo>
                  <a:close/>
                </a:path>
              </a:pathLst>
            </a:custGeom>
            <a:solidFill>
              <a:srgbClr val="002699"/>
            </a:solidFill>
            <a:ln cap="rnd">
              <a:noFill/>
              <a:prstDash val="solid"/>
              <a:round/>
            </a:ln>
          </p:spPr>
        </p:sp>
        <p:sp>
          <p:nvSpPr>
            <p:cNvPr name="TextBox 4" id="4"/>
            <p:cNvSpPr txBox="true"/>
            <p:nvPr/>
          </p:nvSpPr>
          <p:spPr>
            <a:xfrm>
              <a:off x="0" y="-47625"/>
              <a:ext cx="531248" cy="97345"/>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1137459" y="638175"/>
            <a:ext cx="14665425" cy="771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4.6 GIAO DIỆN WEBAPP</a:t>
            </a:r>
          </a:p>
        </p:txBody>
      </p:sp>
      <p:sp>
        <p:nvSpPr>
          <p:cNvPr name="Freeform 6" id="6"/>
          <p:cNvSpPr/>
          <p:nvPr/>
        </p:nvSpPr>
        <p:spPr>
          <a:xfrm flipH="false" flipV="false" rot="0">
            <a:off x="2675052" y="1923793"/>
            <a:ext cx="5441137" cy="7334507"/>
          </a:xfrm>
          <a:custGeom>
            <a:avLst/>
            <a:gdLst/>
            <a:ahLst/>
            <a:cxnLst/>
            <a:rect r="r" b="b" t="t" l="l"/>
            <a:pathLst>
              <a:path h="7334507" w="5441137">
                <a:moveTo>
                  <a:pt x="0" y="0"/>
                </a:moveTo>
                <a:lnTo>
                  <a:pt x="5441137" y="0"/>
                </a:lnTo>
                <a:lnTo>
                  <a:pt x="5441137" y="7334507"/>
                </a:lnTo>
                <a:lnTo>
                  <a:pt x="0" y="7334507"/>
                </a:lnTo>
                <a:lnTo>
                  <a:pt x="0" y="0"/>
                </a:lnTo>
                <a:close/>
              </a:path>
            </a:pathLst>
          </a:custGeom>
          <a:blipFill>
            <a:blip r:embed="rId2"/>
            <a:stretch>
              <a:fillRect l="-115858" t="-10825" r="-114974" b="-27228"/>
            </a:stretch>
          </a:blipFill>
        </p:spPr>
      </p:sp>
      <p:sp>
        <p:nvSpPr>
          <p:cNvPr name="Freeform 7" id="7"/>
          <p:cNvSpPr/>
          <p:nvPr/>
        </p:nvSpPr>
        <p:spPr>
          <a:xfrm flipH="false" flipV="false" rot="0">
            <a:off x="10007686" y="1923793"/>
            <a:ext cx="5605262" cy="7334507"/>
          </a:xfrm>
          <a:custGeom>
            <a:avLst/>
            <a:gdLst/>
            <a:ahLst/>
            <a:cxnLst/>
            <a:rect r="r" b="b" t="t" l="l"/>
            <a:pathLst>
              <a:path h="7334507" w="5605262">
                <a:moveTo>
                  <a:pt x="0" y="0"/>
                </a:moveTo>
                <a:lnTo>
                  <a:pt x="5605262" y="0"/>
                </a:lnTo>
                <a:lnTo>
                  <a:pt x="5605262" y="7334507"/>
                </a:lnTo>
                <a:lnTo>
                  <a:pt x="0" y="7334507"/>
                </a:lnTo>
                <a:lnTo>
                  <a:pt x="0" y="0"/>
                </a:lnTo>
                <a:close/>
              </a:path>
            </a:pathLst>
          </a:custGeom>
          <a:blipFill>
            <a:blip r:embed="rId3"/>
            <a:stretch>
              <a:fillRect l="-113032" t="-10672" r="-113468" b="-29683"/>
            </a:stretch>
          </a:blipFill>
        </p:spPr>
      </p:sp>
      <p:sp>
        <p:nvSpPr>
          <p:cNvPr name="TextBox 8" id="8"/>
          <p:cNvSpPr txBox="true"/>
          <p:nvPr/>
        </p:nvSpPr>
        <p:spPr>
          <a:xfrm rot="0">
            <a:off x="16521410" y="9684397"/>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31 of 37</a:t>
            </a:r>
          </a:p>
        </p:txBody>
      </p:sp>
    </p:spTree>
  </p:cSld>
  <p:clrMapOvr>
    <a:masterClrMapping/>
  </p:clrMapOvr>
  <p:transition spd="med">
    <p:push dir="l"/>
  </p:transition>
</p:sld>
</file>

<file path=ppt/slides/slide3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91467" y="421672"/>
            <a:ext cx="12364397" cy="1156452"/>
            <a:chOff x="0" y="0"/>
            <a:chExt cx="531248" cy="49720"/>
          </a:xfrm>
        </p:grpSpPr>
        <p:sp>
          <p:nvSpPr>
            <p:cNvPr name="Freeform 3" id="3"/>
            <p:cNvSpPr/>
            <p:nvPr/>
          </p:nvSpPr>
          <p:spPr>
            <a:xfrm flipH="false" flipV="false" rot="0">
              <a:off x="0" y="0"/>
              <a:ext cx="531248" cy="49720"/>
            </a:xfrm>
            <a:custGeom>
              <a:avLst/>
              <a:gdLst/>
              <a:ahLst/>
              <a:cxnLst/>
              <a:rect r="r" b="b" t="t" l="l"/>
              <a:pathLst>
                <a:path h="49720" w="531248">
                  <a:moveTo>
                    <a:pt x="531248" y="24860"/>
                  </a:moveTo>
                  <a:lnTo>
                    <a:pt x="531248" y="24860"/>
                  </a:lnTo>
                  <a:cubicBezTo>
                    <a:pt x="531248" y="31453"/>
                    <a:pt x="528629" y="37777"/>
                    <a:pt x="523967" y="42439"/>
                  </a:cubicBezTo>
                  <a:cubicBezTo>
                    <a:pt x="519304" y="47101"/>
                    <a:pt x="512981" y="49720"/>
                    <a:pt x="506388" y="49720"/>
                  </a:cubicBezTo>
                  <a:lnTo>
                    <a:pt x="24860" y="49720"/>
                  </a:lnTo>
                  <a:cubicBezTo>
                    <a:pt x="18267" y="49720"/>
                    <a:pt x="11944" y="47101"/>
                    <a:pt x="7281" y="42439"/>
                  </a:cubicBezTo>
                  <a:cubicBezTo>
                    <a:pt x="2619" y="37777"/>
                    <a:pt x="0" y="31453"/>
                    <a:pt x="0" y="24860"/>
                  </a:cubicBezTo>
                  <a:lnTo>
                    <a:pt x="0" y="24860"/>
                  </a:lnTo>
                  <a:cubicBezTo>
                    <a:pt x="0" y="18267"/>
                    <a:pt x="2619" y="11944"/>
                    <a:pt x="7281" y="7281"/>
                  </a:cubicBezTo>
                  <a:cubicBezTo>
                    <a:pt x="11944" y="2619"/>
                    <a:pt x="18267" y="0"/>
                    <a:pt x="24860" y="0"/>
                  </a:cubicBezTo>
                  <a:lnTo>
                    <a:pt x="506388" y="0"/>
                  </a:lnTo>
                  <a:cubicBezTo>
                    <a:pt x="520118" y="0"/>
                    <a:pt x="531248" y="11130"/>
                    <a:pt x="531248" y="24860"/>
                  </a:cubicBezTo>
                  <a:close/>
                </a:path>
              </a:pathLst>
            </a:custGeom>
            <a:solidFill>
              <a:srgbClr val="002699"/>
            </a:solidFill>
            <a:ln cap="rnd">
              <a:noFill/>
              <a:prstDash val="solid"/>
              <a:round/>
            </a:ln>
          </p:spPr>
        </p:sp>
        <p:sp>
          <p:nvSpPr>
            <p:cNvPr name="TextBox 4" id="4"/>
            <p:cNvSpPr txBox="true"/>
            <p:nvPr/>
          </p:nvSpPr>
          <p:spPr>
            <a:xfrm>
              <a:off x="0" y="-47625"/>
              <a:ext cx="531248" cy="97345"/>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1137459" y="638175"/>
            <a:ext cx="14665425" cy="771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4.6 GIAO DIỆN WEBAPP</a:t>
            </a:r>
          </a:p>
        </p:txBody>
      </p:sp>
      <p:sp>
        <p:nvSpPr>
          <p:cNvPr name="Freeform 6" id="6"/>
          <p:cNvSpPr/>
          <p:nvPr/>
        </p:nvSpPr>
        <p:spPr>
          <a:xfrm flipH="false" flipV="false" rot="0">
            <a:off x="1028700" y="2556799"/>
            <a:ext cx="5059477" cy="6701501"/>
          </a:xfrm>
          <a:custGeom>
            <a:avLst/>
            <a:gdLst/>
            <a:ahLst/>
            <a:cxnLst/>
            <a:rect r="r" b="b" t="t" l="l"/>
            <a:pathLst>
              <a:path h="6701501" w="5059477">
                <a:moveTo>
                  <a:pt x="0" y="0"/>
                </a:moveTo>
                <a:lnTo>
                  <a:pt x="5059477" y="0"/>
                </a:lnTo>
                <a:lnTo>
                  <a:pt x="5059477" y="6701501"/>
                </a:lnTo>
                <a:lnTo>
                  <a:pt x="0" y="6701501"/>
                </a:lnTo>
                <a:lnTo>
                  <a:pt x="0" y="0"/>
                </a:lnTo>
                <a:close/>
              </a:path>
            </a:pathLst>
          </a:custGeom>
          <a:blipFill>
            <a:blip r:embed="rId2"/>
            <a:stretch>
              <a:fillRect l="-112541" t="-10497" r="-112541" b="-27556"/>
            </a:stretch>
          </a:blipFill>
        </p:spPr>
      </p:sp>
      <p:sp>
        <p:nvSpPr>
          <p:cNvPr name="Freeform 7" id="7"/>
          <p:cNvSpPr/>
          <p:nvPr/>
        </p:nvSpPr>
        <p:spPr>
          <a:xfrm flipH="false" flipV="false" rot="0">
            <a:off x="6367308" y="2556799"/>
            <a:ext cx="5048339" cy="6701501"/>
          </a:xfrm>
          <a:custGeom>
            <a:avLst/>
            <a:gdLst/>
            <a:ahLst/>
            <a:cxnLst/>
            <a:rect r="r" b="b" t="t" l="l"/>
            <a:pathLst>
              <a:path h="6701501" w="5048339">
                <a:moveTo>
                  <a:pt x="0" y="0"/>
                </a:moveTo>
                <a:lnTo>
                  <a:pt x="5048339" y="0"/>
                </a:lnTo>
                <a:lnTo>
                  <a:pt x="5048339" y="6701501"/>
                </a:lnTo>
                <a:lnTo>
                  <a:pt x="0" y="6701501"/>
                </a:lnTo>
                <a:lnTo>
                  <a:pt x="0" y="0"/>
                </a:lnTo>
                <a:close/>
              </a:path>
            </a:pathLst>
          </a:custGeom>
          <a:blipFill>
            <a:blip r:embed="rId3"/>
            <a:stretch>
              <a:fillRect l="-112054" t="-10103" r="-111621" b="-27051"/>
            </a:stretch>
          </a:blipFill>
        </p:spPr>
      </p:sp>
      <p:sp>
        <p:nvSpPr>
          <p:cNvPr name="Freeform 8" id="8"/>
          <p:cNvSpPr/>
          <p:nvPr/>
        </p:nvSpPr>
        <p:spPr>
          <a:xfrm flipH="false" flipV="false" rot="0">
            <a:off x="11691872" y="3863295"/>
            <a:ext cx="5564522" cy="4088510"/>
          </a:xfrm>
          <a:custGeom>
            <a:avLst/>
            <a:gdLst/>
            <a:ahLst/>
            <a:cxnLst/>
            <a:rect r="r" b="b" t="t" l="l"/>
            <a:pathLst>
              <a:path h="4088510" w="5564522">
                <a:moveTo>
                  <a:pt x="0" y="0"/>
                </a:moveTo>
                <a:lnTo>
                  <a:pt x="5564522" y="0"/>
                </a:lnTo>
                <a:lnTo>
                  <a:pt x="5564522" y="4088509"/>
                </a:lnTo>
                <a:lnTo>
                  <a:pt x="0" y="4088509"/>
                </a:lnTo>
                <a:lnTo>
                  <a:pt x="0" y="0"/>
                </a:lnTo>
                <a:close/>
              </a:path>
            </a:pathLst>
          </a:custGeom>
          <a:blipFill>
            <a:blip r:embed="rId4"/>
            <a:stretch>
              <a:fillRect l="-111621" t="-18842" r="-112054" b="-128954"/>
            </a:stretch>
          </a:blipFill>
        </p:spPr>
      </p:sp>
      <p:sp>
        <p:nvSpPr>
          <p:cNvPr name="TextBox 9" id="9"/>
          <p:cNvSpPr txBox="true"/>
          <p:nvPr/>
        </p:nvSpPr>
        <p:spPr>
          <a:xfrm rot="0">
            <a:off x="16521410" y="9684397"/>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32 of 37</a:t>
            </a:r>
          </a:p>
        </p:txBody>
      </p:sp>
    </p:spTree>
  </p:cSld>
  <p:clrMapOvr>
    <a:masterClrMapping/>
  </p:clrMapOvr>
  <p:transition spd="med">
    <p:push dir="l"/>
  </p:transition>
</p:sld>
</file>

<file path=ppt/slides/slide3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91467" y="421672"/>
            <a:ext cx="12364397" cy="1156452"/>
            <a:chOff x="0" y="0"/>
            <a:chExt cx="531248" cy="49720"/>
          </a:xfrm>
        </p:grpSpPr>
        <p:sp>
          <p:nvSpPr>
            <p:cNvPr name="Freeform 3" id="3"/>
            <p:cNvSpPr/>
            <p:nvPr/>
          </p:nvSpPr>
          <p:spPr>
            <a:xfrm flipH="false" flipV="false" rot="0">
              <a:off x="0" y="0"/>
              <a:ext cx="531248" cy="49720"/>
            </a:xfrm>
            <a:custGeom>
              <a:avLst/>
              <a:gdLst/>
              <a:ahLst/>
              <a:cxnLst/>
              <a:rect r="r" b="b" t="t" l="l"/>
              <a:pathLst>
                <a:path h="49720" w="531248">
                  <a:moveTo>
                    <a:pt x="531248" y="24860"/>
                  </a:moveTo>
                  <a:lnTo>
                    <a:pt x="531248" y="24860"/>
                  </a:lnTo>
                  <a:cubicBezTo>
                    <a:pt x="531248" y="31453"/>
                    <a:pt x="528629" y="37777"/>
                    <a:pt x="523967" y="42439"/>
                  </a:cubicBezTo>
                  <a:cubicBezTo>
                    <a:pt x="519304" y="47101"/>
                    <a:pt x="512981" y="49720"/>
                    <a:pt x="506388" y="49720"/>
                  </a:cubicBezTo>
                  <a:lnTo>
                    <a:pt x="24860" y="49720"/>
                  </a:lnTo>
                  <a:cubicBezTo>
                    <a:pt x="18267" y="49720"/>
                    <a:pt x="11944" y="47101"/>
                    <a:pt x="7281" y="42439"/>
                  </a:cubicBezTo>
                  <a:cubicBezTo>
                    <a:pt x="2619" y="37777"/>
                    <a:pt x="0" y="31453"/>
                    <a:pt x="0" y="24860"/>
                  </a:cubicBezTo>
                  <a:lnTo>
                    <a:pt x="0" y="24860"/>
                  </a:lnTo>
                  <a:cubicBezTo>
                    <a:pt x="0" y="18267"/>
                    <a:pt x="2619" y="11944"/>
                    <a:pt x="7281" y="7281"/>
                  </a:cubicBezTo>
                  <a:cubicBezTo>
                    <a:pt x="11944" y="2619"/>
                    <a:pt x="18267" y="0"/>
                    <a:pt x="24860" y="0"/>
                  </a:cubicBezTo>
                  <a:lnTo>
                    <a:pt x="506388" y="0"/>
                  </a:lnTo>
                  <a:cubicBezTo>
                    <a:pt x="520118" y="0"/>
                    <a:pt x="531248" y="11130"/>
                    <a:pt x="531248" y="24860"/>
                  </a:cubicBezTo>
                  <a:close/>
                </a:path>
              </a:pathLst>
            </a:custGeom>
            <a:solidFill>
              <a:srgbClr val="002699"/>
            </a:solidFill>
            <a:ln cap="rnd">
              <a:noFill/>
              <a:prstDash val="solid"/>
              <a:round/>
            </a:ln>
          </p:spPr>
        </p:sp>
        <p:sp>
          <p:nvSpPr>
            <p:cNvPr name="TextBox 4" id="4"/>
            <p:cNvSpPr txBox="true"/>
            <p:nvPr/>
          </p:nvSpPr>
          <p:spPr>
            <a:xfrm>
              <a:off x="0" y="-47625"/>
              <a:ext cx="531248" cy="97345"/>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1137459" y="638175"/>
            <a:ext cx="14665425" cy="771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4.6 GIAO DIỆN WEBAPP</a:t>
            </a:r>
          </a:p>
        </p:txBody>
      </p:sp>
      <p:sp>
        <p:nvSpPr>
          <p:cNvPr name="Freeform 6" id="6"/>
          <p:cNvSpPr/>
          <p:nvPr/>
        </p:nvSpPr>
        <p:spPr>
          <a:xfrm flipH="false" flipV="false" rot="0">
            <a:off x="707109" y="2792407"/>
            <a:ext cx="5621457" cy="5782936"/>
          </a:xfrm>
          <a:custGeom>
            <a:avLst/>
            <a:gdLst/>
            <a:ahLst/>
            <a:cxnLst/>
            <a:rect r="r" b="b" t="t" l="l"/>
            <a:pathLst>
              <a:path h="5782936" w="5621457">
                <a:moveTo>
                  <a:pt x="0" y="0"/>
                </a:moveTo>
                <a:lnTo>
                  <a:pt x="5621457" y="0"/>
                </a:lnTo>
                <a:lnTo>
                  <a:pt x="5621457" y="5782936"/>
                </a:lnTo>
                <a:lnTo>
                  <a:pt x="0" y="5782936"/>
                </a:lnTo>
                <a:lnTo>
                  <a:pt x="0" y="0"/>
                </a:lnTo>
                <a:close/>
              </a:path>
            </a:pathLst>
          </a:custGeom>
          <a:blipFill>
            <a:blip r:embed="rId2"/>
            <a:stretch>
              <a:fillRect l="-49712" t="-5746" r="-51325" b="-4179"/>
            </a:stretch>
          </a:blipFill>
        </p:spPr>
      </p:sp>
      <p:sp>
        <p:nvSpPr>
          <p:cNvPr name="Freeform 7" id="7"/>
          <p:cNvSpPr/>
          <p:nvPr/>
        </p:nvSpPr>
        <p:spPr>
          <a:xfrm flipH="false" flipV="false" rot="0">
            <a:off x="6328566" y="2792407"/>
            <a:ext cx="5633439" cy="5782936"/>
          </a:xfrm>
          <a:custGeom>
            <a:avLst/>
            <a:gdLst/>
            <a:ahLst/>
            <a:cxnLst/>
            <a:rect r="r" b="b" t="t" l="l"/>
            <a:pathLst>
              <a:path h="5782936" w="5633439">
                <a:moveTo>
                  <a:pt x="0" y="0"/>
                </a:moveTo>
                <a:lnTo>
                  <a:pt x="5633439" y="0"/>
                </a:lnTo>
                <a:lnTo>
                  <a:pt x="5633439" y="5782936"/>
                </a:lnTo>
                <a:lnTo>
                  <a:pt x="0" y="5782936"/>
                </a:lnTo>
                <a:lnTo>
                  <a:pt x="0" y="0"/>
                </a:lnTo>
                <a:close/>
              </a:path>
            </a:pathLst>
          </a:custGeom>
          <a:blipFill>
            <a:blip r:embed="rId3"/>
            <a:stretch>
              <a:fillRect l="-52309" t="-7203" r="-52582" b="-5069"/>
            </a:stretch>
          </a:blipFill>
        </p:spPr>
      </p:sp>
      <p:sp>
        <p:nvSpPr>
          <p:cNvPr name="Freeform 8" id="8"/>
          <p:cNvSpPr/>
          <p:nvPr/>
        </p:nvSpPr>
        <p:spPr>
          <a:xfrm flipH="false" flipV="false" rot="0">
            <a:off x="11962005" y="2792407"/>
            <a:ext cx="5618886" cy="5782936"/>
          </a:xfrm>
          <a:custGeom>
            <a:avLst/>
            <a:gdLst/>
            <a:ahLst/>
            <a:cxnLst/>
            <a:rect r="r" b="b" t="t" l="l"/>
            <a:pathLst>
              <a:path h="5782936" w="5618886">
                <a:moveTo>
                  <a:pt x="0" y="0"/>
                </a:moveTo>
                <a:lnTo>
                  <a:pt x="5618886" y="0"/>
                </a:lnTo>
                <a:lnTo>
                  <a:pt x="5618886" y="5782936"/>
                </a:lnTo>
                <a:lnTo>
                  <a:pt x="0" y="5782936"/>
                </a:lnTo>
                <a:lnTo>
                  <a:pt x="0" y="0"/>
                </a:lnTo>
                <a:close/>
              </a:path>
            </a:pathLst>
          </a:custGeom>
          <a:blipFill>
            <a:blip r:embed="rId4"/>
            <a:stretch>
              <a:fillRect l="-52166" t="-6634" r="-52166" b="-5042"/>
            </a:stretch>
          </a:blipFill>
        </p:spPr>
      </p:sp>
      <p:sp>
        <p:nvSpPr>
          <p:cNvPr name="TextBox 9" id="9"/>
          <p:cNvSpPr txBox="true"/>
          <p:nvPr/>
        </p:nvSpPr>
        <p:spPr>
          <a:xfrm rot="0">
            <a:off x="16521410" y="9684397"/>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33 of 37</a:t>
            </a:r>
          </a:p>
        </p:txBody>
      </p:sp>
    </p:spTree>
  </p:cSld>
  <p:clrMapOvr>
    <a:masterClrMapping/>
  </p:clrMapOvr>
  <p:transition spd="med">
    <p:push dir="l"/>
  </p:transition>
</p:sld>
</file>

<file path=ppt/slides/slide3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91467" y="421672"/>
            <a:ext cx="14268590" cy="1156452"/>
            <a:chOff x="0" y="0"/>
            <a:chExt cx="613064" cy="49720"/>
          </a:xfrm>
        </p:grpSpPr>
        <p:sp>
          <p:nvSpPr>
            <p:cNvPr name="Freeform 3" id="3"/>
            <p:cNvSpPr/>
            <p:nvPr/>
          </p:nvSpPr>
          <p:spPr>
            <a:xfrm flipH="false" flipV="false" rot="0">
              <a:off x="0" y="0"/>
              <a:ext cx="613063" cy="49720"/>
            </a:xfrm>
            <a:custGeom>
              <a:avLst/>
              <a:gdLst/>
              <a:ahLst/>
              <a:cxnLst/>
              <a:rect r="r" b="b" t="t" l="l"/>
              <a:pathLst>
                <a:path h="49720" w="613063">
                  <a:moveTo>
                    <a:pt x="613063" y="24860"/>
                  </a:moveTo>
                  <a:lnTo>
                    <a:pt x="613063" y="24860"/>
                  </a:lnTo>
                  <a:cubicBezTo>
                    <a:pt x="613063" y="31453"/>
                    <a:pt x="610444" y="37777"/>
                    <a:pt x="605782" y="42439"/>
                  </a:cubicBezTo>
                  <a:cubicBezTo>
                    <a:pt x="601120" y="47101"/>
                    <a:pt x="594797" y="49720"/>
                    <a:pt x="588203" y="49720"/>
                  </a:cubicBezTo>
                  <a:lnTo>
                    <a:pt x="24860" y="49720"/>
                  </a:lnTo>
                  <a:cubicBezTo>
                    <a:pt x="18267" y="49720"/>
                    <a:pt x="11944" y="47101"/>
                    <a:pt x="7281" y="42439"/>
                  </a:cubicBezTo>
                  <a:cubicBezTo>
                    <a:pt x="2619" y="37777"/>
                    <a:pt x="0" y="31453"/>
                    <a:pt x="0" y="24860"/>
                  </a:cubicBezTo>
                  <a:lnTo>
                    <a:pt x="0" y="24860"/>
                  </a:lnTo>
                  <a:cubicBezTo>
                    <a:pt x="0" y="18267"/>
                    <a:pt x="2619" y="11944"/>
                    <a:pt x="7281" y="7281"/>
                  </a:cubicBezTo>
                  <a:cubicBezTo>
                    <a:pt x="11944" y="2619"/>
                    <a:pt x="18267" y="0"/>
                    <a:pt x="24860" y="0"/>
                  </a:cubicBezTo>
                  <a:lnTo>
                    <a:pt x="588203" y="0"/>
                  </a:lnTo>
                  <a:cubicBezTo>
                    <a:pt x="601933" y="0"/>
                    <a:pt x="613063" y="11130"/>
                    <a:pt x="613063" y="24860"/>
                  </a:cubicBezTo>
                  <a:close/>
                </a:path>
              </a:pathLst>
            </a:custGeom>
            <a:solidFill>
              <a:srgbClr val="002699"/>
            </a:solidFill>
            <a:ln cap="rnd">
              <a:noFill/>
              <a:prstDash val="solid"/>
              <a:round/>
            </a:ln>
          </p:spPr>
        </p:sp>
        <p:sp>
          <p:nvSpPr>
            <p:cNvPr name="TextBox 4" id="4"/>
            <p:cNvSpPr txBox="true"/>
            <p:nvPr/>
          </p:nvSpPr>
          <p:spPr>
            <a:xfrm>
              <a:off x="0" y="-47625"/>
              <a:ext cx="613064" cy="97345"/>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1137459" y="638175"/>
            <a:ext cx="14665425" cy="771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4.6 DỮ LIỆU TRÊN CORE IOT</a:t>
            </a:r>
          </a:p>
        </p:txBody>
      </p:sp>
      <p:sp>
        <p:nvSpPr>
          <p:cNvPr name="Freeform 6" id="6"/>
          <p:cNvSpPr/>
          <p:nvPr/>
        </p:nvSpPr>
        <p:spPr>
          <a:xfrm flipH="false" flipV="false" rot="0">
            <a:off x="2450656" y="1833734"/>
            <a:ext cx="13386688" cy="7898288"/>
          </a:xfrm>
          <a:custGeom>
            <a:avLst/>
            <a:gdLst/>
            <a:ahLst/>
            <a:cxnLst/>
            <a:rect r="r" b="b" t="t" l="l"/>
            <a:pathLst>
              <a:path h="7898288" w="13386688">
                <a:moveTo>
                  <a:pt x="0" y="0"/>
                </a:moveTo>
                <a:lnTo>
                  <a:pt x="13386688" y="0"/>
                </a:lnTo>
                <a:lnTo>
                  <a:pt x="13386688" y="7898288"/>
                </a:lnTo>
                <a:lnTo>
                  <a:pt x="0" y="7898288"/>
                </a:lnTo>
                <a:lnTo>
                  <a:pt x="0" y="0"/>
                </a:lnTo>
                <a:close/>
              </a:path>
            </a:pathLst>
          </a:custGeom>
          <a:blipFill>
            <a:blip r:embed="rId2"/>
            <a:stretch>
              <a:fillRect l="-12795" t="-16771" r="-14842" b="-4915"/>
            </a:stretch>
          </a:blipFill>
        </p:spPr>
      </p:sp>
      <p:sp>
        <p:nvSpPr>
          <p:cNvPr name="TextBox 7" id="7"/>
          <p:cNvSpPr txBox="true"/>
          <p:nvPr/>
        </p:nvSpPr>
        <p:spPr>
          <a:xfrm rot="0">
            <a:off x="16521410" y="9684397"/>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34 of 37</a:t>
            </a:r>
          </a:p>
        </p:txBody>
      </p:sp>
    </p:spTree>
  </p:cSld>
  <p:clrMapOvr>
    <a:masterClrMapping/>
  </p:clrMapOvr>
  <p:transition spd="med">
    <p:push dir="l"/>
  </p:transition>
</p:sld>
</file>

<file path=ppt/slides/slide3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91467" y="421672"/>
            <a:ext cx="7819484" cy="1156452"/>
            <a:chOff x="0" y="0"/>
            <a:chExt cx="335972" cy="49720"/>
          </a:xfrm>
        </p:grpSpPr>
        <p:sp>
          <p:nvSpPr>
            <p:cNvPr name="Freeform 3" id="3"/>
            <p:cNvSpPr/>
            <p:nvPr/>
          </p:nvSpPr>
          <p:spPr>
            <a:xfrm flipH="false" flipV="false" rot="0">
              <a:off x="0" y="0"/>
              <a:ext cx="335972" cy="49720"/>
            </a:xfrm>
            <a:custGeom>
              <a:avLst/>
              <a:gdLst/>
              <a:ahLst/>
              <a:cxnLst/>
              <a:rect r="r" b="b" t="t" l="l"/>
              <a:pathLst>
                <a:path h="49720" w="335972">
                  <a:moveTo>
                    <a:pt x="335972" y="24860"/>
                  </a:moveTo>
                  <a:lnTo>
                    <a:pt x="335972" y="24860"/>
                  </a:lnTo>
                  <a:cubicBezTo>
                    <a:pt x="335972" y="31453"/>
                    <a:pt x="333352" y="37777"/>
                    <a:pt x="328690" y="42439"/>
                  </a:cubicBezTo>
                  <a:cubicBezTo>
                    <a:pt x="324028" y="47101"/>
                    <a:pt x="317705" y="49720"/>
                    <a:pt x="311111" y="49720"/>
                  </a:cubicBezTo>
                  <a:lnTo>
                    <a:pt x="24860" y="49720"/>
                  </a:lnTo>
                  <a:cubicBezTo>
                    <a:pt x="18267" y="49720"/>
                    <a:pt x="11944" y="47101"/>
                    <a:pt x="7281" y="42439"/>
                  </a:cubicBezTo>
                  <a:cubicBezTo>
                    <a:pt x="2619" y="37777"/>
                    <a:pt x="0" y="31453"/>
                    <a:pt x="0" y="24860"/>
                  </a:cubicBezTo>
                  <a:lnTo>
                    <a:pt x="0" y="24860"/>
                  </a:lnTo>
                  <a:cubicBezTo>
                    <a:pt x="0" y="18267"/>
                    <a:pt x="2619" y="11944"/>
                    <a:pt x="7281" y="7281"/>
                  </a:cubicBezTo>
                  <a:cubicBezTo>
                    <a:pt x="11944" y="2619"/>
                    <a:pt x="18267" y="0"/>
                    <a:pt x="24860" y="0"/>
                  </a:cubicBezTo>
                  <a:lnTo>
                    <a:pt x="311111" y="0"/>
                  </a:lnTo>
                  <a:cubicBezTo>
                    <a:pt x="324841" y="0"/>
                    <a:pt x="335972" y="11130"/>
                    <a:pt x="335972" y="24860"/>
                  </a:cubicBezTo>
                  <a:close/>
                </a:path>
              </a:pathLst>
            </a:custGeom>
            <a:solidFill>
              <a:srgbClr val="002699"/>
            </a:solidFill>
            <a:ln cap="rnd">
              <a:noFill/>
              <a:prstDash val="solid"/>
              <a:round/>
            </a:ln>
          </p:spPr>
        </p:sp>
        <p:sp>
          <p:nvSpPr>
            <p:cNvPr name="TextBox 4" id="4"/>
            <p:cNvSpPr txBox="true"/>
            <p:nvPr/>
          </p:nvSpPr>
          <p:spPr>
            <a:xfrm>
              <a:off x="0" y="-47625"/>
              <a:ext cx="335972" cy="97345"/>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583038" y="638175"/>
            <a:ext cx="11746702" cy="771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VIDEO DEMO</a:t>
            </a:r>
          </a:p>
        </p:txBody>
      </p:sp>
      <p:sp>
        <p:nvSpPr>
          <p:cNvPr name="TextBox 6" id="6"/>
          <p:cNvSpPr txBox="true"/>
          <p:nvPr/>
        </p:nvSpPr>
        <p:spPr>
          <a:xfrm rot="0">
            <a:off x="16447591" y="9637489"/>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35 of 37</a:t>
            </a:r>
          </a:p>
        </p:txBody>
      </p:sp>
      <p:pic>
        <p:nvPicPr>
          <p:cNvPr name="Picture 7" id="7"/>
          <p:cNvPicPr>
            <a:picLocks noChangeAspect="true"/>
          </p:cNvPicPr>
          <p:nvPr>
            <a:videoFile r:link="rId3"/>
          </p:nvPr>
        </p:nvPicPr>
        <p:blipFill>
          <a:blip r:embed="rId2"/>
          <a:stretch>
            <a:fillRect/>
          </a:stretch>
        </p:blipFill>
        <p:spPr>
          <a:xfrm rot="0">
            <a:off x="1639835" y="1663878"/>
            <a:ext cx="14807756" cy="8322861"/>
          </a:xfrm>
          <a:prstGeom prst="rect">
            <a:avLst/>
          </a:prstGeom>
        </p:spPr>
      </p:pic>
    </p:spTree>
  </p:cSld>
  <p:clrMapOvr>
    <a:masterClrMapping/>
  </p:clrMapOvr>
  <p:transition spd="med">
    <p:push dir="l"/>
  </p:transition>
</p:sld>
</file>

<file path=ppt/slides/slide3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91467" y="421672"/>
            <a:ext cx="11484157" cy="1156452"/>
            <a:chOff x="0" y="0"/>
            <a:chExt cx="493428" cy="49720"/>
          </a:xfrm>
        </p:grpSpPr>
        <p:sp>
          <p:nvSpPr>
            <p:cNvPr name="Freeform 3" id="3"/>
            <p:cNvSpPr/>
            <p:nvPr/>
          </p:nvSpPr>
          <p:spPr>
            <a:xfrm flipH="false" flipV="false" rot="0">
              <a:off x="0" y="0"/>
              <a:ext cx="493428" cy="49720"/>
            </a:xfrm>
            <a:custGeom>
              <a:avLst/>
              <a:gdLst/>
              <a:ahLst/>
              <a:cxnLst/>
              <a:rect r="r" b="b" t="t" l="l"/>
              <a:pathLst>
                <a:path h="49720" w="493428">
                  <a:moveTo>
                    <a:pt x="493428" y="24860"/>
                  </a:moveTo>
                  <a:lnTo>
                    <a:pt x="493428" y="24860"/>
                  </a:lnTo>
                  <a:cubicBezTo>
                    <a:pt x="493428" y="31453"/>
                    <a:pt x="490809" y="37777"/>
                    <a:pt x="486146" y="42439"/>
                  </a:cubicBezTo>
                  <a:cubicBezTo>
                    <a:pt x="481484" y="47101"/>
                    <a:pt x="475161" y="49720"/>
                    <a:pt x="468568" y="49720"/>
                  </a:cubicBezTo>
                  <a:lnTo>
                    <a:pt x="24860" y="49720"/>
                  </a:lnTo>
                  <a:cubicBezTo>
                    <a:pt x="18267" y="49720"/>
                    <a:pt x="11944" y="47101"/>
                    <a:pt x="7281" y="42439"/>
                  </a:cubicBezTo>
                  <a:cubicBezTo>
                    <a:pt x="2619" y="37777"/>
                    <a:pt x="0" y="31453"/>
                    <a:pt x="0" y="24860"/>
                  </a:cubicBezTo>
                  <a:lnTo>
                    <a:pt x="0" y="24860"/>
                  </a:lnTo>
                  <a:cubicBezTo>
                    <a:pt x="0" y="18267"/>
                    <a:pt x="2619" y="11944"/>
                    <a:pt x="7281" y="7281"/>
                  </a:cubicBezTo>
                  <a:cubicBezTo>
                    <a:pt x="11944" y="2619"/>
                    <a:pt x="18267" y="0"/>
                    <a:pt x="24860" y="0"/>
                  </a:cubicBezTo>
                  <a:lnTo>
                    <a:pt x="468568" y="0"/>
                  </a:lnTo>
                  <a:cubicBezTo>
                    <a:pt x="482297" y="0"/>
                    <a:pt x="493428" y="11130"/>
                    <a:pt x="493428" y="24860"/>
                  </a:cubicBezTo>
                  <a:close/>
                </a:path>
              </a:pathLst>
            </a:custGeom>
            <a:solidFill>
              <a:srgbClr val="002699"/>
            </a:solidFill>
            <a:ln cap="rnd">
              <a:noFill/>
              <a:prstDash val="solid"/>
              <a:round/>
            </a:ln>
          </p:spPr>
        </p:sp>
        <p:sp>
          <p:nvSpPr>
            <p:cNvPr name="TextBox 4" id="4"/>
            <p:cNvSpPr txBox="true"/>
            <p:nvPr/>
          </p:nvSpPr>
          <p:spPr>
            <a:xfrm>
              <a:off x="0" y="-47625"/>
              <a:ext cx="493428" cy="97345"/>
            </a:xfrm>
            <a:prstGeom prst="rect">
              <a:avLst/>
            </a:prstGeom>
          </p:spPr>
          <p:txBody>
            <a:bodyPr anchor="ctr" rtlCol="false" tIns="50800" lIns="50800" bIns="50800" rIns="50800"/>
            <a:lstStyle/>
            <a:p>
              <a:pPr algn="ctr">
                <a:lnSpc>
                  <a:spcPts val="2592"/>
                </a:lnSpc>
              </a:pPr>
            </a:p>
          </p:txBody>
        </p:sp>
      </p:grpSp>
      <p:sp>
        <p:nvSpPr>
          <p:cNvPr name="TextBox 5" id="5"/>
          <p:cNvSpPr txBox="true"/>
          <p:nvPr/>
        </p:nvSpPr>
        <p:spPr>
          <a:xfrm rot="0">
            <a:off x="583038" y="638175"/>
            <a:ext cx="11746702" cy="771525"/>
          </a:xfrm>
          <a:prstGeom prst="rect">
            <a:avLst/>
          </a:prstGeom>
        </p:spPr>
        <p:txBody>
          <a:bodyPr anchor="t" rtlCol="false" tIns="0" lIns="0" bIns="0" rIns="0">
            <a:spAutoFit/>
          </a:bodyPr>
          <a:lstStyle/>
          <a:p>
            <a:pPr algn="l">
              <a:lnSpc>
                <a:spcPts val="6000"/>
              </a:lnSpc>
            </a:pPr>
            <a:r>
              <a:rPr lang="en-US" b="true" sz="5000" spc="769">
                <a:solidFill>
                  <a:srgbClr val="FFFFFF"/>
                </a:solidFill>
                <a:latin typeface="Roboto Bold"/>
                <a:ea typeface="Roboto Bold"/>
                <a:cs typeface="Roboto Bold"/>
                <a:sym typeface="Roboto Bold"/>
              </a:rPr>
              <a:t>TÀI LIỆU THAM KHẢO</a:t>
            </a:r>
          </a:p>
        </p:txBody>
      </p:sp>
      <p:sp>
        <p:nvSpPr>
          <p:cNvPr name="TextBox 6" id="6"/>
          <p:cNvSpPr txBox="true"/>
          <p:nvPr/>
        </p:nvSpPr>
        <p:spPr>
          <a:xfrm rot="0">
            <a:off x="838262" y="3238500"/>
            <a:ext cx="16611477" cy="3733800"/>
          </a:xfrm>
          <a:prstGeom prst="rect">
            <a:avLst/>
          </a:prstGeom>
        </p:spPr>
        <p:txBody>
          <a:bodyPr anchor="t" rtlCol="false" tIns="0" lIns="0" bIns="0" rIns="0">
            <a:spAutoFit/>
          </a:bodyPr>
          <a:lstStyle/>
          <a:p>
            <a:pPr algn="l" marL="647700" indent="-323850" lvl="1">
              <a:lnSpc>
                <a:spcPts val="4200"/>
              </a:lnSpc>
              <a:buAutoNum type="arabicPeriod" startAt="1"/>
            </a:pPr>
            <a:r>
              <a:rPr lang="en-US" sz="3000">
                <a:solidFill>
                  <a:srgbClr val="000000"/>
                </a:solidFill>
                <a:latin typeface="Roboto"/>
                <a:ea typeface="Roboto"/>
                <a:cs typeface="Roboto"/>
                <a:sym typeface="Roboto"/>
              </a:rPr>
              <a:t>Đ.</a:t>
            </a:r>
            <a:r>
              <a:rPr lang="en-US" sz="3000">
                <a:solidFill>
                  <a:srgbClr val="000000"/>
                </a:solidFill>
                <a:latin typeface="Roboto"/>
                <a:ea typeface="Roboto"/>
                <a:cs typeface="Roboto"/>
                <a:sym typeface="Roboto"/>
              </a:rPr>
              <a:t> H. Lan (2024). Chuyển đổi số y tế gia tăng lợi ích cho người dân trong bảo vệ và chăm sóc sức khỏe toàn</a:t>
            </a:r>
            <a:r>
              <a:rPr lang="en-US" sz="3000">
                <a:solidFill>
                  <a:srgbClr val="000000"/>
                </a:solidFill>
                <a:latin typeface="Roboto"/>
                <a:ea typeface="Roboto"/>
                <a:cs typeface="Roboto"/>
                <a:sym typeface="Roboto"/>
              </a:rPr>
              <a:t> diện.</a:t>
            </a:r>
          </a:p>
          <a:p>
            <a:pPr algn="l" marL="647700" indent="-323850" lvl="1">
              <a:lnSpc>
                <a:spcPts val="4200"/>
              </a:lnSpc>
              <a:buAutoNum type="arabicPeriod" startAt="1"/>
            </a:pPr>
            <a:r>
              <a:rPr lang="en-US" sz="3000">
                <a:solidFill>
                  <a:srgbClr val="000000"/>
                </a:solidFill>
                <a:latin typeface="Roboto"/>
                <a:ea typeface="Roboto"/>
                <a:cs typeface="Roboto"/>
                <a:sym typeface="Roboto"/>
              </a:rPr>
              <a:t>Bluetooth SIG Proprietary (2024). GATT Specification Supplement.</a:t>
            </a:r>
          </a:p>
          <a:p>
            <a:pPr algn="l" marL="647700" indent="-323850" lvl="1">
              <a:lnSpc>
                <a:spcPts val="4200"/>
              </a:lnSpc>
              <a:buAutoNum type="arabicPeriod" startAt="1"/>
            </a:pPr>
            <a:r>
              <a:rPr lang="en-US" sz="3000">
                <a:solidFill>
                  <a:srgbClr val="000000"/>
                </a:solidFill>
                <a:latin typeface="Roboto"/>
                <a:ea typeface="Roboto"/>
                <a:cs typeface="Roboto"/>
                <a:sym typeface="Roboto"/>
              </a:rPr>
              <a:t>EMQX Team. Mastering mqtt (2025): The ultimate beginner’s guide for 2025.</a:t>
            </a:r>
          </a:p>
          <a:p>
            <a:pPr algn="l" marL="647700" indent="-323850" lvl="1">
              <a:lnSpc>
                <a:spcPts val="4200"/>
              </a:lnSpc>
              <a:buAutoNum type="arabicPeriod" startAt="1"/>
            </a:pPr>
            <a:r>
              <a:rPr lang="en-US" sz="3000">
                <a:solidFill>
                  <a:srgbClr val="000000"/>
                </a:solidFill>
                <a:latin typeface="Roboto"/>
                <a:ea typeface="Roboto"/>
                <a:cs typeface="Roboto"/>
                <a:sym typeface="Roboto"/>
              </a:rPr>
              <a:t>ThingsBoard (2025). Thingsboard - open-source iot platform.</a:t>
            </a:r>
          </a:p>
          <a:p>
            <a:pPr algn="l" marL="647700" indent="-323850" lvl="1">
              <a:lnSpc>
                <a:spcPts val="4200"/>
              </a:lnSpc>
              <a:buAutoNum type="arabicPeriod" startAt="1"/>
            </a:pPr>
            <a:r>
              <a:rPr lang="en-US" sz="3000">
                <a:solidFill>
                  <a:srgbClr val="000000"/>
                </a:solidFill>
                <a:latin typeface="Roboto"/>
                <a:ea typeface="Roboto"/>
                <a:cs typeface="Roboto"/>
                <a:sym typeface="Roboto"/>
              </a:rPr>
              <a:t>ThingsBoard (2025). Thingsboard documentation.</a:t>
            </a:r>
          </a:p>
          <a:p>
            <a:pPr algn="l" marL="647700" indent="-323850" lvl="1">
              <a:lnSpc>
                <a:spcPts val="4200"/>
              </a:lnSpc>
              <a:buAutoNum type="arabicPeriod" startAt="1"/>
            </a:pPr>
            <a:r>
              <a:rPr lang="en-US" sz="3000">
                <a:solidFill>
                  <a:srgbClr val="000000"/>
                </a:solidFill>
                <a:latin typeface="Roboto"/>
                <a:ea typeface="Roboto"/>
                <a:cs typeface="Roboto"/>
                <a:sym typeface="Roboto"/>
              </a:rPr>
              <a:t>Physiopedia. Single Leg Stance Test</a:t>
            </a:r>
          </a:p>
        </p:txBody>
      </p:sp>
      <p:sp>
        <p:nvSpPr>
          <p:cNvPr name="TextBox 7" id="7"/>
          <p:cNvSpPr txBox="true"/>
          <p:nvPr/>
        </p:nvSpPr>
        <p:spPr>
          <a:xfrm rot="0">
            <a:off x="15936813" y="9210675"/>
            <a:ext cx="152400" cy="200025"/>
          </a:xfrm>
          <a:prstGeom prst="rect">
            <a:avLst/>
          </a:prstGeom>
        </p:spPr>
        <p:txBody>
          <a:bodyPr anchor="t" rtlCol="false" tIns="0" lIns="0" bIns="0" rIns="0" wrap="none">
            <a:spAutoFit/>
          </a:bodyPr>
          <a:lstStyle/>
          <a:p>
            <a:pPr algn="ctr">
              <a:lnSpc>
                <a:spcPts val="2800"/>
              </a:lnSpc>
              <a:spcBef>
                <a:spcPct val="0"/>
              </a:spcBef>
            </a:pPr>
            <a:r>
              <a:rPr lang="en-US" sz="2000">
                <a:solidFill>
                  <a:srgbClr val="081861"/>
                </a:solidFill>
                <a:latin typeface="Canva Sans"/>
                <a:ea typeface="Canva Sans"/>
                <a:cs typeface="Canva Sans"/>
                <a:sym typeface="Canva Sans"/>
              </a:rPr>
              <a:t>Page 36 of 37</a:t>
            </a:r>
          </a:p>
        </p:txBody>
      </p:sp>
    </p:spTree>
  </p:cSld>
  <p:clrMapOvr>
    <a:masterClrMapping/>
  </p:clrMapOvr>
  <p:transition spd="med">
    <p:push dir="l"/>
  </p:transition>
</p:sld>
</file>

<file path=ppt/slides/slide3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4803887" y="785296"/>
            <a:ext cx="1753563" cy="1796730"/>
          </a:xfrm>
          <a:custGeom>
            <a:avLst/>
            <a:gdLst/>
            <a:ahLst/>
            <a:cxnLst/>
            <a:rect r="r" b="b" t="t" l="l"/>
            <a:pathLst>
              <a:path h="1796730" w="1753563">
                <a:moveTo>
                  <a:pt x="0" y="0"/>
                </a:moveTo>
                <a:lnTo>
                  <a:pt x="1753563" y="0"/>
                </a:lnTo>
                <a:lnTo>
                  <a:pt x="1753563" y="1796730"/>
                </a:lnTo>
                <a:lnTo>
                  <a:pt x="0" y="179673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757531" y="8583246"/>
            <a:ext cx="1796730" cy="1753563"/>
          </a:xfrm>
          <a:custGeom>
            <a:avLst/>
            <a:gdLst/>
            <a:ahLst/>
            <a:cxnLst/>
            <a:rect r="r" b="b" t="t" l="l"/>
            <a:pathLst>
              <a:path h="1753563" w="1796730">
                <a:moveTo>
                  <a:pt x="0" y="0"/>
                </a:moveTo>
                <a:lnTo>
                  <a:pt x="1796729" y="0"/>
                </a:lnTo>
                <a:lnTo>
                  <a:pt x="1796729" y="1753563"/>
                </a:lnTo>
                <a:lnTo>
                  <a:pt x="0" y="175356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6552053" y="4279264"/>
            <a:ext cx="1753563" cy="1796730"/>
          </a:xfrm>
          <a:custGeom>
            <a:avLst/>
            <a:gdLst/>
            <a:ahLst/>
            <a:cxnLst/>
            <a:rect r="r" b="b" t="t" l="l"/>
            <a:pathLst>
              <a:path h="1796730" w="1753563">
                <a:moveTo>
                  <a:pt x="0" y="0"/>
                </a:moveTo>
                <a:lnTo>
                  <a:pt x="1753563" y="0"/>
                </a:lnTo>
                <a:lnTo>
                  <a:pt x="1753563" y="1796731"/>
                </a:lnTo>
                <a:lnTo>
                  <a:pt x="0" y="179673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5" id="5"/>
          <p:cNvGrpSpPr/>
          <p:nvPr/>
        </p:nvGrpSpPr>
        <p:grpSpPr>
          <a:xfrm rot="5400000">
            <a:off x="-1246453" y="7268188"/>
            <a:ext cx="1753563" cy="898365"/>
            <a:chOff x="0" y="0"/>
            <a:chExt cx="2338084" cy="1197820"/>
          </a:xfrm>
        </p:grpSpPr>
        <p:sp>
          <p:nvSpPr>
            <p:cNvPr name="Freeform 6" id="6"/>
            <p:cNvSpPr/>
            <p:nvPr/>
          </p:nvSpPr>
          <p:spPr>
            <a:xfrm flipH="false" flipV="false" rot="0">
              <a:off x="0" y="0"/>
              <a:ext cx="2338070" cy="1197864"/>
            </a:xfrm>
            <a:custGeom>
              <a:avLst/>
              <a:gdLst/>
              <a:ahLst/>
              <a:cxnLst/>
              <a:rect r="r" b="b" t="t" l="l"/>
              <a:pathLst>
                <a:path h="1197864" w="2338070">
                  <a:moveTo>
                    <a:pt x="2338070" y="1197864"/>
                  </a:moveTo>
                  <a:lnTo>
                    <a:pt x="1169035" y="0"/>
                  </a:lnTo>
                  <a:lnTo>
                    <a:pt x="0" y="1197864"/>
                  </a:lnTo>
                  <a:close/>
                </a:path>
              </a:pathLst>
            </a:custGeom>
            <a:solidFill>
              <a:srgbClr val="264B9C"/>
            </a:solidFill>
          </p:spPr>
        </p:sp>
      </p:grpSp>
      <p:sp>
        <p:nvSpPr>
          <p:cNvPr name="Freeform 7" id="7"/>
          <p:cNvSpPr/>
          <p:nvPr/>
        </p:nvSpPr>
        <p:spPr>
          <a:xfrm flipH="false" flipV="false" rot="0">
            <a:off x="3521627" y="8580105"/>
            <a:ext cx="1796730" cy="1753563"/>
          </a:xfrm>
          <a:custGeom>
            <a:avLst/>
            <a:gdLst/>
            <a:ahLst/>
            <a:cxnLst/>
            <a:rect r="r" b="b" t="t" l="l"/>
            <a:pathLst>
              <a:path h="1753563" w="1796730">
                <a:moveTo>
                  <a:pt x="0" y="0"/>
                </a:moveTo>
                <a:lnTo>
                  <a:pt x="1796729" y="0"/>
                </a:lnTo>
                <a:lnTo>
                  <a:pt x="1796729" y="1753563"/>
                </a:lnTo>
                <a:lnTo>
                  <a:pt x="0" y="175356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pSp>
        <p:nvGrpSpPr>
          <p:cNvPr name="Group 8" id="8"/>
          <p:cNvGrpSpPr/>
          <p:nvPr/>
        </p:nvGrpSpPr>
        <p:grpSpPr>
          <a:xfrm rot="5400000">
            <a:off x="-1239917" y="9010844"/>
            <a:ext cx="1753563" cy="898365"/>
            <a:chOff x="0" y="0"/>
            <a:chExt cx="2338084" cy="1197820"/>
          </a:xfrm>
        </p:grpSpPr>
        <p:sp>
          <p:nvSpPr>
            <p:cNvPr name="Freeform 9" id="9"/>
            <p:cNvSpPr/>
            <p:nvPr/>
          </p:nvSpPr>
          <p:spPr>
            <a:xfrm flipH="false" flipV="false" rot="0">
              <a:off x="0" y="0"/>
              <a:ext cx="2338070" cy="1197864"/>
            </a:xfrm>
            <a:custGeom>
              <a:avLst/>
              <a:gdLst/>
              <a:ahLst/>
              <a:cxnLst/>
              <a:rect r="r" b="b" t="t" l="l"/>
              <a:pathLst>
                <a:path h="1197864" w="2338070">
                  <a:moveTo>
                    <a:pt x="2338070" y="1197864"/>
                  </a:moveTo>
                  <a:lnTo>
                    <a:pt x="1169035" y="0"/>
                  </a:lnTo>
                  <a:lnTo>
                    <a:pt x="0" y="1197864"/>
                  </a:lnTo>
                  <a:close/>
                </a:path>
              </a:pathLst>
            </a:custGeom>
            <a:solidFill>
              <a:srgbClr val="0975A7"/>
            </a:solidFill>
          </p:spPr>
        </p:sp>
      </p:grpSp>
      <p:sp>
        <p:nvSpPr>
          <p:cNvPr name="Freeform 10" id="10"/>
          <p:cNvSpPr/>
          <p:nvPr/>
        </p:nvSpPr>
        <p:spPr>
          <a:xfrm flipH="false" flipV="false" rot="0">
            <a:off x="-818854" y="7678725"/>
            <a:ext cx="1753563" cy="1796730"/>
          </a:xfrm>
          <a:custGeom>
            <a:avLst/>
            <a:gdLst/>
            <a:ahLst/>
            <a:cxnLst/>
            <a:rect r="r" b="b" t="t" l="l"/>
            <a:pathLst>
              <a:path h="1796730" w="1753563">
                <a:moveTo>
                  <a:pt x="0" y="0"/>
                </a:moveTo>
                <a:lnTo>
                  <a:pt x="1753563" y="0"/>
                </a:lnTo>
                <a:lnTo>
                  <a:pt x="1753563" y="1796730"/>
                </a:lnTo>
                <a:lnTo>
                  <a:pt x="0" y="179673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1" id="11"/>
          <p:cNvSpPr/>
          <p:nvPr/>
        </p:nvSpPr>
        <p:spPr>
          <a:xfrm flipH="false" flipV="false" rot="0">
            <a:off x="25551" y="6801304"/>
            <a:ext cx="1753563" cy="1796730"/>
          </a:xfrm>
          <a:custGeom>
            <a:avLst/>
            <a:gdLst/>
            <a:ahLst/>
            <a:cxnLst/>
            <a:rect r="r" b="b" t="t" l="l"/>
            <a:pathLst>
              <a:path h="1796730" w="1753563">
                <a:moveTo>
                  <a:pt x="0" y="0"/>
                </a:moveTo>
                <a:lnTo>
                  <a:pt x="1753563" y="0"/>
                </a:lnTo>
                <a:lnTo>
                  <a:pt x="1753563" y="1796730"/>
                </a:lnTo>
                <a:lnTo>
                  <a:pt x="0" y="1796730"/>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12" id="12"/>
          <p:cNvSpPr/>
          <p:nvPr/>
        </p:nvSpPr>
        <p:spPr>
          <a:xfrm flipH="false" flipV="false" rot="0">
            <a:off x="36344" y="8554869"/>
            <a:ext cx="1753563" cy="1796730"/>
          </a:xfrm>
          <a:custGeom>
            <a:avLst/>
            <a:gdLst/>
            <a:ahLst/>
            <a:cxnLst/>
            <a:rect r="r" b="b" t="t" l="l"/>
            <a:pathLst>
              <a:path h="1796730" w="1753563">
                <a:moveTo>
                  <a:pt x="0" y="0"/>
                </a:moveTo>
                <a:lnTo>
                  <a:pt x="1753562" y="0"/>
                </a:lnTo>
                <a:lnTo>
                  <a:pt x="1753562" y="1796730"/>
                </a:lnTo>
                <a:lnTo>
                  <a:pt x="0" y="179673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13" id="13"/>
          <p:cNvSpPr/>
          <p:nvPr/>
        </p:nvSpPr>
        <p:spPr>
          <a:xfrm flipH="false" flipV="false" rot="0">
            <a:off x="880749" y="7692276"/>
            <a:ext cx="1796730" cy="1753563"/>
          </a:xfrm>
          <a:custGeom>
            <a:avLst/>
            <a:gdLst/>
            <a:ahLst/>
            <a:cxnLst/>
            <a:rect r="r" b="b" t="t" l="l"/>
            <a:pathLst>
              <a:path h="1753563" w="1796730">
                <a:moveTo>
                  <a:pt x="0" y="0"/>
                </a:moveTo>
                <a:lnTo>
                  <a:pt x="1796730" y="0"/>
                </a:lnTo>
                <a:lnTo>
                  <a:pt x="1796730" y="1753563"/>
                </a:lnTo>
                <a:lnTo>
                  <a:pt x="0" y="1753563"/>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14" id="14"/>
          <p:cNvSpPr/>
          <p:nvPr/>
        </p:nvSpPr>
        <p:spPr>
          <a:xfrm flipH="false" flipV="false" rot="0">
            <a:off x="-872814" y="5942224"/>
            <a:ext cx="1796730" cy="1753563"/>
          </a:xfrm>
          <a:custGeom>
            <a:avLst/>
            <a:gdLst/>
            <a:ahLst/>
            <a:cxnLst/>
            <a:rect r="r" b="b" t="t" l="l"/>
            <a:pathLst>
              <a:path h="1753563" w="1796730">
                <a:moveTo>
                  <a:pt x="0" y="0"/>
                </a:moveTo>
                <a:lnTo>
                  <a:pt x="1796730" y="0"/>
                </a:lnTo>
                <a:lnTo>
                  <a:pt x="1796730" y="1753563"/>
                </a:lnTo>
                <a:lnTo>
                  <a:pt x="0" y="1753563"/>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sp>
        <p:nvSpPr>
          <p:cNvPr name="Freeform 15" id="15"/>
          <p:cNvSpPr/>
          <p:nvPr/>
        </p:nvSpPr>
        <p:spPr>
          <a:xfrm flipH="false" flipV="false" rot="0">
            <a:off x="1778067" y="6808698"/>
            <a:ext cx="1753563" cy="1796730"/>
          </a:xfrm>
          <a:custGeom>
            <a:avLst/>
            <a:gdLst/>
            <a:ahLst/>
            <a:cxnLst/>
            <a:rect r="r" b="b" t="t" l="l"/>
            <a:pathLst>
              <a:path h="1796730" w="1753563">
                <a:moveTo>
                  <a:pt x="0" y="0"/>
                </a:moveTo>
                <a:lnTo>
                  <a:pt x="1753563" y="0"/>
                </a:lnTo>
                <a:lnTo>
                  <a:pt x="1753563" y="1796730"/>
                </a:lnTo>
                <a:lnTo>
                  <a:pt x="0" y="1796730"/>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p:spPr>
      </p:sp>
      <p:grpSp>
        <p:nvGrpSpPr>
          <p:cNvPr name="Group 16" id="16"/>
          <p:cNvGrpSpPr/>
          <p:nvPr/>
        </p:nvGrpSpPr>
        <p:grpSpPr>
          <a:xfrm rot="0">
            <a:off x="908870" y="9435303"/>
            <a:ext cx="1753563" cy="898365"/>
            <a:chOff x="0" y="0"/>
            <a:chExt cx="2338084" cy="1197820"/>
          </a:xfrm>
        </p:grpSpPr>
        <p:sp>
          <p:nvSpPr>
            <p:cNvPr name="Freeform 17" id="17"/>
            <p:cNvSpPr/>
            <p:nvPr/>
          </p:nvSpPr>
          <p:spPr>
            <a:xfrm flipH="false" flipV="false" rot="0">
              <a:off x="0" y="0"/>
              <a:ext cx="2338070" cy="1197864"/>
            </a:xfrm>
            <a:custGeom>
              <a:avLst/>
              <a:gdLst/>
              <a:ahLst/>
              <a:cxnLst/>
              <a:rect r="r" b="b" t="t" l="l"/>
              <a:pathLst>
                <a:path h="1197864" w="2338070">
                  <a:moveTo>
                    <a:pt x="0" y="1197864"/>
                  </a:moveTo>
                  <a:lnTo>
                    <a:pt x="1169035" y="0"/>
                  </a:lnTo>
                  <a:lnTo>
                    <a:pt x="2338070" y="1197864"/>
                  </a:lnTo>
                  <a:close/>
                </a:path>
              </a:pathLst>
            </a:custGeom>
            <a:solidFill>
              <a:srgbClr val="01135B"/>
            </a:solidFill>
          </p:spPr>
        </p:sp>
      </p:grpSp>
      <p:grpSp>
        <p:nvGrpSpPr>
          <p:cNvPr name="Group 18" id="18"/>
          <p:cNvGrpSpPr/>
          <p:nvPr/>
        </p:nvGrpSpPr>
        <p:grpSpPr>
          <a:xfrm rot="0">
            <a:off x="-841226" y="9435717"/>
            <a:ext cx="1753563" cy="898365"/>
            <a:chOff x="0" y="0"/>
            <a:chExt cx="2338084" cy="1197820"/>
          </a:xfrm>
        </p:grpSpPr>
        <p:sp>
          <p:nvSpPr>
            <p:cNvPr name="Freeform 19" id="19"/>
            <p:cNvSpPr/>
            <p:nvPr/>
          </p:nvSpPr>
          <p:spPr>
            <a:xfrm flipH="false" flipV="false" rot="0">
              <a:off x="0" y="0"/>
              <a:ext cx="2338070" cy="1197864"/>
            </a:xfrm>
            <a:custGeom>
              <a:avLst/>
              <a:gdLst/>
              <a:ahLst/>
              <a:cxnLst/>
              <a:rect r="r" b="b" t="t" l="l"/>
              <a:pathLst>
                <a:path h="1197864" w="2338070">
                  <a:moveTo>
                    <a:pt x="0" y="1197864"/>
                  </a:moveTo>
                  <a:lnTo>
                    <a:pt x="1169035" y="0"/>
                  </a:lnTo>
                  <a:lnTo>
                    <a:pt x="2338070" y="1197864"/>
                  </a:lnTo>
                  <a:close/>
                </a:path>
              </a:pathLst>
            </a:custGeom>
            <a:solidFill>
              <a:srgbClr val="289DC0"/>
            </a:solidFill>
          </p:spPr>
        </p:sp>
      </p:grpSp>
      <p:grpSp>
        <p:nvGrpSpPr>
          <p:cNvPr name="Group 20" id="20"/>
          <p:cNvGrpSpPr/>
          <p:nvPr/>
        </p:nvGrpSpPr>
        <p:grpSpPr>
          <a:xfrm rot="0">
            <a:off x="2667476" y="9435303"/>
            <a:ext cx="1753563" cy="898365"/>
            <a:chOff x="0" y="0"/>
            <a:chExt cx="2338084" cy="1197820"/>
          </a:xfrm>
        </p:grpSpPr>
        <p:sp>
          <p:nvSpPr>
            <p:cNvPr name="Freeform 21" id="21"/>
            <p:cNvSpPr/>
            <p:nvPr/>
          </p:nvSpPr>
          <p:spPr>
            <a:xfrm flipH="false" flipV="false" rot="0">
              <a:off x="0" y="0"/>
              <a:ext cx="2338070" cy="1197864"/>
            </a:xfrm>
            <a:custGeom>
              <a:avLst/>
              <a:gdLst/>
              <a:ahLst/>
              <a:cxnLst/>
              <a:rect r="r" b="b" t="t" l="l"/>
              <a:pathLst>
                <a:path h="1197864" w="2338070">
                  <a:moveTo>
                    <a:pt x="0" y="1197864"/>
                  </a:moveTo>
                  <a:lnTo>
                    <a:pt x="1169035" y="0"/>
                  </a:lnTo>
                  <a:lnTo>
                    <a:pt x="2338070" y="1197864"/>
                  </a:lnTo>
                  <a:close/>
                </a:path>
              </a:pathLst>
            </a:custGeom>
            <a:solidFill>
              <a:srgbClr val="0868A0"/>
            </a:solidFill>
          </p:spPr>
        </p:sp>
      </p:grpSp>
      <p:grpSp>
        <p:nvGrpSpPr>
          <p:cNvPr name="Group 22" id="22"/>
          <p:cNvGrpSpPr/>
          <p:nvPr/>
        </p:nvGrpSpPr>
        <p:grpSpPr>
          <a:xfrm rot="0">
            <a:off x="4425254" y="9432162"/>
            <a:ext cx="1753563" cy="898365"/>
            <a:chOff x="0" y="0"/>
            <a:chExt cx="2338084" cy="1197820"/>
          </a:xfrm>
        </p:grpSpPr>
        <p:sp>
          <p:nvSpPr>
            <p:cNvPr name="Freeform 23" id="23"/>
            <p:cNvSpPr/>
            <p:nvPr/>
          </p:nvSpPr>
          <p:spPr>
            <a:xfrm flipH="false" flipV="false" rot="0">
              <a:off x="0" y="0"/>
              <a:ext cx="2338070" cy="1197864"/>
            </a:xfrm>
            <a:custGeom>
              <a:avLst/>
              <a:gdLst/>
              <a:ahLst/>
              <a:cxnLst/>
              <a:rect r="r" b="b" t="t" l="l"/>
              <a:pathLst>
                <a:path h="1197864" w="2338070">
                  <a:moveTo>
                    <a:pt x="0" y="1197864"/>
                  </a:moveTo>
                  <a:lnTo>
                    <a:pt x="1169035" y="0"/>
                  </a:lnTo>
                  <a:lnTo>
                    <a:pt x="2338070" y="1197864"/>
                  </a:lnTo>
                  <a:close/>
                </a:path>
              </a:pathLst>
            </a:custGeom>
            <a:solidFill>
              <a:srgbClr val="289DC0"/>
            </a:solidFill>
          </p:spPr>
        </p:sp>
      </p:grpSp>
      <p:sp>
        <p:nvSpPr>
          <p:cNvPr name="Freeform 24" id="24"/>
          <p:cNvSpPr/>
          <p:nvPr/>
        </p:nvSpPr>
        <p:spPr>
          <a:xfrm flipH="false" flipV="false" rot="0">
            <a:off x="-884393" y="4195477"/>
            <a:ext cx="1796730" cy="1753563"/>
          </a:xfrm>
          <a:custGeom>
            <a:avLst/>
            <a:gdLst/>
            <a:ahLst/>
            <a:cxnLst/>
            <a:rect r="r" b="b" t="t" l="l"/>
            <a:pathLst>
              <a:path h="1753563" w="1796730">
                <a:moveTo>
                  <a:pt x="0" y="0"/>
                </a:moveTo>
                <a:lnTo>
                  <a:pt x="1796730" y="0"/>
                </a:lnTo>
                <a:lnTo>
                  <a:pt x="1796730" y="1753563"/>
                </a:lnTo>
                <a:lnTo>
                  <a:pt x="0" y="1753563"/>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25" id="25"/>
          <p:cNvSpPr/>
          <p:nvPr/>
        </p:nvSpPr>
        <p:spPr>
          <a:xfrm flipH="false" flipV="false" rot="0">
            <a:off x="13972" y="3311301"/>
            <a:ext cx="1796730" cy="1753563"/>
          </a:xfrm>
          <a:custGeom>
            <a:avLst/>
            <a:gdLst/>
            <a:ahLst/>
            <a:cxnLst/>
            <a:rect r="r" b="b" t="t" l="l"/>
            <a:pathLst>
              <a:path h="1753563" w="1796730">
                <a:moveTo>
                  <a:pt x="0" y="0"/>
                </a:moveTo>
                <a:lnTo>
                  <a:pt x="1796730" y="0"/>
                </a:lnTo>
                <a:lnTo>
                  <a:pt x="1796730" y="1753563"/>
                </a:lnTo>
                <a:lnTo>
                  <a:pt x="0" y="1753563"/>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p:spPr>
      </p:sp>
      <p:grpSp>
        <p:nvGrpSpPr>
          <p:cNvPr name="Group 26" id="26"/>
          <p:cNvGrpSpPr/>
          <p:nvPr/>
        </p:nvGrpSpPr>
        <p:grpSpPr>
          <a:xfrm rot="5400000">
            <a:off x="17812479" y="1213370"/>
            <a:ext cx="1753563" cy="898365"/>
            <a:chOff x="0" y="0"/>
            <a:chExt cx="2338084" cy="1197820"/>
          </a:xfrm>
        </p:grpSpPr>
        <p:sp>
          <p:nvSpPr>
            <p:cNvPr name="Freeform 27" id="27"/>
            <p:cNvSpPr/>
            <p:nvPr/>
          </p:nvSpPr>
          <p:spPr>
            <a:xfrm flipH="false" flipV="false" rot="0">
              <a:off x="0" y="0"/>
              <a:ext cx="2338070" cy="1197864"/>
            </a:xfrm>
            <a:custGeom>
              <a:avLst/>
              <a:gdLst/>
              <a:ahLst/>
              <a:cxnLst/>
              <a:rect r="r" b="b" t="t" l="l"/>
              <a:pathLst>
                <a:path h="1197864" w="2338070">
                  <a:moveTo>
                    <a:pt x="0" y="0"/>
                  </a:moveTo>
                  <a:lnTo>
                    <a:pt x="1169035" y="1197864"/>
                  </a:lnTo>
                  <a:lnTo>
                    <a:pt x="2338070" y="0"/>
                  </a:lnTo>
                  <a:close/>
                </a:path>
              </a:pathLst>
            </a:custGeom>
            <a:solidFill>
              <a:srgbClr val="264B9C"/>
            </a:solidFill>
          </p:spPr>
        </p:sp>
      </p:grpSp>
      <p:sp>
        <p:nvSpPr>
          <p:cNvPr name="Freeform 28" id="28"/>
          <p:cNvSpPr/>
          <p:nvPr/>
        </p:nvSpPr>
        <p:spPr>
          <a:xfrm flipH="false" flipV="false" rot="0">
            <a:off x="13001232" y="-953745"/>
            <a:ext cx="1796730" cy="1753563"/>
          </a:xfrm>
          <a:custGeom>
            <a:avLst/>
            <a:gdLst/>
            <a:ahLst/>
            <a:cxnLst/>
            <a:rect r="r" b="b" t="t" l="l"/>
            <a:pathLst>
              <a:path h="1753563" w="1796730">
                <a:moveTo>
                  <a:pt x="0" y="0"/>
                </a:moveTo>
                <a:lnTo>
                  <a:pt x="1796730" y="0"/>
                </a:lnTo>
                <a:lnTo>
                  <a:pt x="1796730" y="1753563"/>
                </a:lnTo>
                <a:lnTo>
                  <a:pt x="0" y="1753563"/>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p:spPr>
      </p:sp>
      <p:grpSp>
        <p:nvGrpSpPr>
          <p:cNvPr name="Group 29" id="29"/>
          <p:cNvGrpSpPr/>
          <p:nvPr/>
        </p:nvGrpSpPr>
        <p:grpSpPr>
          <a:xfrm rot="5400000">
            <a:off x="17805942" y="-529285"/>
            <a:ext cx="1753563" cy="898365"/>
            <a:chOff x="0" y="0"/>
            <a:chExt cx="2338084" cy="1197820"/>
          </a:xfrm>
        </p:grpSpPr>
        <p:sp>
          <p:nvSpPr>
            <p:cNvPr name="Freeform 30" id="30"/>
            <p:cNvSpPr/>
            <p:nvPr/>
          </p:nvSpPr>
          <p:spPr>
            <a:xfrm flipH="false" flipV="false" rot="0">
              <a:off x="0" y="0"/>
              <a:ext cx="2338070" cy="1197864"/>
            </a:xfrm>
            <a:custGeom>
              <a:avLst/>
              <a:gdLst/>
              <a:ahLst/>
              <a:cxnLst/>
              <a:rect r="r" b="b" t="t" l="l"/>
              <a:pathLst>
                <a:path h="1197864" w="2338070">
                  <a:moveTo>
                    <a:pt x="0" y="0"/>
                  </a:moveTo>
                  <a:lnTo>
                    <a:pt x="1169035" y="1197864"/>
                  </a:lnTo>
                  <a:lnTo>
                    <a:pt x="2338070" y="0"/>
                  </a:lnTo>
                  <a:close/>
                </a:path>
              </a:pathLst>
            </a:custGeom>
            <a:solidFill>
              <a:srgbClr val="0975A7"/>
            </a:solidFill>
          </p:spPr>
        </p:sp>
      </p:grpSp>
      <p:sp>
        <p:nvSpPr>
          <p:cNvPr name="Freeform 31" id="31"/>
          <p:cNvSpPr/>
          <p:nvPr/>
        </p:nvSpPr>
        <p:spPr>
          <a:xfrm flipH="false" flipV="false" rot="0">
            <a:off x="17384880" y="-95532"/>
            <a:ext cx="1753563" cy="1796730"/>
          </a:xfrm>
          <a:custGeom>
            <a:avLst/>
            <a:gdLst/>
            <a:ahLst/>
            <a:cxnLst/>
            <a:rect r="r" b="b" t="t" l="l"/>
            <a:pathLst>
              <a:path h="1796730" w="1753563">
                <a:moveTo>
                  <a:pt x="0" y="0"/>
                </a:moveTo>
                <a:lnTo>
                  <a:pt x="1753563" y="0"/>
                </a:lnTo>
                <a:lnTo>
                  <a:pt x="1753563" y="1796730"/>
                </a:lnTo>
                <a:lnTo>
                  <a:pt x="0" y="1796730"/>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p:spPr>
      </p:sp>
      <p:sp>
        <p:nvSpPr>
          <p:cNvPr name="Freeform 32" id="32"/>
          <p:cNvSpPr/>
          <p:nvPr/>
        </p:nvSpPr>
        <p:spPr>
          <a:xfrm flipH="false" flipV="false" rot="0">
            <a:off x="16540474" y="781888"/>
            <a:ext cx="1753563" cy="1796730"/>
          </a:xfrm>
          <a:custGeom>
            <a:avLst/>
            <a:gdLst/>
            <a:ahLst/>
            <a:cxnLst/>
            <a:rect r="r" b="b" t="t" l="l"/>
            <a:pathLst>
              <a:path h="1796730" w="1753563">
                <a:moveTo>
                  <a:pt x="0" y="0"/>
                </a:moveTo>
                <a:lnTo>
                  <a:pt x="1753563" y="0"/>
                </a:lnTo>
                <a:lnTo>
                  <a:pt x="1753563" y="1796730"/>
                </a:lnTo>
                <a:lnTo>
                  <a:pt x="0" y="1796730"/>
                </a:lnTo>
                <a:lnTo>
                  <a:pt x="0" y="0"/>
                </a:lnTo>
                <a:close/>
              </a:path>
            </a:pathLst>
          </a:custGeom>
          <a:blipFill>
            <a:blip r:embed="rId28">
              <a:extLst>
                <a:ext uri="{96DAC541-7B7A-43D3-8B79-37D633B846F1}">
                  <asvg:svgBlip xmlns:asvg="http://schemas.microsoft.com/office/drawing/2016/SVG/main" r:embed="rId29"/>
                </a:ext>
              </a:extLst>
            </a:blip>
            <a:stretch>
              <a:fillRect l="0" t="0" r="0" b="0"/>
            </a:stretch>
          </a:blipFill>
        </p:spPr>
      </p:sp>
      <p:sp>
        <p:nvSpPr>
          <p:cNvPr name="Freeform 33" id="33"/>
          <p:cNvSpPr/>
          <p:nvPr/>
        </p:nvSpPr>
        <p:spPr>
          <a:xfrm flipH="false" flipV="false" rot="0">
            <a:off x="16529682" y="-971676"/>
            <a:ext cx="1753563" cy="1796730"/>
          </a:xfrm>
          <a:custGeom>
            <a:avLst/>
            <a:gdLst/>
            <a:ahLst/>
            <a:cxnLst/>
            <a:rect r="r" b="b" t="t" l="l"/>
            <a:pathLst>
              <a:path h="1796730" w="1753563">
                <a:moveTo>
                  <a:pt x="0" y="0"/>
                </a:moveTo>
                <a:lnTo>
                  <a:pt x="1753563" y="0"/>
                </a:lnTo>
                <a:lnTo>
                  <a:pt x="1753563" y="1796730"/>
                </a:lnTo>
                <a:lnTo>
                  <a:pt x="0" y="1796730"/>
                </a:lnTo>
                <a:lnTo>
                  <a:pt x="0" y="0"/>
                </a:lnTo>
                <a:close/>
              </a:path>
            </a:pathLst>
          </a:custGeom>
          <a:blipFill>
            <a:blip r:embed="rId30">
              <a:extLst>
                <a:ext uri="{96DAC541-7B7A-43D3-8B79-37D633B846F1}">
                  <asvg:svgBlip xmlns:asvg="http://schemas.microsoft.com/office/drawing/2016/SVG/main" r:embed="rId31"/>
                </a:ext>
              </a:extLst>
            </a:blip>
            <a:stretch>
              <a:fillRect l="0" t="0" r="0" b="0"/>
            </a:stretch>
          </a:blipFill>
        </p:spPr>
      </p:sp>
      <p:sp>
        <p:nvSpPr>
          <p:cNvPr name="Freeform 34" id="34"/>
          <p:cNvSpPr/>
          <p:nvPr/>
        </p:nvSpPr>
        <p:spPr>
          <a:xfrm flipH="false" flipV="false" rot="0">
            <a:off x="15642110" y="-65916"/>
            <a:ext cx="1796730" cy="1753563"/>
          </a:xfrm>
          <a:custGeom>
            <a:avLst/>
            <a:gdLst/>
            <a:ahLst/>
            <a:cxnLst/>
            <a:rect r="r" b="b" t="t" l="l"/>
            <a:pathLst>
              <a:path h="1753563" w="1796730">
                <a:moveTo>
                  <a:pt x="0" y="0"/>
                </a:moveTo>
                <a:lnTo>
                  <a:pt x="1796730" y="0"/>
                </a:lnTo>
                <a:lnTo>
                  <a:pt x="1796730" y="1753563"/>
                </a:lnTo>
                <a:lnTo>
                  <a:pt x="0" y="1753563"/>
                </a:lnTo>
                <a:lnTo>
                  <a:pt x="0" y="0"/>
                </a:lnTo>
                <a:close/>
              </a:path>
            </a:pathLst>
          </a:custGeom>
          <a:blipFill>
            <a:blip r:embed="rId32">
              <a:extLst>
                <a:ext uri="{96DAC541-7B7A-43D3-8B79-37D633B846F1}">
                  <asvg:svgBlip xmlns:asvg="http://schemas.microsoft.com/office/drawing/2016/SVG/main" r:embed="rId33"/>
                </a:ext>
              </a:extLst>
            </a:blip>
            <a:stretch>
              <a:fillRect l="0" t="0" r="0" b="0"/>
            </a:stretch>
          </a:blipFill>
        </p:spPr>
      </p:sp>
      <p:sp>
        <p:nvSpPr>
          <p:cNvPr name="Freeform 35" id="35"/>
          <p:cNvSpPr/>
          <p:nvPr/>
        </p:nvSpPr>
        <p:spPr>
          <a:xfrm flipH="false" flipV="false" rot="0">
            <a:off x="17395672" y="1684136"/>
            <a:ext cx="1796730" cy="1753563"/>
          </a:xfrm>
          <a:custGeom>
            <a:avLst/>
            <a:gdLst/>
            <a:ahLst/>
            <a:cxnLst/>
            <a:rect r="r" b="b" t="t" l="l"/>
            <a:pathLst>
              <a:path h="1753563" w="1796730">
                <a:moveTo>
                  <a:pt x="0" y="0"/>
                </a:moveTo>
                <a:lnTo>
                  <a:pt x="1796730" y="0"/>
                </a:lnTo>
                <a:lnTo>
                  <a:pt x="1796730" y="1753563"/>
                </a:lnTo>
                <a:lnTo>
                  <a:pt x="0" y="1753563"/>
                </a:lnTo>
                <a:lnTo>
                  <a:pt x="0" y="0"/>
                </a:lnTo>
                <a:close/>
              </a:path>
            </a:pathLst>
          </a:custGeom>
          <a:blipFill>
            <a:blip r:embed="rId34">
              <a:extLst>
                <a:ext uri="{96DAC541-7B7A-43D3-8B79-37D633B846F1}">
                  <asvg:svgBlip xmlns:asvg="http://schemas.microsoft.com/office/drawing/2016/SVG/main" r:embed="rId35"/>
                </a:ext>
              </a:extLst>
            </a:blip>
            <a:stretch>
              <a:fillRect l="0" t="0" r="0" b="0"/>
            </a:stretch>
          </a:blipFill>
        </p:spPr>
      </p:sp>
      <p:sp>
        <p:nvSpPr>
          <p:cNvPr name="Freeform 36" id="36"/>
          <p:cNvSpPr/>
          <p:nvPr/>
        </p:nvSpPr>
        <p:spPr>
          <a:xfrm flipH="false" flipV="false" rot="0">
            <a:off x="14765328" y="-956886"/>
            <a:ext cx="1796730" cy="1753563"/>
          </a:xfrm>
          <a:custGeom>
            <a:avLst/>
            <a:gdLst/>
            <a:ahLst/>
            <a:cxnLst/>
            <a:rect r="r" b="b" t="t" l="l"/>
            <a:pathLst>
              <a:path h="1753563" w="1796730">
                <a:moveTo>
                  <a:pt x="0" y="0"/>
                </a:moveTo>
                <a:lnTo>
                  <a:pt x="1796730" y="0"/>
                </a:lnTo>
                <a:lnTo>
                  <a:pt x="1796730" y="1753563"/>
                </a:lnTo>
                <a:lnTo>
                  <a:pt x="0" y="1753563"/>
                </a:lnTo>
                <a:lnTo>
                  <a:pt x="0" y="0"/>
                </a:lnTo>
                <a:close/>
              </a:path>
            </a:pathLst>
          </a:custGeom>
          <a:blipFill>
            <a:blip r:embed="rId36">
              <a:extLst>
                <a:ext uri="{96DAC541-7B7A-43D3-8B79-37D633B846F1}">
                  <asvg:svgBlip xmlns:asvg="http://schemas.microsoft.com/office/drawing/2016/SVG/main" r:embed="rId37"/>
                </a:ext>
              </a:extLst>
            </a:blip>
            <a:stretch>
              <a:fillRect l="0" t="0" r="0" b="0"/>
            </a:stretch>
          </a:blipFill>
        </p:spPr>
      </p:sp>
      <p:grpSp>
        <p:nvGrpSpPr>
          <p:cNvPr name="Group 37" id="37"/>
          <p:cNvGrpSpPr/>
          <p:nvPr/>
        </p:nvGrpSpPr>
        <p:grpSpPr>
          <a:xfrm rot="0">
            <a:off x="15657156" y="-953745"/>
            <a:ext cx="1753563" cy="898365"/>
            <a:chOff x="0" y="0"/>
            <a:chExt cx="2338084" cy="1197820"/>
          </a:xfrm>
        </p:grpSpPr>
        <p:sp>
          <p:nvSpPr>
            <p:cNvPr name="Freeform 38" id="38"/>
            <p:cNvSpPr/>
            <p:nvPr/>
          </p:nvSpPr>
          <p:spPr>
            <a:xfrm flipH="false" flipV="false" rot="0">
              <a:off x="0" y="0"/>
              <a:ext cx="2338070" cy="1197864"/>
            </a:xfrm>
            <a:custGeom>
              <a:avLst/>
              <a:gdLst/>
              <a:ahLst/>
              <a:cxnLst/>
              <a:rect r="r" b="b" t="t" l="l"/>
              <a:pathLst>
                <a:path h="1197864" w="2338070">
                  <a:moveTo>
                    <a:pt x="2338070" y="0"/>
                  </a:moveTo>
                  <a:lnTo>
                    <a:pt x="1169035" y="1197864"/>
                  </a:lnTo>
                  <a:lnTo>
                    <a:pt x="0" y="0"/>
                  </a:lnTo>
                  <a:close/>
                </a:path>
              </a:pathLst>
            </a:custGeom>
            <a:solidFill>
              <a:srgbClr val="01135B"/>
            </a:solidFill>
          </p:spPr>
        </p:sp>
      </p:grpSp>
      <p:grpSp>
        <p:nvGrpSpPr>
          <p:cNvPr name="Group 39" id="39"/>
          <p:cNvGrpSpPr/>
          <p:nvPr/>
        </p:nvGrpSpPr>
        <p:grpSpPr>
          <a:xfrm rot="0">
            <a:off x="17407251" y="-954159"/>
            <a:ext cx="1753563" cy="898365"/>
            <a:chOff x="0" y="0"/>
            <a:chExt cx="2338084" cy="1197820"/>
          </a:xfrm>
        </p:grpSpPr>
        <p:sp>
          <p:nvSpPr>
            <p:cNvPr name="Freeform 40" id="40"/>
            <p:cNvSpPr/>
            <p:nvPr/>
          </p:nvSpPr>
          <p:spPr>
            <a:xfrm flipH="false" flipV="false" rot="0">
              <a:off x="0" y="0"/>
              <a:ext cx="2338070" cy="1197864"/>
            </a:xfrm>
            <a:custGeom>
              <a:avLst/>
              <a:gdLst/>
              <a:ahLst/>
              <a:cxnLst/>
              <a:rect r="r" b="b" t="t" l="l"/>
              <a:pathLst>
                <a:path h="1197864" w="2338070">
                  <a:moveTo>
                    <a:pt x="2338070" y="0"/>
                  </a:moveTo>
                  <a:lnTo>
                    <a:pt x="1169035" y="1197864"/>
                  </a:lnTo>
                  <a:lnTo>
                    <a:pt x="0" y="0"/>
                  </a:lnTo>
                  <a:close/>
                </a:path>
              </a:pathLst>
            </a:custGeom>
            <a:solidFill>
              <a:srgbClr val="289DC0"/>
            </a:solidFill>
          </p:spPr>
        </p:sp>
      </p:grpSp>
      <p:grpSp>
        <p:nvGrpSpPr>
          <p:cNvPr name="Group 41" id="41"/>
          <p:cNvGrpSpPr/>
          <p:nvPr/>
        </p:nvGrpSpPr>
        <p:grpSpPr>
          <a:xfrm rot="0">
            <a:off x="13898550" y="-953745"/>
            <a:ext cx="1753563" cy="898365"/>
            <a:chOff x="0" y="0"/>
            <a:chExt cx="2338084" cy="1197820"/>
          </a:xfrm>
        </p:grpSpPr>
        <p:sp>
          <p:nvSpPr>
            <p:cNvPr name="Freeform 42" id="42"/>
            <p:cNvSpPr/>
            <p:nvPr/>
          </p:nvSpPr>
          <p:spPr>
            <a:xfrm flipH="false" flipV="false" rot="0">
              <a:off x="0" y="0"/>
              <a:ext cx="2338070" cy="1197864"/>
            </a:xfrm>
            <a:custGeom>
              <a:avLst/>
              <a:gdLst/>
              <a:ahLst/>
              <a:cxnLst/>
              <a:rect r="r" b="b" t="t" l="l"/>
              <a:pathLst>
                <a:path h="1197864" w="2338070">
                  <a:moveTo>
                    <a:pt x="2338070" y="0"/>
                  </a:moveTo>
                  <a:lnTo>
                    <a:pt x="1169035" y="1197864"/>
                  </a:lnTo>
                  <a:lnTo>
                    <a:pt x="0" y="0"/>
                  </a:lnTo>
                  <a:close/>
                </a:path>
              </a:pathLst>
            </a:custGeom>
            <a:solidFill>
              <a:srgbClr val="0868A0"/>
            </a:solidFill>
          </p:spPr>
        </p:sp>
      </p:grpSp>
      <p:grpSp>
        <p:nvGrpSpPr>
          <p:cNvPr name="Group 43" id="43"/>
          <p:cNvGrpSpPr/>
          <p:nvPr/>
        </p:nvGrpSpPr>
        <p:grpSpPr>
          <a:xfrm rot="0">
            <a:off x="12140772" y="-950604"/>
            <a:ext cx="1753563" cy="898365"/>
            <a:chOff x="0" y="0"/>
            <a:chExt cx="2338084" cy="1197820"/>
          </a:xfrm>
        </p:grpSpPr>
        <p:sp>
          <p:nvSpPr>
            <p:cNvPr name="Freeform 44" id="44"/>
            <p:cNvSpPr/>
            <p:nvPr/>
          </p:nvSpPr>
          <p:spPr>
            <a:xfrm flipH="false" flipV="false" rot="0">
              <a:off x="0" y="0"/>
              <a:ext cx="2338070" cy="1197864"/>
            </a:xfrm>
            <a:custGeom>
              <a:avLst/>
              <a:gdLst/>
              <a:ahLst/>
              <a:cxnLst/>
              <a:rect r="r" b="b" t="t" l="l"/>
              <a:pathLst>
                <a:path h="1197864" w="2338070">
                  <a:moveTo>
                    <a:pt x="2338070" y="0"/>
                  </a:moveTo>
                  <a:lnTo>
                    <a:pt x="1169035" y="1197864"/>
                  </a:lnTo>
                  <a:lnTo>
                    <a:pt x="0" y="0"/>
                  </a:lnTo>
                  <a:close/>
                </a:path>
              </a:pathLst>
            </a:custGeom>
            <a:solidFill>
              <a:srgbClr val="289DC0"/>
            </a:solidFill>
          </p:spPr>
        </p:sp>
      </p:grpSp>
      <p:sp>
        <p:nvSpPr>
          <p:cNvPr name="Freeform 45" id="45"/>
          <p:cNvSpPr/>
          <p:nvPr/>
        </p:nvSpPr>
        <p:spPr>
          <a:xfrm flipH="false" flipV="false" rot="0">
            <a:off x="17407251" y="3430883"/>
            <a:ext cx="1796730" cy="1753563"/>
          </a:xfrm>
          <a:custGeom>
            <a:avLst/>
            <a:gdLst/>
            <a:ahLst/>
            <a:cxnLst/>
            <a:rect r="r" b="b" t="t" l="l"/>
            <a:pathLst>
              <a:path h="1753563" w="1796730">
                <a:moveTo>
                  <a:pt x="0" y="0"/>
                </a:moveTo>
                <a:lnTo>
                  <a:pt x="1796730" y="0"/>
                </a:lnTo>
                <a:lnTo>
                  <a:pt x="1796730" y="1753563"/>
                </a:lnTo>
                <a:lnTo>
                  <a:pt x="0" y="1753563"/>
                </a:lnTo>
                <a:lnTo>
                  <a:pt x="0" y="0"/>
                </a:lnTo>
                <a:close/>
              </a:path>
            </a:pathLst>
          </a:custGeom>
          <a:blipFill>
            <a:blip r:embed="rId32">
              <a:extLst>
                <a:ext uri="{96DAC541-7B7A-43D3-8B79-37D633B846F1}">
                  <asvg:svgBlip xmlns:asvg="http://schemas.microsoft.com/office/drawing/2016/SVG/main" r:embed="rId33"/>
                </a:ext>
              </a:extLst>
            </a:blip>
            <a:stretch>
              <a:fillRect l="0" t="0" r="0" b="0"/>
            </a:stretch>
          </a:blipFill>
        </p:spPr>
      </p:sp>
      <p:grpSp>
        <p:nvGrpSpPr>
          <p:cNvPr name="Group 46" id="46"/>
          <p:cNvGrpSpPr/>
          <p:nvPr/>
        </p:nvGrpSpPr>
        <p:grpSpPr>
          <a:xfrm rot="-5400000">
            <a:off x="16081287" y="2988633"/>
            <a:ext cx="1753563" cy="898365"/>
            <a:chOff x="0" y="0"/>
            <a:chExt cx="2338084" cy="1197820"/>
          </a:xfrm>
        </p:grpSpPr>
        <p:sp>
          <p:nvSpPr>
            <p:cNvPr name="Freeform 47" id="47"/>
            <p:cNvSpPr/>
            <p:nvPr/>
          </p:nvSpPr>
          <p:spPr>
            <a:xfrm flipH="false" flipV="false" rot="0">
              <a:off x="0" y="0"/>
              <a:ext cx="2338070" cy="1197864"/>
            </a:xfrm>
            <a:custGeom>
              <a:avLst/>
              <a:gdLst/>
              <a:ahLst/>
              <a:cxnLst/>
              <a:rect r="r" b="b" t="t" l="l"/>
              <a:pathLst>
                <a:path h="1197864" w="2338070">
                  <a:moveTo>
                    <a:pt x="0" y="1197864"/>
                  </a:moveTo>
                  <a:lnTo>
                    <a:pt x="1169035" y="0"/>
                  </a:lnTo>
                  <a:lnTo>
                    <a:pt x="2338070" y="1197864"/>
                  </a:lnTo>
                  <a:close/>
                </a:path>
              </a:pathLst>
            </a:custGeom>
            <a:solidFill>
              <a:srgbClr val="299DC0"/>
            </a:solidFill>
          </p:spPr>
        </p:sp>
      </p:grpSp>
      <p:grpSp>
        <p:nvGrpSpPr>
          <p:cNvPr name="Group 48" id="48"/>
          <p:cNvGrpSpPr/>
          <p:nvPr/>
        </p:nvGrpSpPr>
        <p:grpSpPr>
          <a:xfrm rot="-5400000">
            <a:off x="16979652" y="2988633"/>
            <a:ext cx="1753563" cy="898365"/>
            <a:chOff x="0" y="0"/>
            <a:chExt cx="2338084" cy="1197820"/>
          </a:xfrm>
        </p:grpSpPr>
        <p:sp>
          <p:nvSpPr>
            <p:cNvPr name="Freeform 49" id="49"/>
            <p:cNvSpPr/>
            <p:nvPr/>
          </p:nvSpPr>
          <p:spPr>
            <a:xfrm flipH="false" flipV="false" rot="0">
              <a:off x="0" y="0"/>
              <a:ext cx="2338070" cy="1197864"/>
            </a:xfrm>
            <a:custGeom>
              <a:avLst/>
              <a:gdLst/>
              <a:ahLst/>
              <a:cxnLst/>
              <a:rect r="r" b="b" t="t" l="l"/>
              <a:pathLst>
                <a:path h="1197864" w="2338070">
                  <a:moveTo>
                    <a:pt x="0" y="0"/>
                  </a:moveTo>
                  <a:lnTo>
                    <a:pt x="1169035" y="1197864"/>
                  </a:lnTo>
                  <a:lnTo>
                    <a:pt x="2338070" y="0"/>
                  </a:lnTo>
                  <a:close/>
                </a:path>
              </a:pathLst>
            </a:custGeom>
            <a:solidFill>
              <a:srgbClr val="89C4DD"/>
            </a:solidFill>
          </p:spPr>
        </p:sp>
      </p:grpSp>
      <p:sp>
        <p:nvSpPr>
          <p:cNvPr name="TextBox 50" id="50"/>
          <p:cNvSpPr txBox="true"/>
          <p:nvPr/>
        </p:nvSpPr>
        <p:spPr>
          <a:xfrm rot="0">
            <a:off x="3788605" y="3559914"/>
            <a:ext cx="10710789" cy="2990850"/>
          </a:xfrm>
          <a:prstGeom prst="rect">
            <a:avLst/>
          </a:prstGeom>
        </p:spPr>
        <p:txBody>
          <a:bodyPr anchor="t" rtlCol="false" tIns="0" lIns="0" bIns="0" rIns="0">
            <a:spAutoFit/>
          </a:bodyPr>
          <a:lstStyle/>
          <a:p>
            <a:pPr algn="ctr">
              <a:lnSpc>
                <a:spcPts val="7800"/>
              </a:lnSpc>
            </a:pPr>
            <a:r>
              <a:rPr lang="en-US" sz="6500" b="true">
                <a:solidFill>
                  <a:srgbClr val="081861"/>
                </a:solidFill>
                <a:latin typeface="Roboto Bold"/>
                <a:ea typeface="Roboto Bold"/>
                <a:cs typeface="Roboto Bold"/>
                <a:sym typeface="Roboto Bold"/>
              </a:rPr>
              <a:t>XIN CHÂN THÀNH CẢM ƠN CÁC THẦY VÀ CÁC BẠN ĐÃ LẮNG NGHE</a:t>
            </a:r>
          </a:p>
        </p:txBody>
      </p:sp>
    </p:spTree>
  </p:cSld>
  <p:clrMapOvr>
    <a:masterClrMapping/>
  </p:clrMapOvr>
  <p:transition spd="med">
    <p:push dir="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DAG2Ylr98v8</dc:identifier>
  <dcterms:modified xsi:type="dcterms:W3CDTF">2011-08-01T06:04:30Z</dcterms:modified>
  <cp:revision>1</cp:revision>
  <dc:title>Luận văn Thạc sĩ - HK251</dc:title>
</cp:coreProperties>
</file>