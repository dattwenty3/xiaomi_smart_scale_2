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Roboto Bold" charset="1" panose="02000000000000000000"/>
      <p:regular r:id="rId43"/>
    </p:embeddedFont>
    <p:embeddedFont>
      <p:font typeface="Roboto" charset="1" panose="02000000000000000000"/>
      <p:regular r:id="rId44"/>
    </p:embeddedFont>
    <p:embeddedFont>
      <p:font typeface="Canva Sans" charset="1" panose="020B0503030501040103"/>
      <p:regular r:id="rId45"/>
    </p:embeddedFont>
    <p:embeddedFont>
      <p:font typeface="Canva Sans Bold" charset="1" panose="020B08030305010401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embeddings/oleObject2.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embeddings/oleObject3.bin" Type="http://schemas.openxmlformats.org/officeDocument/2006/relationships/oleObjec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jpeg" Type="http://schemas.openxmlformats.org/officeDocument/2006/relationships/image"/><Relationship Id="rId3" Target="https://youtu.be/4EW6mPyeZ2I" TargetMode="External" Type="http://schemas.openxmlformats.org/officeDocument/2006/relationships/video"/></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svg" Type="http://schemas.openxmlformats.org/officeDocument/2006/relationships/image"/><Relationship Id="rId12" Target="../media/image57.png" Type="http://schemas.openxmlformats.org/officeDocument/2006/relationships/image"/><Relationship Id="rId13" Target="../media/image58.svg" Type="http://schemas.openxmlformats.org/officeDocument/2006/relationships/image"/><Relationship Id="rId14" Target="../media/image59.png" Type="http://schemas.openxmlformats.org/officeDocument/2006/relationships/image"/><Relationship Id="rId15" Target="../media/image60.svg" Type="http://schemas.openxmlformats.org/officeDocument/2006/relationships/image"/><Relationship Id="rId16" Target="../media/image61.png" Type="http://schemas.openxmlformats.org/officeDocument/2006/relationships/image"/><Relationship Id="rId17" Target="../media/image62.svg" Type="http://schemas.openxmlformats.org/officeDocument/2006/relationships/image"/><Relationship Id="rId18" Target="../media/image63.png" Type="http://schemas.openxmlformats.org/officeDocument/2006/relationships/image"/><Relationship Id="rId19" Target="../media/image64.svg" Type="http://schemas.openxmlformats.org/officeDocument/2006/relationships/image"/><Relationship Id="rId2" Target="../media/image47.png" Type="http://schemas.openxmlformats.org/officeDocument/2006/relationships/image"/><Relationship Id="rId20" Target="../media/image65.png" Type="http://schemas.openxmlformats.org/officeDocument/2006/relationships/image"/><Relationship Id="rId21" Target="../media/image66.svg" Type="http://schemas.openxmlformats.org/officeDocument/2006/relationships/image"/><Relationship Id="rId22" Target="../media/image67.png" Type="http://schemas.openxmlformats.org/officeDocument/2006/relationships/image"/><Relationship Id="rId23" Target="../media/image68.svg" Type="http://schemas.openxmlformats.org/officeDocument/2006/relationships/image"/><Relationship Id="rId24" Target="../media/image69.png" Type="http://schemas.openxmlformats.org/officeDocument/2006/relationships/image"/><Relationship Id="rId25" Target="../media/image70.svg" Type="http://schemas.openxmlformats.org/officeDocument/2006/relationships/image"/><Relationship Id="rId26" Target="../media/image71.png" Type="http://schemas.openxmlformats.org/officeDocument/2006/relationships/image"/><Relationship Id="rId27" Target="../media/image72.svg" Type="http://schemas.openxmlformats.org/officeDocument/2006/relationships/image"/><Relationship Id="rId28" Target="../media/image73.png" Type="http://schemas.openxmlformats.org/officeDocument/2006/relationships/image"/><Relationship Id="rId29" Target="../media/image74.svg" Type="http://schemas.openxmlformats.org/officeDocument/2006/relationships/image"/><Relationship Id="rId3" Target="../media/image48.svg" Type="http://schemas.openxmlformats.org/officeDocument/2006/relationships/image"/><Relationship Id="rId30" Target="../media/image75.png" Type="http://schemas.openxmlformats.org/officeDocument/2006/relationships/image"/><Relationship Id="rId31" Target="../media/image76.svg" Type="http://schemas.openxmlformats.org/officeDocument/2006/relationships/image"/><Relationship Id="rId32" Target="../media/image77.png" Type="http://schemas.openxmlformats.org/officeDocument/2006/relationships/image"/><Relationship Id="rId33" Target="../media/image78.svg" Type="http://schemas.openxmlformats.org/officeDocument/2006/relationships/image"/><Relationship Id="rId34" Target="../media/image79.png" Type="http://schemas.openxmlformats.org/officeDocument/2006/relationships/image"/><Relationship Id="rId35" Target="../media/image80.svg" Type="http://schemas.openxmlformats.org/officeDocument/2006/relationships/image"/><Relationship Id="rId36" Target="../media/image81.png" Type="http://schemas.openxmlformats.org/officeDocument/2006/relationships/image"/><Relationship Id="rId37" Target="../media/image82.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1.png" Type="http://schemas.openxmlformats.org/officeDocument/2006/relationships/image"/><Relationship Id="rId7" Target="../media/image52.sv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62015" y="-971676"/>
            <a:ext cx="6478833" cy="7353277"/>
          </a:xfrm>
          <a:custGeom>
            <a:avLst/>
            <a:gdLst/>
            <a:ahLst/>
            <a:cxnLst/>
            <a:rect r="r" b="b" t="t" l="l"/>
            <a:pathLst>
              <a:path h="7353277" w="6478833">
                <a:moveTo>
                  <a:pt x="6478833" y="0"/>
                </a:moveTo>
                <a:lnTo>
                  <a:pt x="0" y="0"/>
                </a:lnTo>
                <a:lnTo>
                  <a:pt x="0" y="7353277"/>
                </a:lnTo>
                <a:lnTo>
                  <a:pt x="6478833" y="7353277"/>
                </a:lnTo>
                <a:lnTo>
                  <a:pt x="6478833" y="0"/>
                </a:lnTo>
                <a:close/>
              </a:path>
            </a:pathLst>
          </a:custGeom>
          <a:blipFill>
            <a:blip r:embed="rId2"/>
            <a:stretch>
              <a:fillRect l="0" t="0" r="0" b="0"/>
            </a:stretch>
          </a:blipFill>
        </p:spPr>
      </p:sp>
      <p:sp>
        <p:nvSpPr>
          <p:cNvPr name="Freeform 3" id="3"/>
          <p:cNvSpPr/>
          <p:nvPr/>
        </p:nvSpPr>
        <p:spPr>
          <a:xfrm flipH="true" flipV="false" rot="0">
            <a:off x="12097896" y="3215619"/>
            <a:ext cx="7129077" cy="7109862"/>
          </a:xfrm>
          <a:custGeom>
            <a:avLst/>
            <a:gdLst/>
            <a:ahLst/>
            <a:cxnLst/>
            <a:rect r="r" b="b" t="t" l="l"/>
            <a:pathLst>
              <a:path h="7109862" w="7129077">
                <a:moveTo>
                  <a:pt x="7129077" y="0"/>
                </a:moveTo>
                <a:lnTo>
                  <a:pt x="0" y="0"/>
                </a:lnTo>
                <a:lnTo>
                  <a:pt x="0" y="7109861"/>
                </a:lnTo>
                <a:lnTo>
                  <a:pt x="7129077" y="7109861"/>
                </a:lnTo>
                <a:lnTo>
                  <a:pt x="7129077" y="0"/>
                </a:lnTo>
                <a:close/>
              </a:path>
            </a:pathLst>
          </a:custGeom>
          <a:blipFill>
            <a:blip r:embed="rId3"/>
            <a:stretch>
              <a:fillRect l="0" t="0" r="0" b="0"/>
            </a:stretch>
          </a:blipFill>
        </p:spPr>
      </p:sp>
      <p:sp>
        <p:nvSpPr>
          <p:cNvPr name="Freeform 4" id="4"/>
          <p:cNvSpPr/>
          <p:nvPr/>
        </p:nvSpPr>
        <p:spPr>
          <a:xfrm flipH="false" flipV="false" rot="0">
            <a:off x="15098325" y="595939"/>
            <a:ext cx="1522114" cy="1537335"/>
          </a:xfrm>
          <a:custGeom>
            <a:avLst/>
            <a:gdLst/>
            <a:ahLst/>
            <a:cxnLst/>
            <a:rect r="r" b="b" t="t" l="l"/>
            <a:pathLst>
              <a:path h="1537335" w="1522114">
                <a:moveTo>
                  <a:pt x="0" y="0"/>
                </a:moveTo>
                <a:lnTo>
                  <a:pt x="1522113" y="0"/>
                </a:lnTo>
                <a:lnTo>
                  <a:pt x="1522113" y="1537335"/>
                </a:lnTo>
                <a:lnTo>
                  <a:pt x="0" y="1537335"/>
                </a:lnTo>
                <a:lnTo>
                  <a:pt x="0" y="0"/>
                </a:lnTo>
                <a:close/>
              </a:path>
            </a:pathLst>
          </a:custGeom>
          <a:blipFill>
            <a:blip r:embed="rId4"/>
            <a:stretch>
              <a:fillRect l="0" t="0" r="0" b="0"/>
            </a:stretch>
          </a:blipFill>
        </p:spPr>
      </p:sp>
      <p:sp>
        <p:nvSpPr>
          <p:cNvPr name="TextBox 5" id="5"/>
          <p:cNvSpPr txBox="true"/>
          <p:nvPr/>
        </p:nvSpPr>
        <p:spPr>
          <a:xfrm rot="0">
            <a:off x="5260882" y="510214"/>
            <a:ext cx="8028186" cy="1623060"/>
          </a:xfrm>
          <a:prstGeom prst="rect">
            <a:avLst/>
          </a:prstGeom>
        </p:spPr>
        <p:txBody>
          <a:bodyPr anchor="t" rtlCol="false" tIns="0" lIns="0" bIns="0" rIns="0">
            <a:spAutoFit/>
          </a:bodyPr>
          <a:lstStyle/>
          <a:p>
            <a:pPr algn="ctr">
              <a:lnSpc>
                <a:spcPts val="4320"/>
              </a:lnSpc>
              <a:spcBef>
                <a:spcPct val="0"/>
              </a:spcBef>
            </a:pPr>
            <a:r>
              <a:rPr lang="en-US" b="true" sz="3000">
                <a:solidFill>
                  <a:srgbClr val="1025A1"/>
                </a:solidFill>
                <a:latin typeface="Roboto Bold"/>
                <a:ea typeface="Roboto Bold"/>
                <a:cs typeface="Roboto Bold"/>
                <a:sym typeface="Roboto Bold"/>
              </a:rPr>
              <a:t>ĐẠI HỌC QUỐC GIA THÀ</a:t>
            </a:r>
            <a:r>
              <a:rPr lang="en-US" b="true" sz="3000">
                <a:solidFill>
                  <a:srgbClr val="1025A1"/>
                </a:solidFill>
                <a:latin typeface="Roboto Bold"/>
                <a:ea typeface="Roboto Bold"/>
                <a:cs typeface="Roboto Bold"/>
                <a:sym typeface="Roboto Bold"/>
              </a:rPr>
              <a:t>NH PHỐ HỒ CHÍ MINH</a:t>
            </a:r>
          </a:p>
          <a:p>
            <a:pPr algn="ctr">
              <a:lnSpc>
                <a:spcPts val="4320"/>
              </a:lnSpc>
              <a:spcBef>
                <a:spcPct val="0"/>
              </a:spcBef>
            </a:pPr>
            <a:r>
              <a:rPr lang="en-US" b="true" sz="3000">
                <a:solidFill>
                  <a:srgbClr val="1025A1"/>
                </a:solidFill>
                <a:latin typeface="Roboto Bold"/>
                <a:ea typeface="Roboto Bold"/>
                <a:cs typeface="Roboto Bold"/>
                <a:sym typeface="Roboto Bold"/>
              </a:rPr>
              <a:t>TRƯỜNG ĐẠI HỌC BÁCH KHOA</a:t>
            </a:r>
          </a:p>
          <a:p>
            <a:pPr algn="ctr">
              <a:lnSpc>
                <a:spcPts val="4320"/>
              </a:lnSpc>
              <a:spcBef>
                <a:spcPct val="0"/>
              </a:spcBef>
            </a:pPr>
            <a:r>
              <a:rPr lang="en-US" b="true" sz="3000">
                <a:solidFill>
                  <a:srgbClr val="1025A1"/>
                </a:solidFill>
                <a:latin typeface="Roboto Bold"/>
                <a:ea typeface="Roboto Bold"/>
                <a:cs typeface="Roboto Bold"/>
                <a:sym typeface="Roboto Bold"/>
              </a:rPr>
              <a:t>KHOA KHOA HỌC VÀ KỸ THUẬT MÁY TÍNH</a:t>
            </a:r>
          </a:p>
        </p:txBody>
      </p:sp>
      <p:sp>
        <p:nvSpPr>
          <p:cNvPr name="TextBox 6" id="6"/>
          <p:cNvSpPr txBox="true"/>
          <p:nvPr/>
        </p:nvSpPr>
        <p:spPr>
          <a:xfrm rot="0">
            <a:off x="4365348" y="4220840"/>
            <a:ext cx="9557305" cy="2381250"/>
          </a:xfrm>
          <a:prstGeom prst="rect">
            <a:avLst/>
          </a:prstGeom>
        </p:spPr>
        <p:txBody>
          <a:bodyPr anchor="t" rtlCol="false" tIns="0" lIns="0" bIns="0" rIns="0">
            <a:spAutoFit/>
          </a:bodyPr>
          <a:lstStyle/>
          <a:p>
            <a:pPr algn="ctr">
              <a:lnSpc>
                <a:spcPts val="6299"/>
              </a:lnSpc>
            </a:pPr>
            <a:r>
              <a:rPr lang="en-US" b="true" sz="4500">
                <a:solidFill>
                  <a:srgbClr val="1488DB"/>
                </a:solidFill>
                <a:latin typeface="Roboto Bold"/>
                <a:ea typeface="Roboto Bold"/>
                <a:cs typeface="Roboto Bold"/>
                <a:sym typeface="Roboto Bold"/>
              </a:rPr>
              <a:t>XÂY DỰNG HỆ THỐNG CHĂM SÓC</a:t>
            </a:r>
          </a:p>
          <a:p>
            <a:pPr algn="ctr">
              <a:lnSpc>
                <a:spcPts val="6299"/>
              </a:lnSpc>
            </a:pPr>
            <a:r>
              <a:rPr lang="en-US" b="true" sz="4500">
                <a:solidFill>
                  <a:srgbClr val="1488DB"/>
                </a:solidFill>
                <a:latin typeface="Roboto Bold"/>
                <a:ea typeface="Roboto Bold"/>
                <a:cs typeface="Roboto Bold"/>
                <a:sym typeface="Roboto Bold"/>
              </a:rPr>
              <a:t>SỨC KHOẺ ĐIỆN TỬ VỚI THIẾT BỊ</a:t>
            </a:r>
          </a:p>
          <a:p>
            <a:pPr algn="ctr">
              <a:lnSpc>
                <a:spcPts val="6299"/>
              </a:lnSpc>
              <a:spcBef>
                <a:spcPct val="0"/>
              </a:spcBef>
            </a:pPr>
            <a:r>
              <a:rPr lang="en-US" b="true" sz="4500">
                <a:solidFill>
                  <a:srgbClr val="1488DB"/>
                </a:solidFill>
                <a:latin typeface="Roboto Bold"/>
                <a:ea typeface="Roboto Bold"/>
                <a:cs typeface="Roboto Bold"/>
                <a:sym typeface="Roboto Bold"/>
              </a:rPr>
              <a:t>THEO DÕI SỨC KHOẺ THÔNG MINH</a:t>
            </a:r>
          </a:p>
        </p:txBody>
      </p:sp>
      <p:sp>
        <p:nvSpPr>
          <p:cNvPr name="TextBox 7" id="7"/>
          <p:cNvSpPr txBox="true"/>
          <p:nvPr/>
        </p:nvSpPr>
        <p:spPr>
          <a:xfrm rot="0">
            <a:off x="5933384" y="7630790"/>
            <a:ext cx="6421233" cy="860425"/>
          </a:xfrm>
          <a:prstGeom prst="rect">
            <a:avLst/>
          </a:prstGeom>
        </p:spPr>
        <p:txBody>
          <a:bodyPr anchor="t" rtlCol="false" tIns="0" lIns="0" bIns="0" rIns="0">
            <a:spAutoFit/>
          </a:bodyPr>
          <a:lstStyle/>
          <a:p>
            <a:pPr algn="ctr">
              <a:lnSpc>
                <a:spcPts val="3499"/>
              </a:lnSpc>
            </a:pPr>
            <a:r>
              <a:rPr lang="en-US" b="true" sz="2499">
                <a:solidFill>
                  <a:srgbClr val="000000"/>
                </a:solidFill>
                <a:latin typeface="Roboto Bold"/>
                <a:ea typeface="Roboto Bold"/>
                <a:cs typeface="Roboto Bold"/>
                <a:sym typeface="Roboto Bold"/>
              </a:rPr>
              <a:t> Giảng viên Hướng dẫn: </a:t>
            </a:r>
            <a:r>
              <a:rPr lang="en-US" sz="2499">
                <a:solidFill>
                  <a:srgbClr val="000000"/>
                </a:solidFill>
                <a:latin typeface="Roboto"/>
                <a:ea typeface="Roboto"/>
                <a:cs typeface="Roboto"/>
                <a:sym typeface="Roboto"/>
              </a:rPr>
              <a:t>TS. Lê Trọng Nhân </a:t>
            </a:r>
          </a:p>
          <a:p>
            <a:pPr algn="ctr">
              <a:lnSpc>
                <a:spcPts val="3499"/>
              </a:lnSpc>
              <a:spcBef>
                <a:spcPct val="0"/>
              </a:spcBef>
            </a:pPr>
            <a:r>
              <a:rPr lang="en-US" b="true" sz="2499">
                <a:solidFill>
                  <a:srgbClr val="000000"/>
                </a:solidFill>
                <a:latin typeface="Roboto Bold"/>
                <a:ea typeface="Roboto Bold"/>
                <a:cs typeface="Roboto Bold"/>
                <a:sym typeface="Roboto Bold"/>
              </a:rPr>
              <a:t>Sinh viên thực hiện: </a:t>
            </a:r>
            <a:r>
              <a:rPr lang="en-US" sz="2499">
                <a:solidFill>
                  <a:srgbClr val="000000"/>
                </a:solidFill>
                <a:latin typeface="Roboto"/>
                <a:ea typeface="Roboto"/>
                <a:cs typeface="Roboto"/>
                <a:sym typeface="Roboto"/>
              </a:rPr>
              <a:t>Lê Đạt - 2370389</a:t>
            </a:r>
          </a:p>
        </p:txBody>
      </p:sp>
      <p:sp>
        <p:nvSpPr>
          <p:cNvPr name="TextBox 8" id="8"/>
          <p:cNvSpPr txBox="true"/>
          <p:nvPr/>
        </p:nvSpPr>
        <p:spPr>
          <a:xfrm rot="0">
            <a:off x="6736786" y="3128766"/>
            <a:ext cx="5076379" cy="533400"/>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Roboto Bold"/>
                <a:ea typeface="Roboto Bold"/>
                <a:cs typeface="Roboto Bold"/>
                <a:sym typeface="Roboto Bold"/>
              </a:rPr>
              <a:t>BÁO CÁO LUẬN VĂN THẠC SĨ</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50317" y="0"/>
            <a:ext cx="6137684" cy="6127944"/>
            <a:chOff x="0" y="0"/>
            <a:chExt cx="8183578" cy="8170592"/>
          </a:xfrm>
        </p:grpSpPr>
        <p:sp>
          <p:nvSpPr>
            <p:cNvPr name="Freeform 3" id="3"/>
            <p:cNvSpPr/>
            <p:nvPr/>
          </p:nvSpPr>
          <p:spPr>
            <a:xfrm flipH="false" flipV="false" rot="0">
              <a:off x="0" y="0"/>
              <a:ext cx="8183626" cy="8170545"/>
            </a:xfrm>
            <a:custGeom>
              <a:avLst/>
              <a:gdLst/>
              <a:ahLst/>
              <a:cxnLst/>
              <a:rect r="r" b="b" t="t" l="l"/>
              <a:pathLst>
                <a:path h="8170545" w="8183626">
                  <a:moveTo>
                    <a:pt x="0" y="0"/>
                  </a:moveTo>
                  <a:lnTo>
                    <a:pt x="8183626" y="0"/>
                  </a:lnTo>
                  <a:lnTo>
                    <a:pt x="8183626" y="8170545"/>
                  </a:lnTo>
                  <a:lnTo>
                    <a:pt x="0" y="8170545"/>
                  </a:lnTo>
                  <a:lnTo>
                    <a:pt x="0" y="0"/>
                  </a:lnTo>
                  <a:close/>
                </a:path>
              </a:pathLst>
            </a:custGeom>
            <a:blipFill>
              <a:blip r:embed="rId2"/>
              <a:stretch>
                <a:fillRect l="0" t="-15057" r="-15172" b="0"/>
              </a:stretch>
            </a:blipFill>
          </p:spPr>
        </p:sp>
      </p:grpSp>
      <p:sp>
        <p:nvSpPr>
          <p:cNvPr name="AutoShape 4" id="4"/>
          <p:cNvSpPr/>
          <p:nvPr/>
        </p:nvSpPr>
        <p:spPr>
          <a:xfrm>
            <a:off x="1028737" y="1056473"/>
            <a:ext cx="7296656" cy="19050"/>
          </a:xfrm>
          <a:prstGeom prst="line">
            <a:avLst/>
          </a:prstGeom>
          <a:ln cap="rnd" w="28575">
            <a:solidFill>
              <a:srgbClr val="264C9A"/>
            </a:solidFill>
            <a:prstDash val="solid"/>
            <a:headEnd type="none" len="sm" w="sm"/>
            <a:tailEnd type="none" len="sm" w="sm"/>
          </a:ln>
        </p:spPr>
      </p:sp>
      <p:grpSp>
        <p:nvGrpSpPr>
          <p:cNvPr name="Group 5" id="5"/>
          <p:cNvGrpSpPr/>
          <p:nvPr/>
        </p:nvGrpSpPr>
        <p:grpSpPr>
          <a:xfrm rot="0">
            <a:off x="1028738" y="1412911"/>
            <a:ext cx="1312902" cy="1312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8" id="8"/>
          <p:cNvGrpSpPr/>
          <p:nvPr/>
        </p:nvGrpSpPr>
        <p:grpSpPr>
          <a:xfrm rot="0">
            <a:off x="1047288" y="3067464"/>
            <a:ext cx="1312902" cy="13129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1" id="11"/>
          <p:cNvGrpSpPr/>
          <p:nvPr/>
        </p:nvGrpSpPr>
        <p:grpSpPr>
          <a:xfrm rot="0">
            <a:off x="1047288" y="6548851"/>
            <a:ext cx="1312902" cy="13129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4" id="14"/>
          <p:cNvGrpSpPr/>
          <p:nvPr/>
        </p:nvGrpSpPr>
        <p:grpSpPr>
          <a:xfrm rot="0">
            <a:off x="1047288" y="8280853"/>
            <a:ext cx="1312902" cy="13129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7" id="17"/>
          <p:cNvGrpSpPr/>
          <p:nvPr/>
        </p:nvGrpSpPr>
        <p:grpSpPr>
          <a:xfrm rot="0">
            <a:off x="1047288" y="4815042"/>
            <a:ext cx="1312902" cy="13129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sp>
        <p:nvSpPr>
          <p:cNvPr name="TextBox 20" id="20"/>
          <p:cNvSpPr txBox="true"/>
          <p:nvPr/>
        </p:nvSpPr>
        <p:spPr>
          <a:xfrm rot="0">
            <a:off x="1028700" y="161925"/>
            <a:ext cx="3327142" cy="866775"/>
          </a:xfrm>
          <a:prstGeom prst="rect">
            <a:avLst/>
          </a:prstGeom>
        </p:spPr>
        <p:txBody>
          <a:bodyPr anchor="t" rtlCol="false" tIns="0" lIns="0" bIns="0" rIns="0">
            <a:spAutoFit/>
          </a:bodyPr>
          <a:lstStyle/>
          <a:p>
            <a:pPr algn="just">
              <a:lnSpc>
                <a:spcPts val="6720"/>
              </a:lnSpc>
            </a:pPr>
            <a:r>
              <a:rPr lang="en-US" sz="5600" b="true">
                <a:solidFill>
                  <a:srgbClr val="081861"/>
                </a:solidFill>
                <a:latin typeface="Roboto Bold"/>
                <a:ea typeface="Roboto Bold"/>
                <a:cs typeface="Roboto Bold"/>
                <a:sym typeface="Roboto Bold"/>
              </a:rPr>
              <a:t>NỘI DUNG</a:t>
            </a:r>
          </a:p>
        </p:txBody>
      </p:sp>
      <p:sp>
        <p:nvSpPr>
          <p:cNvPr name="TextBox 21" id="21"/>
          <p:cNvSpPr txBox="true"/>
          <p:nvPr/>
        </p:nvSpPr>
        <p:spPr>
          <a:xfrm rot="0">
            <a:off x="2692271" y="1773839"/>
            <a:ext cx="5818648" cy="600075"/>
          </a:xfrm>
          <a:prstGeom prst="rect">
            <a:avLst/>
          </a:prstGeom>
        </p:spPr>
        <p:txBody>
          <a:bodyPr anchor="t" rtlCol="false" tIns="0" lIns="0" bIns="0" rIns="0">
            <a:spAutoFit/>
          </a:bodyPr>
          <a:lstStyle/>
          <a:p>
            <a:pPr algn="l">
              <a:lnSpc>
                <a:spcPts val="4799"/>
              </a:lnSpc>
            </a:pPr>
            <a:r>
              <a:rPr lang="en-US" b="true" sz="3999" spc="615">
                <a:solidFill>
                  <a:srgbClr val="081861"/>
                </a:solidFill>
                <a:latin typeface="Roboto Bold"/>
                <a:ea typeface="Roboto Bold"/>
                <a:cs typeface="Roboto Bold"/>
                <a:sym typeface="Roboto Bold"/>
              </a:rPr>
              <a:t>TỔNG QUAN ĐỀ TÀI</a:t>
            </a:r>
          </a:p>
        </p:txBody>
      </p:sp>
      <p:sp>
        <p:nvSpPr>
          <p:cNvPr name="TextBox 22" id="22"/>
          <p:cNvSpPr txBox="true"/>
          <p:nvPr/>
        </p:nvSpPr>
        <p:spPr>
          <a:xfrm rot="0">
            <a:off x="2683682" y="3469289"/>
            <a:ext cx="7601139"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TÓM TẮT NỘI DUNG ĐỀ TÀI</a:t>
            </a:r>
          </a:p>
        </p:txBody>
      </p:sp>
      <p:sp>
        <p:nvSpPr>
          <p:cNvPr name="TextBox 23" id="23"/>
          <p:cNvSpPr txBox="true"/>
          <p:nvPr/>
        </p:nvSpPr>
        <p:spPr>
          <a:xfrm rot="0">
            <a:off x="2692271" y="6905264"/>
            <a:ext cx="8857139" cy="600075"/>
          </a:xfrm>
          <a:prstGeom prst="rect">
            <a:avLst/>
          </a:prstGeom>
        </p:spPr>
        <p:txBody>
          <a:bodyPr anchor="t" rtlCol="false" tIns="0" lIns="0" bIns="0" rIns="0">
            <a:spAutoFit/>
          </a:bodyPr>
          <a:lstStyle/>
          <a:p>
            <a:pPr algn="l">
              <a:lnSpc>
                <a:spcPts val="4799"/>
              </a:lnSpc>
            </a:pPr>
            <a:r>
              <a:rPr lang="en-US" b="true" sz="3999" spc="307">
                <a:solidFill>
                  <a:srgbClr val="081861"/>
                </a:solidFill>
                <a:latin typeface="Roboto Bold"/>
                <a:ea typeface="Roboto Bold"/>
                <a:cs typeface="Roboto Bold"/>
                <a:sym typeface="Roboto Bold"/>
              </a:rPr>
              <a:t>BÁO CÁO KẾT QUẢ THỰC HIỆN</a:t>
            </a:r>
          </a:p>
        </p:txBody>
      </p:sp>
      <p:sp>
        <p:nvSpPr>
          <p:cNvPr name="TextBox 24" id="24"/>
          <p:cNvSpPr txBox="true"/>
          <p:nvPr/>
        </p:nvSpPr>
        <p:spPr>
          <a:xfrm rot="0">
            <a:off x="2782505" y="8679356"/>
            <a:ext cx="7715949" cy="600075"/>
          </a:xfrm>
          <a:prstGeom prst="rect">
            <a:avLst/>
          </a:prstGeom>
        </p:spPr>
        <p:txBody>
          <a:bodyPr anchor="t" rtlCol="false" tIns="0" lIns="0" bIns="0" rIns="0">
            <a:spAutoFit/>
          </a:bodyPr>
          <a:lstStyle/>
          <a:p>
            <a:pPr algn="l">
              <a:lnSpc>
                <a:spcPts val="4799"/>
              </a:lnSpc>
            </a:pPr>
            <a:r>
              <a:rPr lang="en-US" b="true" sz="3999" spc="470">
                <a:solidFill>
                  <a:srgbClr val="081861"/>
                </a:solidFill>
                <a:latin typeface="Roboto Bold"/>
                <a:ea typeface="Roboto Bold"/>
                <a:cs typeface="Roboto Bold"/>
                <a:sym typeface="Roboto Bold"/>
              </a:rPr>
              <a:t>ĐỊNH HƯỚNG PHÁT TRIỂN</a:t>
            </a:r>
          </a:p>
        </p:txBody>
      </p:sp>
      <p:sp>
        <p:nvSpPr>
          <p:cNvPr name="TextBox 25" id="25"/>
          <p:cNvSpPr txBox="true"/>
          <p:nvPr/>
        </p:nvSpPr>
        <p:spPr>
          <a:xfrm rot="0">
            <a:off x="1299986" y="1664302"/>
            <a:ext cx="807428"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01</a:t>
            </a:r>
          </a:p>
        </p:txBody>
      </p:sp>
      <p:sp>
        <p:nvSpPr>
          <p:cNvPr name="TextBox 26" id="26"/>
          <p:cNvSpPr txBox="true"/>
          <p:nvPr/>
        </p:nvSpPr>
        <p:spPr>
          <a:xfrm rot="0">
            <a:off x="1300018" y="3314339"/>
            <a:ext cx="807440"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02</a:t>
            </a:r>
          </a:p>
        </p:txBody>
      </p:sp>
      <p:sp>
        <p:nvSpPr>
          <p:cNvPr name="TextBox 27" id="27"/>
          <p:cNvSpPr txBox="true"/>
          <p:nvPr/>
        </p:nvSpPr>
        <p:spPr>
          <a:xfrm rot="0">
            <a:off x="1308449" y="6795727"/>
            <a:ext cx="790578"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04</a:t>
            </a:r>
          </a:p>
        </p:txBody>
      </p:sp>
      <p:sp>
        <p:nvSpPr>
          <p:cNvPr name="TextBox 28" id="28"/>
          <p:cNvSpPr txBox="true"/>
          <p:nvPr/>
        </p:nvSpPr>
        <p:spPr>
          <a:xfrm rot="0">
            <a:off x="1295175" y="8536252"/>
            <a:ext cx="817050"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05</a:t>
            </a:r>
          </a:p>
        </p:txBody>
      </p:sp>
      <p:sp>
        <p:nvSpPr>
          <p:cNvPr name="TextBox 29" id="29"/>
          <p:cNvSpPr txBox="true"/>
          <p:nvPr/>
        </p:nvSpPr>
        <p:spPr>
          <a:xfrm rot="0">
            <a:off x="2692271" y="5164739"/>
            <a:ext cx="5341342"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CƠ SỞ LÝ THUYẾT</a:t>
            </a:r>
          </a:p>
        </p:txBody>
      </p:sp>
      <p:sp>
        <p:nvSpPr>
          <p:cNvPr name="TextBox 30" id="30"/>
          <p:cNvSpPr txBox="true"/>
          <p:nvPr/>
        </p:nvSpPr>
        <p:spPr>
          <a:xfrm rot="0">
            <a:off x="1300607" y="5055202"/>
            <a:ext cx="806264"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03</a:t>
            </a:r>
          </a:p>
        </p:txBody>
      </p:sp>
    </p:spTree>
  </p:cSld>
  <p:clrMapOvr>
    <a:masterClrMapping/>
  </p:clrMapOvr>
  <p:transition spd="med">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50317" y="0"/>
            <a:ext cx="6137684" cy="6127944"/>
            <a:chOff x="0" y="0"/>
            <a:chExt cx="8183578" cy="8170592"/>
          </a:xfrm>
        </p:grpSpPr>
        <p:sp>
          <p:nvSpPr>
            <p:cNvPr name="Freeform 3" id="3"/>
            <p:cNvSpPr/>
            <p:nvPr/>
          </p:nvSpPr>
          <p:spPr>
            <a:xfrm flipH="false" flipV="false" rot="0">
              <a:off x="0" y="0"/>
              <a:ext cx="8183626" cy="8170545"/>
            </a:xfrm>
            <a:custGeom>
              <a:avLst/>
              <a:gdLst/>
              <a:ahLst/>
              <a:cxnLst/>
              <a:rect r="r" b="b" t="t" l="l"/>
              <a:pathLst>
                <a:path h="8170545" w="8183626">
                  <a:moveTo>
                    <a:pt x="0" y="0"/>
                  </a:moveTo>
                  <a:lnTo>
                    <a:pt x="8183626" y="0"/>
                  </a:lnTo>
                  <a:lnTo>
                    <a:pt x="8183626" y="8170545"/>
                  </a:lnTo>
                  <a:lnTo>
                    <a:pt x="0" y="8170545"/>
                  </a:lnTo>
                  <a:lnTo>
                    <a:pt x="0" y="0"/>
                  </a:lnTo>
                  <a:close/>
                </a:path>
              </a:pathLst>
            </a:custGeom>
            <a:blipFill>
              <a:blip r:embed="rId2"/>
              <a:stretch>
                <a:fillRect l="0" t="-15057" r="-15172" b="0"/>
              </a:stretch>
            </a:blipFill>
          </p:spPr>
        </p:sp>
      </p:grpSp>
      <p:sp>
        <p:nvSpPr>
          <p:cNvPr name="AutoShape 4" id="4"/>
          <p:cNvSpPr/>
          <p:nvPr/>
        </p:nvSpPr>
        <p:spPr>
          <a:xfrm>
            <a:off x="1028737" y="1056473"/>
            <a:ext cx="7296656" cy="19050"/>
          </a:xfrm>
          <a:prstGeom prst="line">
            <a:avLst/>
          </a:prstGeom>
          <a:ln cap="rnd" w="28575">
            <a:solidFill>
              <a:srgbClr val="264C9A"/>
            </a:solidFill>
            <a:prstDash val="solid"/>
            <a:headEnd type="none" len="sm" w="sm"/>
            <a:tailEnd type="none" len="sm" w="sm"/>
          </a:ln>
        </p:spPr>
      </p:sp>
      <p:grpSp>
        <p:nvGrpSpPr>
          <p:cNvPr name="Group 5" id="5"/>
          <p:cNvGrpSpPr/>
          <p:nvPr/>
        </p:nvGrpSpPr>
        <p:grpSpPr>
          <a:xfrm rot="0">
            <a:off x="1027841" y="1412911"/>
            <a:ext cx="1312902" cy="1312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8" id="8"/>
          <p:cNvGrpSpPr/>
          <p:nvPr/>
        </p:nvGrpSpPr>
        <p:grpSpPr>
          <a:xfrm rot="0">
            <a:off x="1047288" y="3067464"/>
            <a:ext cx="1312902" cy="13129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1" id="11"/>
          <p:cNvGrpSpPr/>
          <p:nvPr/>
        </p:nvGrpSpPr>
        <p:grpSpPr>
          <a:xfrm rot="0">
            <a:off x="1047288" y="6548851"/>
            <a:ext cx="1312902" cy="13129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4" id="14"/>
          <p:cNvGrpSpPr/>
          <p:nvPr/>
        </p:nvGrpSpPr>
        <p:grpSpPr>
          <a:xfrm rot="0">
            <a:off x="1047288" y="8280853"/>
            <a:ext cx="1312902" cy="13129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7" id="17"/>
          <p:cNvGrpSpPr/>
          <p:nvPr/>
        </p:nvGrpSpPr>
        <p:grpSpPr>
          <a:xfrm rot="0">
            <a:off x="1047288" y="4815042"/>
            <a:ext cx="1312902" cy="13129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20" id="20"/>
          <p:cNvGrpSpPr/>
          <p:nvPr/>
        </p:nvGrpSpPr>
        <p:grpSpPr>
          <a:xfrm rot="0">
            <a:off x="-2409787" y="1549384"/>
            <a:ext cx="3086100" cy="1039956"/>
            <a:chOff x="0" y="0"/>
            <a:chExt cx="812800" cy="273898"/>
          </a:xfrm>
        </p:grpSpPr>
        <p:sp>
          <p:nvSpPr>
            <p:cNvPr name="Freeform 21" id="21"/>
            <p:cNvSpPr/>
            <p:nvPr/>
          </p:nvSpPr>
          <p:spPr>
            <a:xfrm flipH="false" flipV="false" rot="0">
              <a:off x="0" y="0"/>
              <a:ext cx="812800" cy="273898"/>
            </a:xfrm>
            <a:custGeom>
              <a:avLst/>
              <a:gdLst/>
              <a:ahLst/>
              <a:cxnLst/>
              <a:rect r="r" b="b" t="t" l="l"/>
              <a:pathLst>
                <a:path h="273898" w="812800">
                  <a:moveTo>
                    <a:pt x="609600" y="0"/>
                  </a:moveTo>
                  <a:lnTo>
                    <a:pt x="0" y="0"/>
                  </a:lnTo>
                  <a:lnTo>
                    <a:pt x="0" y="273898"/>
                  </a:lnTo>
                  <a:lnTo>
                    <a:pt x="609600" y="273898"/>
                  </a:lnTo>
                  <a:lnTo>
                    <a:pt x="812800" y="136949"/>
                  </a:lnTo>
                  <a:lnTo>
                    <a:pt x="609600" y="0"/>
                  </a:lnTo>
                  <a:close/>
                </a:path>
              </a:pathLst>
            </a:custGeom>
            <a:solidFill>
              <a:srgbClr val="081861"/>
            </a:solidFill>
          </p:spPr>
        </p:sp>
        <p:sp>
          <p:nvSpPr>
            <p:cNvPr name="TextBox 22" id="22"/>
            <p:cNvSpPr txBox="true"/>
            <p:nvPr/>
          </p:nvSpPr>
          <p:spPr>
            <a:xfrm>
              <a:off x="0" y="-47625"/>
              <a:ext cx="698500" cy="321523"/>
            </a:xfrm>
            <a:prstGeom prst="rect">
              <a:avLst/>
            </a:prstGeom>
          </p:spPr>
          <p:txBody>
            <a:bodyPr anchor="ctr" rtlCol="false" tIns="50800" lIns="50800" bIns="50800" rIns="50800"/>
            <a:lstStyle/>
            <a:p>
              <a:pPr algn="ctr">
                <a:lnSpc>
                  <a:spcPts val="2592"/>
                </a:lnSpc>
              </a:pPr>
            </a:p>
          </p:txBody>
        </p:sp>
      </p:grpSp>
      <p:sp>
        <p:nvSpPr>
          <p:cNvPr name="TextBox 23" id="23"/>
          <p:cNvSpPr txBox="true"/>
          <p:nvPr/>
        </p:nvSpPr>
        <p:spPr>
          <a:xfrm rot="0">
            <a:off x="1028700" y="161925"/>
            <a:ext cx="3327142" cy="866775"/>
          </a:xfrm>
          <a:prstGeom prst="rect">
            <a:avLst/>
          </a:prstGeom>
        </p:spPr>
        <p:txBody>
          <a:bodyPr anchor="t" rtlCol="false" tIns="0" lIns="0" bIns="0" rIns="0">
            <a:spAutoFit/>
          </a:bodyPr>
          <a:lstStyle/>
          <a:p>
            <a:pPr algn="just">
              <a:lnSpc>
                <a:spcPts val="6720"/>
              </a:lnSpc>
            </a:pPr>
            <a:r>
              <a:rPr lang="en-US" sz="5600" b="true">
                <a:solidFill>
                  <a:srgbClr val="081861"/>
                </a:solidFill>
                <a:latin typeface="Roboto Bold"/>
                <a:ea typeface="Roboto Bold"/>
                <a:cs typeface="Roboto Bold"/>
                <a:sym typeface="Roboto Bold"/>
              </a:rPr>
              <a:t>NỘI DUNG</a:t>
            </a:r>
          </a:p>
        </p:txBody>
      </p:sp>
      <p:sp>
        <p:nvSpPr>
          <p:cNvPr name="TextBox 24" id="24"/>
          <p:cNvSpPr txBox="true"/>
          <p:nvPr/>
        </p:nvSpPr>
        <p:spPr>
          <a:xfrm rot="0">
            <a:off x="2692271" y="1773839"/>
            <a:ext cx="5818648" cy="600075"/>
          </a:xfrm>
          <a:prstGeom prst="rect">
            <a:avLst/>
          </a:prstGeom>
        </p:spPr>
        <p:txBody>
          <a:bodyPr anchor="t" rtlCol="false" tIns="0" lIns="0" bIns="0" rIns="0">
            <a:spAutoFit/>
          </a:bodyPr>
          <a:lstStyle/>
          <a:p>
            <a:pPr algn="l">
              <a:lnSpc>
                <a:spcPts val="4799"/>
              </a:lnSpc>
            </a:pPr>
            <a:r>
              <a:rPr lang="en-US" b="true" sz="3999" spc="615">
                <a:solidFill>
                  <a:srgbClr val="081861"/>
                </a:solidFill>
                <a:latin typeface="Roboto Bold"/>
                <a:ea typeface="Roboto Bold"/>
                <a:cs typeface="Roboto Bold"/>
                <a:sym typeface="Roboto Bold"/>
              </a:rPr>
              <a:t>TỔNG QUAN ĐỀ TÀI</a:t>
            </a:r>
          </a:p>
        </p:txBody>
      </p:sp>
      <p:sp>
        <p:nvSpPr>
          <p:cNvPr name="TextBox 25" id="25"/>
          <p:cNvSpPr txBox="true"/>
          <p:nvPr/>
        </p:nvSpPr>
        <p:spPr>
          <a:xfrm rot="0">
            <a:off x="2683682" y="3469289"/>
            <a:ext cx="7601139"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TÓM TẮT NỘI DUNG ĐỀ TÀI</a:t>
            </a:r>
          </a:p>
        </p:txBody>
      </p:sp>
      <p:sp>
        <p:nvSpPr>
          <p:cNvPr name="TextBox 26" id="26"/>
          <p:cNvSpPr txBox="true"/>
          <p:nvPr/>
        </p:nvSpPr>
        <p:spPr>
          <a:xfrm rot="0">
            <a:off x="2692271" y="6905264"/>
            <a:ext cx="8857139" cy="600075"/>
          </a:xfrm>
          <a:prstGeom prst="rect">
            <a:avLst/>
          </a:prstGeom>
        </p:spPr>
        <p:txBody>
          <a:bodyPr anchor="t" rtlCol="false" tIns="0" lIns="0" bIns="0" rIns="0">
            <a:spAutoFit/>
          </a:bodyPr>
          <a:lstStyle/>
          <a:p>
            <a:pPr algn="l">
              <a:lnSpc>
                <a:spcPts val="4799"/>
              </a:lnSpc>
            </a:pPr>
            <a:r>
              <a:rPr lang="en-US" b="true" sz="3999" spc="307">
                <a:solidFill>
                  <a:srgbClr val="081861"/>
                </a:solidFill>
                <a:latin typeface="Roboto Bold"/>
                <a:ea typeface="Roboto Bold"/>
                <a:cs typeface="Roboto Bold"/>
                <a:sym typeface="Roboto Bold"/>
              </a:rPr>
              <a:t>BÁO CÁO KẾT QUẢ THỰC HIỆN</a:t>
            </a:r>
          </a:p>
        </p:txBody>
      </p:sp>
      <p:sp>
        <p:nvSpPr>
          <p:cNvPr name="TextBox 27" id="27"/>
          <p:cNvSpPr txBox="true"/>
          <p:nvPr/>
        </p:nvSpPr>
        <p:spPr>
          <a:xfrm rot="0">
            <a:off x="2782505" y="8679356"/>
            <a:ext cx="7715949" cy="600075"/>
          </a:xfrm>
          <a:prstGeom prst="rect">
            <a:avLst/>
          </a:prstGeom>
        </p:spPr>
        <p:txBody>
          <a:bodyPr anchor="t" rtlCol="false" tIns="0" lIns="0" bIns="0" rIns="0">
            <a:spAutoFit/>
          </a:bodyPr>
          <a:lstStyle/>
          <a:p>
            <a:pPr algn="l">
              <a:lnSpc>
                <a:spcPts val="4799"/>
              </a:lnSpc>
            </a:pPr>
            <a:r>
              <a:rPr lang="en-US" b="true" sz="3999" spc="470">
                <a:solidFill>
                  <a:srgbClr val="081861"/>
                </a:solidFill>
                <a:latin typeface="Roboto Bold"/>
                <a:ea typeface="Roboto Bold"/>
                <a:cs typeface="Roboto Bold"/>
                <a:sym typeface="Roboto Bold"/>
              </a:rPr>
              <a:t>ĐỊNH HƯỚNG PHÁT TRIỂN</a:t>
            </a:r>
          </a:p>
        </p:txBody>
      </p:sp>
      <p:sp>
        <p:nvSpPr>
          <p:cNvPr name="TextBox 28" id="28"/>
          <p:cNvSpPr txBox="true"/>
          <p:nvPr/>
        </p:nvSpPr>
        <p:spPr>
          <a:xfrm rot="0">
            <a:off x="1299986" y="1664302"/>
            <a:ext cx="807428"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01</a:t>
            </a:r>
          </a:p>
        </p:txBody>
      </p:sp>
      <p:sp>
        <p:nvSpPr>
          <p:cNvPr name="TextBox 29" id="29"/>
          <p:cNvSpPr txBox="true"/>
          <p:nvPr/>
        </p:nvSpPr>
        <p:spPr>
          <a:xfrm rot="0">
            <a:off x="1300018" y="3314339"/>
            <a:ext cx="807440"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02</a:t>
            </a:r>
          </a:p>
        </p:txBody>
      </p:sp>
      <p:sp>
        <p:nvSpPr>
          <p:cNvPr name="TextBox 30" id="30"/>
          <p:cNvSpPr txBox="true"/>
          <p:nvPr/>
        </p:nvSpPr>
        <p:spPr>
          <a:xfrm rot="0">
            <a:off x="1308449" y="6795727"/>
            <a:ext cx="790578"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04</a:t>
            </a:r>
          </a:p>
        </p:txBody>
      </p:sp>
      <p:sp>
        <p:nvSpPr>
          <p:cNvPr name="TextBox 31" id="31"/>
          <p:cNvSpPr txBox="true"/>
          <p:nvPr/>
        </p:nvSpPr>
        <p:spPr>
          <a:xfrm rot="0">
            <a:off x="1295175" y="8536252"/>
            <a:ext cx="817050"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05</a:t>
            </a:r>
          </a:p>
        </p:txBody>
      </p:sp>
      <p:sp>
        <p:nvSpPr>
          <p:cNvPr name="TextBox 32" id="32"/>
          <p:cNvSpPr txBox="true"/>
          <p:nvPr/>
        </p:nvSpPr>
        <p:spPr>
          <a:xfrm rot="0">
            <a:off x="2692271" y="5164739"/>
            <a:ext cx="5341342"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CƠ SỞ LÝ THUYẾT</a:t>
            </a:r>
          </a:p>
        </p:txBody>
      </p:sp>
      <p:sp>
        <p:nvSpPr>
          <p:cNvPr name="TextBox 33" id="33"/>
          <p:cNvSpPr txBox="true"/>
          <p:nvPr/>
        </p:nvSpPr>
        <p:spPr>
          <a:xfrm rot="0">
            <a:off x="1300607" y="5055202"/>
            <a:ext cx="806264"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03</a:t>
            </a:r>
          </a:p>
        </p:txBody>
      </p:sp>
    </p:spTree>
  </p:cSld>
  <p:clrMapOvr>
    <a:masterClrMapping/>
  </p:clrMapOvr>
  <p:transition spd="med">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8917039" cy="1976056"/>
            <a:chOff x="0" y="0"/>
            <a:chExt cx="25222719" cy="2634742"/>
          </a:xfrm>
        </p:grpSpPr>
        <p:grpSp>
          <p:nvGrpSpPr>
            <p:cNvPr name="Group 3" id="3"/>
            <p:cNvGrpSpPr/>
            <p:nvPr/>
          </p:nvGrpSpPr>
          <p:grpSpPr>
            <a:xfrm rot="0">
              <a:off x="0" y="0"/>
              <a:ext cx="25222719" cy="2634742"/>
              <a:chOff x="0" y="0"/>
              <a:chExt cx="2950390" cy="308195"/>
            </a:xfrm>
          </p:grpSpPr>
          <p:sp>
            <p:nvSpPr>
              <p:cNvPr name="Freeform 4" id="4"/>
              <p:cNvSpPr/>
              <p:nvPr/>
            </p:nvSpPr>
            <p:spPr>
              <a:xfrm flipH="false" flipV="false" rot="0">
                <a:off x="0" y="0"/>
                <a:ext cx="2950389" cy="308195"/>
              </a:xfrm>
              <a:custGeom>
                <a:avLst/>
                <a:gdLst/>
                <a:ahLst/>
                <a:cxnLst/>
                <a:rect r="r" b="b" t="t" l="l"/>
                <a:pathLst>
                  <a:path h="308195" w="2950389">
                    <a:moveTo>
                      <a:pt x="203200" y="0"/>
                    </a:moveTo>
                    <a:lnTo>
                      <a:pt x="2950389" y="0"/>
                    </a:lnTo>
                    <a:lnTo>
                      <a:pt x="2747189" y="308195"/>
                    </a:lnTo>
                    <a:lnTo>
                      <a:pt x="0" y="308195"/>
                    </a:lnTo>
                    <a:lnTo>
                      <a:pt x="203200" y="0"/>
                    </a:lnTo>
                    <a:close/>
                  </a:path>
                </a:pathLst>
              </a:custGeom>
              <a:solidFill>
                <a:srgbClr val="002699"/>
              </a:solidFill>
            </p:spPr>
          </p:sp>
          <p:sp>
            <p:nvSpPr>
              <p:cNvPr name="TextBox 5" id="5"/>
              <p:cNvSpPr txBox="true"/>
              <p:nvPr/>
            </p:nvSpPr>
            <p:spPr>
              <a:xfrm>
                <a:off x="101600" y="-47625"/>
                <a:ext cx="2747190"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010255" y="291846"/>
              <a:ext cx="19037043"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1.1 NHU CẦU VỀ CHUYỂN ĐỔI SỐ TRONG Y TẾ TẠI VIỆT NAM [CDS2024]</a:t>
              </a:r>
            </a:p>
          </p:txBody>
        </p:sp>
      </p:grpSp>
      <p:sp>
        <p:nvSpPr>
          <p:cNvPr name="Freeform 7" id="7"/>
          <p:cNvSpPr/>
          <p:nvPr/>
        </p:nvSpPr>
        <p:spPr>
          <a:xfrm flipH="false" flipV="false" rot="0">
            <a:off x="10571020" y="4672016"/>
            <a:ext cx="6688280" cy="3762157"/>
          </a:xfrm>
          <a:custGeom>
            <a:avLst/>
            <a:gdLst/>
            <a:ahLst/>
            <a:cxnLst/>
            <a:rect r="r" b="b" t="t" l="l"/>
            <a:pathLst>
              <a:path h="3762157" w="6688280">
                <a:moveTo>
                  <a:pt x="0" y="0"/>
                </a:moveTo>
                <a:lnTo>
                  <a:pt x="6688280" y="0"/>
                </a:lnTo>
                <a:lnTo>
                  <a:pt x="6688280" y="3762158"/>
                </a:lnTo>
                <a:lnTo>
                  <a:pt x="0" y="3762158"/>
                </a:lnTo>
                <a:lnTo>
                  <a:pt x="0" y="0"/>
                </a:lnTo>
                <a:close/>
              </a:path>
            </a:pathLst>
          </a:custGeom>
          <a:blipFill>
            <a:blip r:embed="rId2"/>
            <a:stretch>
              <a:fillRect l="0" t="0" r="0" b="0"/>
            </a:stretch>
          </a:blipFill>
        </p:spPr>
      </p:sp>
      <p:sp>
        <p:nvSpPr>
          <p:cNvPr name="TextBox 8" id="8"/>
          <p:cNvSpPr txBox="true"/>
          <p:nvPr/>
        </p:nvSpPr>
        <p:spPr>
          <a:xfrm rot="0">
            <a:off x="1028700" y="2931795"/>
            <a:ext cx="14069449" cy="4337685"/>
          </a:xfrm>
          <a:prstGeom prst="rect">
            <a:avLst/>
          </a:prstGeom>
        </p:spPr>
        <p:txBody>
          <a:bodyPr anchor="t" rtlCol="false" tIns="0" lIns="0" bIns="0" rIns="0">
            <a:spAutoFit/>
          </a:bodyPr>
          <a:lstStyle/>
          <a:p>
            <a:pPr algn="l">
              <a:lnSpc>
                <a:spcPts val="4320"/>
              </a:lnSpc>
            </a:pPr>
            <a:r>
              <a:rPr lang="en-US" sz="3000">
                <a:solidFill>
                  <a:srgbClr val="000000"/>
                </a:solidFill>
                <a:latin typeface="Roboto"/>
                <a:ea typeface="Roboto"/>
                <a:cs typeface="Roboto"/>
                <a:sym typeface="Roboto"/>
              </a:rPr>
              <a:t>Y tế số ("D</a:t>
            </a:r>
            <a:r>
              <a:rPr lang="en-US" sz="3000">
                <a:solidFill>
                  <a:srgbClr val="000000"/>
                </a:solidFill>
                <a:latin typeface="Roboto"/>
                <a:ea typeface="Roboto"/>
                <a:cs typeface="Roboto"/>
                <a:sym typeface="Roboto"/>
              </a:rPr>
              <a:t>igital Health") sử dụng công nghệ số hóa để cải thiện quản lý sức khỏe, chẩn đoán, điều trị và dịch vụ y tế, kết hợp các công nghệ hiện đại như:</a:t>
            </a:r>
          </a:p>
          <a:p>
            <a:pPr algn="l" marL="647700" indent="-323850" lvl="1">
              <a:lnSpc>
                <a:spcPts val="4320"/>
              </a:lnSpc>
              <a:buFont typeface="Arial"/>
              <a:buChar char="•"/>
            </a:pPr>
            <a:r>
              <a:rPr lang="en-US" sz="3000">
                <a:solidFill>
                  <a:srgbClr val="000000"/>
                </a:solidFill>
                <a:latin typeface="Roboto"/>
                <a:ea typeface="Roboto"/>
                <a:cs typeface="Roboto"/>
                <a:sym typeface="Roboto"/>
              </a:rPr>
              <a:t>Hồ sơ y tế điện tử</a:t>
            </a:r>
          </a:p>
          <a:p>
            <a:pPr algn="l" marL="647700" indent="-323850" lvl="1">
              <a:lnSpc>
                <a:spcPts val="4320"/>
              </a:lnSpc>
              <a:buFont typeface="Arial"/>
              <a:buChar char="•"/>
            </a:pPr>
            <a:r>
              <a:rPr lang="en-US" sz="3000">
                <a:solidFill>
                  <a:srgbClr val="000000"/>
                </a:solidFill>
                <a:latin typeface="Roboto"/>
                <a:ea typeface="Roboto"/>
                <a:cs typeface="Roboto"/>
                <a:sym typeface="Roboto"/>
              </a:rPr>
              <a:t>Telehealth và Telemedicine</a:t>
            </a:r>
          </a:p>
          <a:p>
            <a:pPr algn="l" marL="647700" indent="-323850" lvl="1">
              <a:lnSpc>
                <a:spcPts val="4320"/>
              </a:lnSpc>
              <a:buFont typeface="Arial"/>
              <a:buChar char="•"/>
            </a:pPr>
            <a:r>
              <a:rPr lang="en-US" sz="3000">
                <a:solidFill>
                  <a:srgbClr val="000000"/>
                </a:solidFill>
                <a:latin typeface="Roboto"/>
                <a:ea typeface="Roboto"/>
                <a:cs typeface="Roboto"/>
                <a:sym typeface="Roboto"/>
              </a:rPr>
              <a:t>Internet of Things (IoT) trong y tế</a:t>
            </a:r>
          </a:p>
          <a:p>
            <a:pPr algn="l" marL="647700" indent="-323850" lvl="1">
              <a:lnSpc>
                <a:spcPts val="4320"/>
              </a:lnSpc>
              <a:buFont typeface="Arial"/>
              <a:buChar char="•"/>
            </a:pPr>
            <a:r>
              <a:rPr lang="en-US" sz="3000">
                <a:solidFill>
                  <a:srgbClr val="000000"/>
                </a:solidFill>
                <a:latin typeface="Roboto"/>
                <a:ea typeface="Roboto"/>
                <a:cs typeface="Roboto"/>
                <a:sym typeface="Roboto"/>
              </a:rPr>
              <a:t>Máy học (Machine Learning) và Trí tuệ nhân tạo (AI)</a:t>
            </a:r>
          </a:p>
          <a:p>
            <a:pPr algn="l" marL="647700" indent="-323850" lvl="1">
              <a:lnSpc>
                <a:spcPts val="4320"/>
              </a:lnSpc>
              <a:buFont typeface="Arial"/>
              <a:buChar char="•"/>
            </a:pPr>
            <a:r>
              <a:rPr lang="en-US" sz="3000">
                <a:solidFill>
                  <a:srgbClr val="000000"/>
                </a:solidFill>
                <a:latin typeface="Roboto"/>
                <a:ea typeface="Roboto"/>
                <a:cs typeface="Roboto"/>
                <a:sym typeface="Roboto"/>
              </a:rPr>
              <a:t>Ứng dụng di động y tế</a:t>
            </a:r>
          </a:p>
          <a:p>
            <a:pPr algn="l" marL="647700" indent="-323850" lvl="1">
              <a:lnSpc>
                <a:spcPts val="4320"/>
              </a:lnSpc>
              <a:buFont typeface="Arial"/>
              <a:buChar char="•"/>
            </a:pPr>
            <a:r>
              <a:rPr lang="en-US" sz="3000">
                <a:solidFill>
                  <a:srgbClr val="000000"/>
                </a:solidFill>
                <a:latin typeface="Roboto"/>
                <a:ea typeface="Roboto"/>
                <a:cs typeface="Roboto"/>
                <a:sym typeface="Roboto"/>
              </a:rPr>
              <a:t>Công nghệ Blockchain trong y tế</a:t>
            </a:r>
          </a:p>
        </p:txBody>
      </p:sp>
      <p:sp>
        <p:nvSpPr>
          <p:cNvPr name="TextBox 9" id="9"/>
          <p:cNvSpPr txBox="true"/>
          <p:nvPr/>
        </p:nvSpPr>
        <p:spPr>
          <a:xfrm rot="0">
            <a:off x="15936813"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4 of 37</a:t>
            </a:r>
          </a:p>
        </p:txBody>
      </p:sp>
      <p:sp>
        <p:nvSpPr>
          <p:cNvPr name="TextBox 10" id="10"/>
          <p:cNvSpPr txBox="true"/>
          <p:nvPr/>
        </p:nvSpPr>
        <p:spPr>
          <a:xfrm rot="0">
            <a:off x="1028700" y="9243315"/>
            <a:ext cx="14069449" cy="316610"/>
          </a:xfrm>
          <a:prstGeom prst="rect">
            <a:avLst/>
          </a:prstGeom>
        </p:spPr>
        <p:txBody>
          <a:bodyPr anchor="t" rtlCol="false" tIns="0" lIns="0" bIns="0" rIns="0">
            <a:spAutoFit/>
          </a:bodyPr>
          <a:lstStyle/>
          <a:p>
            <a:pPr algn="l">
              <a:lnSpc>
                <a:spcPts val="2592"/>
              </a:lnSpc>
            </a:pPr>
            <a:r>
              <a:rPr lang="en-US" sz="1800">
                <a:solidFill>
                  <a:srgbClr val="000000"/>
                </a:solidFill>
                <a:latin typeface="Roboto"/>
                <a:ea typeface="Roboto"/>
                <a:cs typeface="Roboto"/>
                <a:sym typeface="Roboto"/>
              </a:rPr>
              <a:t>[CDS2024]</a:t>
            </a:r>
            <a:r>
              <a:rPr lang="en-US" sz="1800">
                <a:solidFill>
                  <a:srgbClr val="000000"/>
                </a:solidFill>
                <a:latin typeface="Roboto"/>
                <a:ea typeface="Roboto"/>
                <a:cs typeface="Roboto"/>
                <a:sym typeface="Roboto"/>
              </a:rPr>
              <a:t> Đ. H. Lan (2024), Chuyển đổi số y tế gia tăng lợi ích cho ngườ</a:t>
            </a:r>
            <a:r>
              <a:rPr lang="en-US" sz="1800">
                <a:solidFill>
                  <a:srgbClr val="000000"/>
                </a:solidFill>
                <a:latin typeface="Roboto"/>
                <a:ea typeface="Roboto"/>
                <a:cs typeface="Roboto"/>
                <a:sym typeface="Roboto"/>
              </a:rPr>
              <a:t>i dân trong bảo vệ và chăm sóc sức khỏe toàn diện.</a:t>
            </a:r>
          </a:p>
        </p:txBody>
      </p:sp>
    </p:spTree>
  </p:cSld>
  <p:clrMapOvr>
    <a:masterClrMapping/>
  </p:clrMapOvr>
  <p:transition spd="med">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6137561" cy="1976056"/>
            <a:chOff x="0" y="0"/>
            <a:chExt cx="21516749" cy="2634742"/>
          </a:xfrm>
        </p:grpSpPr>
        <p:grpSp>
          <p:nvGrpSpPr>
            <p:cNvPr name="Group 3" id="3"/>
            <p:cNvGrpSpPr/>
            <p:nvPr/>
          </p:nvGrpSpPr>
          <p:grpSpPr>
            <a:xfrm rot="0">
              <a:off x="0" y="0"/>
              <a:ext cx="21516749" cy="2634742"/>
              <a:chOff x="0" y="0"/>
              <a:chExt cx="2516889" cy="308195"/>
            </a:xfrm>
          </p:grpSpPr>
          <p:sp>
            <p:nvSpPr>
              <p:cNvPr name="Freeform 4" id="4"/>
              <p:cNvSpPr/>
              <p:nvPr/>
            </p:nvSpPr>
            <p:spPr>
              <a:xfrm flipH="false" flipV="false" rot="0">
                <a:off x="0" y="0"/>
                <a:ext cx="2516889" cy="308195"/>
              </a:xfrm>
              <a:custGeom>
                <a:avLst/>
                <a:gdLst/>
                <a:ahLst/>
                <a:cxnLst/>
                <a:rect r="r" b="b" t="t" l="l"/>
                <a:pathLst>
                  <a:path h="308195" w="2516889">
                    <a:moveTo>
                      <a:pt x="203200" y="0"/>
                    </a:moveTo>
                    <a:lnTo>
                      <a:pt x="2516889" y="0"/>
                    </a:lnTo>
                    <a:lnTo>
                      <a:pt x="2313689" y="308195"/>
                    </a:lnTo>
                    <a:lnTo>
                      <a:pt x="0" y="308195"/>
                    </a:lnTo>
                    <a:lnTo>
                      <a:pt x="203200" y="0"/>
                    </a:lnTo>
                    <a:close/>
                  </a:path>
                </a:pathLst>
              </a:custGeom>
              <a:solidFill>
                <a:srgbClr val="002699"/>
              </a:solidFill>
            </p:spPr>
          </p:sp>
          <p:sp>
            <p:nvSpPr>
              <p:cNvPr name="TextBox 5" id="5"/>
              <p:cNvSpPr txBox="true"/>
              <p:nvPr/>
            </p:nvSpPr>
            <p:spPr>
              <a:xfrm>
                <a:off x="101600" y="-47625"/>
                <a:ext cx="2313689"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421029" y="291846"/>
              <a:ext cx="16239933"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1.2 THỊ TRƯỜNG CÂN SỨC KHOẺ THÔNG MINH</a:t>
              </a:r>
            </a:p>
          </p:txBody>
        </p:sp>
      </p:grpSp>
      <p:sp>
        <p:nvSpPr>
          <p:cNvPr name="Freeform 7" id="7"/>
          <p:cNvSpPr/>
          <p:nvPr/>
        </p:nvSpPr>
        <p:spPr>
          <a:xfrm flipH="false" flipV="false" rot="0">
            <a:off x="1557405" y="4753268"/>
            <a:ext cx="8115300" cy="4505032"/>
          </a:xfrm>
          <a:custGeom>
            <a:avLst/>
            <a:gdLst/>
            <a:ahLst/>
            <a:cxnLst/>
            <a:rect r="r" b="b" t="t" l="l"/>
            <a:pathLst>
              <a:path h="4505032" w="8115300">
                <a:moveTo>
                  <a:pt x="0" y="0"/>
                </a:moveTo>
                <a:lnTo>
                  <a:pt x="8115300" y="0"/>
                </a:lnTo>
                <a:lnTo>
                  <a:pt x="8115300" y="4505032"/>
                </a:lnTo>
                <a:lnTo>
                  <a:pt x="0" y="4505032"/>
                </a:lnTo>
                <a:lnTo>
                  <a:pt x="0" y="0"/>
                </a:lnTo>
                <a:close/>
              </a:path>
            </a:pathLst>
          </a:custGeom>
          <a:blipFill>
            <a:blip r:embed="rId2"/>
            <a:stretch>
              <a:fillRect l="0" t="0" r="0" b="0"/>
            </a:stretch>
          </a:blipFill>
        </p:spPr>
      </p:sp>
      <p:sp>
        <p:nvSpPr>
          <p:cNvPr name="Freeform 8" id="8"/>
          <p:cNvSpPr/>
          <p:nvPr/>
        </p:nvSpPr>
        <p:spPr>
          <a:xfrm flipH="false" flipV="false" rot="0">
            <a:off x="10986883" y="4753268"/>
            <a:ext cx="4505032" cy="4505032"/>
          </a:xfrm>
          <a:custGeom>
            <a:avLst/>
            <a:gdLst/>
            <a:ahLst/>
            <a:cxnLst/>
            <a:rect r="r" b="b" t="t" l="l"/>
            <a:pathLst>
              <a:path h="4505032" w="4505032">
                <a:moveTo>
                  <a:pt x="0" y="0"/>
                </a:moveTo>
                <a:lnTo>
                  <a:pt x="4505032" y="0"/>
                </a:lnTo>
                <a:lnTo>
                  <a:pt x="4505032" y="4505032"/>
                </a:lnTo>
                <a:lnTo>
                  <a:pt x="0" y="4505032"/>
                </a:lnTo>
                <a:lnTo>
                  <a:pt x="0" y="0"/>
                </a:lnTo>
                <a:close/>
              </a:path>
            </a:pathLst>
          </a:custGeom>
          <a:blipFill>
            <a:blip r:embed="rId3"/>
            <a:stretch>
              <a:fillRect l="0" t="0" r="0" b="0"/>
            </a:stretch>
          </a:blipFill>
        </p:spPr>
      </p:sp>
      <p:sp>
        <p:nvSpPr>
          <p:cNvPr name="TextBox 9" id="9"/>
          <p:cNvSpPr txBox="true"/>
          <p:nvPr/>
        </p:nvSpPr>
        <p:spPr>
          <a:xfrm rot="0">
            <a:off x="1028700" y="2536938"/>
            <a:ext cx="16230600" cy="1707925"/>
          </a:xfrm>
          <a:prstGeom prst="rect">
            <a:avLst/>
          </a:prstGeom>
        </p:spPr>
        <p:txBody>
          <a:bodyPr anchor="t" rtlCol="false" tIns="0" lIns="0" bIns="0" rIns="0">
            <a:spAutoFit/>
          </a:bodyPr>
          <a:lstStyle/>
          <a:p>
            <a:pPr algn="just">
              <a:lnSpc>
                <a:spcPts val="4562"/>
              </a:lnSpc>
            </a:pPr>
            <a:r>
              <a:rPr lang="en-US" sz="3258">
                <a:solidFill>
                  <a:srgbClr val="000000"/>
                </a:solidFill>
                <a:latin typeface="Roboto"/>
                <a:ea typeface="Roboto"/>
                <a:cs typeface="Roboto"/>
                <a:sym typeface="Roboto"/>
              </a:rPr>
              <a:t>T</a:t>
            </a:r>
            <a:r>
              <a:rPr lang="en-US" sz="3258">
                <a:solidFill>
                  <a:srgbClr val="000000"/>
                </a:solidFill>
                <a:latin typeface="Roboto"/>
                <a:ea typeface="Roboto"/>
                <a:cs typeface="Roboto"/>
                <a:sym typeface="Roboto"/>
              </a:rPr>
              <a:t>hị trường cân sức khỏe thông minh đa dạng với các sản phẩm như:</a:t>
            </a:r>
          </a:p>
          <a:p>
            <a:pPr algn="just" marL="703590" indent="-351795" lvl="1">
              <a:lnSpc>
                <a:spcPts val="4562"/>
              </a:lnSpc>
              <a:buFont typeface="Arial"/>
              <a:buChar char="•"/>
            </a:pPr>
            <a:r>
              <a:rPr lang="en-US" b="true" sz="3258">
                <a:solidFill>
                  <a:srgbClr val="1B4290"/>
                </a:solidFill>
                <a:latin typeface="Roboto Bold"/>
                <a:ea typeface="Roboto Bold"/>
                <a:cs typeface="Roboto Bold"/>
                <a:sym typeface="Roboto Bold"/>
              </a:rPr>
              <a:t>Xiaomi Smart Scale 2:</a:t>
            </a:r>
            <a:r>
              <a:rPr lang="en-US" sz="3258">
                <a:solidFill>
                  <a:srgbClr val="000000"/>
                </a:solidFill>
                <a:latin typeface="Roboto"/>
                <a:ea typeface="Roboto"/>
                <a:cs typeface="Roboto"/>
                <a:sym typeface="Roboto"/>
              </a:rPr>
              <a:t> Đo cân nặng, BMI, tỷ lệ mỡ, nước, xương; kết nối Mi Fit.</a:t>
            </a:r>
          </a:p>
          <a:p>
            <a:pPr algn="just" marL="703590" indent="-351795" lvl="1">
              <a:lnSpc>
                <a:spcPts val="4562"/>
              </a:lnSpc>
              <a:buFont typeface="Arial"/>
              <a:buChar char="•"/>
            </a:pPr>
            <a:r>
              <a:rPr lang="en-US" b="true" sz="3258">
                <a:solidFill>
                  <a:srgbClr val="1B4290"/>
                </a:solidFill>
                <a:latin typeface="Roboto Bold"/>
                <a:ea typeface="Roboto Bold"/>
                <a:cs typeface="Roboto Bold"/>
                <a:sym typeface="Roboto Bold"/>
              </a:rPr>
              <a:t>CRENOT Gofit S2:</a:t>
            </a:r>
            <a:r>
              <a:rPr lang="en-US" sz="3258">
                <a:solidFill>
                  <a:srgbClr val="000000"/>
                </a:solidFill>
                <a:latin typeface="Roboto"/>
                <a:ea typeface="Roboto"/>
                <a:cs typeface="Roboto"/>
                <a:sym typeface="Roboto"/>
              </a:rPr>
              <a:t> Dùng công nghệ BIA và chip ZeroVar, đo chi tiết nhiều chỉ số.</a:t>
            </a:r>
          </a:p>
        </p:txBody>
      </p:sp>
      <p:sp>
        <p:nvSpPr>
          <p:cNvPr name="TextBox 10" id="10"/>
          <p:cNvSpPr txBox="true"/>
          <p:nvPr/>
        </p:nvSpPr>
        <p:spPr>
          <a:xfrm rot="0">
            <a:off x="15936813"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5 of 37</a:t>
            </a:r>
          </a:p>
        </p:txBody>
      </p:sp>
    </p:spTree>
  </p:cSld>
  <p:clrMapOvr>
    <a:masterClrMapping/>
  </p:clrMapOvr>
  <p:transition spd="med">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50317" y="0"/>
            <a:ext cx="6137684" cy="6127944"/>
            <a:chOff x="0" y="0"/>
            <a:chExt cx="8183578" cy="8170592"/>
          </a:xfrm>
        </p:grpSpPr>
        <p:sp>
          <p:nvSpPr>
            <p:cNvPr name="Freeform 3" id="3"/>
            <p:cNvSpPr/>
            <p:nvPr/>
          </p:nvSpPr>
          <p:spPr>
            <a:xfrm flipH="false" flipV="false" rot="0">
              <a:off x="0" y="0"/>
              <a:ext cx="8183626" cy="8170545"/>
            </a:xfrm>
            <a:custGeom>
              <a:avLst/>
              <a:gdLst/>
              <a:ahLst/>
              <a:cxnLst/>
              <a:rect r="r" b="b" t="t" l="l"/>
              <a:pathLst>
                <a:path h="8170545" w="8183626">
                  <a:moveTo>
                    <a:pt x="0" y="0"/>
                  </a:moveTo>
                  <a:lnTo>
                    <a:pt x="8183626" y="0"/>
                  </a:lnTo>
                  <a:lnTo>
                    <a:pt x="8183626" y="8170545"/>
                  </a:lnTo>
                  <a:lnTo>
                    <a:pt x="0" y="8170545"/>
                  </a:lnTo>
                  <a:lnTo>
                    <a:pt x="0" y="0"/>
                  </a:lnTo>
                  <a:close/>
                </a:path>
              </a:pathLst>
            </a:custGeom>
            <a:blipFill>
              <a:blip r:embed="rId2"/>
              <a:stretch>
                <a:fillRect l="0" t="-15057" r="-15172" b="0"/>
              </a:stretch>
            </a:blipFill>
          </p:spPr>
        </p:sp>
      </p:grpSp>
      <p:sp>
        <p:nvSpPr>
          <p:cNvPr name="AutoShape 4" id="4"/>
          <p:cNvSpPr/>
          <p:nvPr/>
        </p:nvSpPr>
        <p:spPr>
          <a:xfrm>
            <a:off x="1028737" y="1056473"/>
            <a:ext cx="7296656" cy="19050"/>
          </a:xfrm>
          <a:prstGeom prst="line">
            <a:avLst/>
          </a:prstGeom>
          <a:ln cap="rnd" w="28575">
            <a:solidFill>
              <a:srgbClr val="264C9A"/>
            </a:solidFill>
            <a:prstDash val="solid"/>
            <a:headEnd type="none" len="sm" w="sm"/>
            <a:tailEnd type="none" len="sm" w="sm"/>
          </a:ln>
        </p:spPr>
      </p:sp>
      <p:grpSp>
        <p:nvGrpSpPr>
          <p:cNvPr name="Group 5" id="5"/>
          <p:cNvGrpSpPr/>
          <p:nvPr/>
        </p:nvGrpSpPr>
        <p:grpSpPr>
          <a:xfrm rot="0">
            <a:off x="1028738" y="1412911"/>
            <a:ext cx="1312902" cy="1312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8" id="8"/>
          <p:cNvGrpSpPr/>
          <p:nvPr/>
        </p:nvGrpSpPr>
        <p:grpSpPr>
          <a:xfrm rot="0">
            <a:off x="1028700" y="3067464"/>
            <a:ext cx="1312902" cy="13129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1" id="11"/>
          <p:cNvGrpSpPr/>
          <p:nvPr/>
        </p:nvGrpSpPr>
        <p:grpSpPr>
          <a:xfrm rot="0">
            <a:off x="1047288" y="6548851"/>
            <a:ext cx="1312902" cy="13129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4" id="14"/>
          <p:cNvGrpSpPr/>
          <p:nvPr/>
        </p:nvGrpSpPr>
        <p:grpSpPr>
          <a:xfrm rot="0">
            <a:off x="1047288" y="8280853"/>
            <a:ext cx="1312902" cy="13129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7" id="17"/>
          <p:cNvGrpSpPr/>
          <p:nvPr/>
        </p:nvGrpSpPr>
        <p:grpSpPr>
          <a:xfrm rot="0">
            <a:off x="1047288" y="4815042"/>
            <a:ext cx="1312902" cy="13129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20" id="20"/>
          <p:cNvGrpSpPr/>
          <p:nvPr/>
        </p:nvGrpSpPr>
        <p:grpSpPr>
          <a:xfrm rot="0">
            <a:off x="-2400300" y="3249349"/>
            <a:ext cx="3086100" cy="1039956"/>
            <a:chOff x="0" y="0"/>
            <a:chExt cx="812800" cy="273898"/>
          </a:xfrm>
        </p:grpSpPr>
        <p:sp>
          <p:nvSpPr>
            <p:cNvPr name="Freeform 21" id="21"/>
            <p:cNvSpPr/>
            <p:nvPr/>
          </p:nvSpPr>
          <p:spPr>
            <a:xfrm flipH="false" flipV="false" rot="0">
              <a:off x="0" y="0"/>
              <a:ext cx="812800" cy="273898"/>
            </a:xfrm>
            <a:custGeom>
              <a:avLst/>
              <a:gdLst/>
              <a:ahLst/>
              <a:cxnLst/>
              <a:rect r="r" b="b" t="t" l="l"/>
              <a:pathLst>
                <a:path h="273898" w="812800">
                  <a:moveTo>
                    <a:pt x="609600" y="0"/>
                  </a:moveTo>
                  <a:lnTo>
                    <a:pt x="0" y="0"/>
                  </a:lnTo>
                  <a:lnTo>
                    <a:pt x="0" y="273898"/>
                  </a:lnTo>
                  <a:lnTo>
                    <a:pt x="609600" y="273898"/>
                  </a:lnTo>
                  <a:lnTo>
                    <a:pt x="812800" y="136949"/>
                  </a:lnTo>
                  <a:lnTo>
                    <a:pt x="609600" y="0"/>
                  </a:lnTo>
                  <a:close/>
                </a:path>
              </a:pathLst>
            </a:custGeom>
            <a:solidFill>
              <a:srgbClr val="01135B"/>
            </a:solidFill>
          </p:spPr>
        </p:sp>
        <p:sp>
          <p:nvSpPr>
            <p:cNvPr name="TextBox 22" id="22"/>
            <p:cNvSpPr txBox="true"/>
            <p:nvPr/>
          </p:nvSpPr>
          <p:spPr>
            <a:xfrm>
              <a:off x="0" y="-47625"/>
              <a:ext cx="698500" cy="321523"/>
            </a:xfrm>
            <a:prstGeom prst="rect">
              <a:avLst/>
            </a:prstGeom>
          </p:spPr>
          <p:txBody>
            <a:bodyPr anchor="ctr" rtlCol="false" tIns="50800" lIns="50800" bIns="50800" rIns="50800"/>
            <a:lstStyle/>
            <a:p>
              <a:pPr algn="ctr">
                <a:lnSpc>
                  <a:spcPts val="2592"/>
                </a:lnSpc>
              </a:pPr>
            </a:p>
          </p:txBody>
        </p:sp>
      </p:grpSp>
      <p:sp>
        <p:nvSpPr>
          <p:cNvPr name="TextBox 23" id="23"/>
          <p:cNvSpPr txBox="true"/>
          <p:nvPr/>
        </p:nvSpPr>
        <p:spPr>
          <a:xfrm rot="0">
            <a:off x="1028700" y="161925"/>
            <a:ext cx="3327142" cy="866775"/>
          </a:xfrm>
          <a:prstGeom prst="rect">
            <a:avLst/>
          </a:prstGeom>
        </p:spPr>
        <p:txBody>
          <a:bodyPr anchor="t" rtlCol="false" tIns="0" lIns="0" bIns="0" rIns="0">
            <a:spAutoFit/>
          </a:bodyPr>
          <a:lstStyle/>
          <a:p>
            <a:pPr algn="just">
              <a:lnSpc>
                <a:spcPts val="6720"/>
              </a:lnSpc>
            </a:pPr>
            <a:r>
              <a:rPr lang="en-US" sz="5600" b="true">
                <a:solidFill>
                  <a:srgbClr val="081861"/>
                </a:solidFill>
                <a:latin typeface="Roboto Bold"/>
                <a:ea typeface="Roboto Bold"/>
                <a:cs typeface="Roboto Bold"/>
                <a:sym typeface="Roboto Bold"/>
              </a:rPr>
              <a:t>NỘI DUNG</a:t>
            </a:r>
          </a:p>
        </p:txBody>
      </p:sp>
      <p:sp>
        <p:nvSpPr>
          <p:cNvPr name="TextBox 24" id="24"/>
          <p:cNvSpPr txBox="true"/>
          <p:nvPr/>
        </p:nvSpPr>
        <p:spPr>
          <a:xfrm rot="0">
            <a:off x="2692271" y="1773839"/>
            <a:ext cx="5818648" cy="600075"/>
          </a:xfrm>
          <a:prstGeom prst="rect">
            <a:avLst/>
          </a:prstGeom>
        </p:spPr>
        <p:txBody>
          <a:bodyPr anchor="t" rtlCol="false" tIns="0" lIns="0" bIns="0" rIns="0">
            <a:spAutoFit/>
          </a:bodyPr>
          <a:lstStyle/>
          <a:p>
            <a:pPr algn="l">
              <a:lnSpc>
                <a:spcPts val="4799"/>
              </a:lnSpc>
            </a:pPr>
            <a:r>
              <a:rPr lang="en-US" b="true" sz="3999" spc="615">
                <a:solidFill>
                  <a:srgbClr val="081861"/>
                </a:solidFill>
                <a:latin typeface="Roboto Bold"/>
                <a:ea typeface="Roboto Bold"/>
                <a:cs typeface="Roboto Bold"/>
                <a:sym typeface="Roboto Bold"/>
              </a:rPr>
              <a:t>TỔNG QUAN ĐỀ TÀI</a:t>
            </a:r>
          </a:p>
        </p:txBody>
      </p:sp>
      <p:sp>
        <p:nvSpPr>
          <p:cNvPr name="TextBox 25" id="25"/>
          <p:cNvSpPr txBox="true"/>
          <p:nvPr/>
        </p:nvSpPr>
        <p:spPr>
          <a:xfrm rot="0">
            <a:off x="2683682" y="3469289"/>
            <a:ext cx="7601139"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TÓM TẮT NỘI DUNG ĐỀ TÀI</a:t>
            </a:r>
          </a:p>
        </p:txBody>
      </p:sp>
      <p:sp>
        <p:nvSpPr>
          <p:cNvPr name="TextBox 26" id="26"/>
          <p:cNvSpPr txBox="true"/>
          <p:nvPr/>
        </p:nvSpPr>
        <p:spPr>
          <a:xfrm rot="0">
            <a:off x="2692271" y="6905264"/>
            <a:ext cx="8857139" cy="600075"/>
          </a:xfrm>
          <a:prstGeom prst="rect">
            <a:avLst/>
          </a:prstGeom>
        </p:spPr>
        <p:txBody>
          <a:bodyPr anchor="t" rtlCol="false" tIns="0" lIns="0" bIns="0" rIns="0">
            <a:spAutoFit/>
          </a:bodyPr>
          <a:lstStyle/>
          <a:p>
            <a:pPr algn="l">
              <a:lnSpc>
                <a:spcPts val="4799"/>
              </a:lnSpc>
            </a:pPr>
            <a:r>
              <a:rPr lang="en-US" b="true" sz="3999" spc="307">
                <a:solidFill>
                  <a:srgbClr val="081861"/>
                </a:solidFill>
                <a:latin typeface="Roboto Bold"/>
                <a:ea typeface="Roboto Bold"/>
                <a:cs typeface="Roboto Bold"/>
                <a:sym typeface="Roboto Bold"/>
              </a:rPr>
              <a:t>BÁO CÁO KẾT QUẢ THỰC HIỆN</a:t>
            </a:r>
          </a:p>
        </p:txBody>
      </p:sp>
      <p:sp>
        <p:nvSpPr>
          <p:cNvPr name="TextBox 27" id="27"/>
          <p:cNvSpPr txBox="true"/>
          <p:nvPr/>
        </p:nvSpPr>
        <p:spPr>
          <a:xfrm rot="0">
            <a:off x="2782505" y="8679356"/>
            <a:ext cx="7715949" cy="600075"/>
          </a:xfrm>
          <a:prstGeom prst="rect">
            <a:avLst/>
          </a:prstGeom>
        </p:spPr>
        <p:txBody>
          <a:bodyPr anchor="t" rtlCol="false" tIns="0" lIns="0" bIns="0" rIns="0">
            <a:spAutoFit/>
          </a:bodyPr>
          <a:lstStyle/>
          <a:p>
            <a:pPr algn="l">
              <a:lnSpc>
                <a:spcPts val="4799"/>
              </a:lnSpc>
            </a:pPr>
            <a:r>
              <a:rPr lang="en-US" b="true" sz="3999" spc="470">
                <a:solidFill>
                  <a:srgbClr val="081861"/>
                </a:solidFill>
                <a:latin typeface="Roboto Bold"/>
                <a:ea typeface="Roboto Bold"/>
                <a:cs typeface="Roboto Bold"/>
                <a:sym typeface="Roboto Bold"/>
              </a:rPr>
              <a:t>ĐỊNH HƯỚNG PHÁT TRIỂN</a:t>
            </a:r>
          </a:p>
        </p:txBody>
      </p:sp>
      <p:sp>
        <p:nvSpPr>
          <p:cNvPr name="TextBox 28" id="28"/>
          <p:cNvSpPr txBox="true"/>
          <p:nvPr/>
        </p:nvSpPr>
        <p:spPr>
          <a:xfrm rot="0">
            <a:off x="1299986" y="1664302"/>
            <a:ext cx="807428"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01</a:t>
            </a:r>
          </a:p>
        </p:txBody>
      </p:sp>
      <p:sp>
        <p:nvSpPr>
          <p:cNvPr name="TextBox 29" id="29"/>
          <p:cNvSpPr txBox="true"/>
          <p:nvPr/>
        </p:nvSpPr>
        <p:spPr>
          <a:xfrm rot="0">
            <a:off x="1300018" y="3314339"/>
            <a:ext cx="807440"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02</a:t>
            </a:r>
          </a:p>
        </p:txBody>
      </p:sp>
      <p:sp>
        <p:nvSpPr>
          <p:cNvPr name="TextBox 30" id="30"/>
          <p:cNvSpPr txBox="true"/>
          <p:nvPr/>
        </p:nvSpPr>
        <p:spPr>
          <a:xfrm rot="0">
            <a:off x="1308449" y="6795727"/>
            <a:ext cx="790578"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04</a:t>
            </a:r>
          </a:p>
        </p:txBody>
      </p:sp>
      <p:sp>
        <p:nvSpPr>
          <p:cNvPr name="TextBox 31" id="31"/>
          <p:cNvSpPr txBox="true"/>
          <p:nvPr/>
        </p:nvSpPr>
        <p:spPr>
          <a:xfrm rot="0">
            <a:off x="1295175" y="8536252"/>
            <a:ext cx="817050"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05</a:t>
            </a:r>
          </a:p>
        </p:txBody>
      </p:sp>
      <p:sp>
        <p:nvSpPr>
          <p:cNvPr name="TextBox 32" id="32"/>
          <p:cNvSpPr txBox="true"/>
          <p:nvPr/>
        </p:nvSpPr>
        <p:spPr>
          <a:xfrm rot="0">
            <a:off x="2692271" y="5164739"/>
            <a:ext cx="5341342"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CƠ SỞ LÝ THUYẾT</a:t>
            </a:r>
          </a:p>
        </p:txBody>
      </p:sp>
      <p:sp>
        <p:nvSpPr>
          <p:cNvPr name="TextBox 33" id="33"/>
          <p:cNvSpPr txBox="true"/>
          <p:nvPr/>
        </p:nvSpPr>
        <p:spPr>
          <a:xfrm rot="0">
            <a:off x="1300607" y="5055202"/>
            <a:ext cx="806264"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03</a:t>
            </a:r>
          </a:p>
        </p:txBody>
      </p:sp>
    </p:spTree>
  </p:cSld>
  <p:clrMapOvr>
    <a:masterClrMapping/>
  </p:clrMapOvr>
  <p:transition spd="med">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29918" y="2807634"/>
            <a:ext cx="6187407" cy="3015274"/>
            <a:chOff x="0" y="0"/>
            <a:chExt cx="6886577" cy="3355997"/>
          </a:xfrm>
        </p:grpSpPr>
        <p:sp>
          <p:nvSpPr>
            <p:cNvPr name="Freeform 3" id="3"/>
            <p:cNvSpPr/>
            <p:nvPr/>
          </p:nvSpPr>
          <p:spPr>
            <a:xfrm flipH="false" flipV="false" rot="0">
              <a:off x="0" y="0"/>
              <a:ext cx="6886561" cy="3356029"/>
            </a:xfrm>
            <a:custGeom>
              <a:avLst/>
              <a:gdLst/>
              <a:ahLst/>
              <a:cxnLst/>
              <a:rect r="r" b="b" t="t" l="l"/>
              <a:pathLst>
                <a:path h="3356029" w="6886561">
                  <a:moveTo>
                    <a:pt x="0" y="482474"/>
                  </a:moveTo>
                  <a:cubicBezTo>
                    <a:pt x="0" y="215978"/>
                    <a:pt x="261199" y="0"/>
                    <a:pt x="583082" y="0"/>
                  </a:cubicBezTo>
                  <a:lnTo>
                    <a:pt x="6303478" y="0"/>
                  </a:lnTo>
                  <a:lnTo>
                    <a:pt x="6303478" y="14190"/>
                  </a:lnTo>
                  <a:lnTo>
                    <a:pt x="6303478" y="0"/>
                  </a:lnTo>
                  <a:cubicBezTo>
                    <a:pt x="6625533" y="0"/>
                    <a:pt x="6886561" y="215978"/>
                    <a:pt x="6886561" y="482474"/>
                  </a:cubicBezTo>
                  <a:lnTo>
                    <a:pt x="6869467" y="482474"/>
                  </a:lnTo>
                  <a:lnTo>
                    <a:pt x="6886561" y="482474"/>
                  </a:lnTo>
                  <a:lnTo>
                    <a:pt x="6886561" y="2873559"/>
                  </a:lnTo>
                  <a:lnTo>
                    <a:pt x="6869467" y="2873559"/>
                  </a:lnTo>
                  <a:lnTo>
                    <a:pt x="6886561" y="2873559"/>
                  </a:lnTo>
                  <a:cubicBezTo>
                    <a:pt x="6886561" y="3140054"/>
                    <a:pt x="6625361" y="3356029"/>
                    <a:pt x="6303478" y="3356029"/>
                  </a:cubicBezTo>
                  <a:lnTo>
                    <a:pt x="6303478" y="3341842"/>
                  </a:lnTo>
                  <a:lnTo>
                    <a:pt x="6303478" y="3356029"/>
                  </a:lnTo>
                  <a:lnTo>
                    <a:pt x="583082" y="3356029"/>
                  </a:lnTo>
                  <a:lnTo>
                    <a:pt x="583082" y="3341842"/>
                  </a:lnTo>
                  <a:lnTo>
                    <a:pt x="583082" y="3356029"/>
                  </a:lnTo>
                  <a:cubicBezTo>
                    <a:pt x="261199" y="3356029"/>
                    <a:pt x="0" y="3140054"/>
                    <a:pt x="0" y="2873559"/>
                  </a:cubicBezTo>
                  <a:lnTo>
                    <a:pt x="0" y="482474"/>
                  </a:lnTo>
                  <a:lnTo>
                    <a:pt x="17094" y="482474"/>
                  </a:lnTo>
                  <a:lnTo>
                    <a:pt x="0" y="482474"/>
                  </a:lnTo>
                  <a:moveTo>
                    <a:pt x="34188" y="482474"/>
                  </a:moveTo>
                  <a:lnTo>
                    <a:pt x="34188" y="2873559"/>
                  </a:lnTo>
                  <a:lnTo>
                    <a:pt x="17094" y="2873559"/>
                  </a:lnTo>
                  <a:lnTo>
                    <a:pt x="34188" y="2873559"/>
                  </a:lnTo>
                  <a:cubicBezTo>
                    <a:pt x="34188" y="3124303"/>
                    <a:pt x="279832" y="3327652"/>
                    <a:pt x="583082" y="3327652"/>
                  </a:cubicBezTo>
                  <a:lnTo>
                    <a:pt x="6303478" y="3327652"/>
                  </a:lnTo>
                  <a:cubicBezTo>
                    <a:pt x="6606729" y="3327652"/>
                    <a:pt x="6852373" y="3124303"/>
                    <a:pt x="6852373" y="2873559"/>
                  </a:cubicBezTo>
                  <a:lnTo>
                    <a:pt x="6852373" y="482474"/>
                  </a:lnTo>
                  <a:cubicBezTo>
                    <a:pt x="6852373" y="231729"/>
                    <a:pt x="6606729" y="28381"/>
                    <a:pt x="6303478" y="28381"/>
                  </a:cubicBezTo>
                  <a:lnTo>
                    <a:pt x="583082" y="28381"/>
                  </a:lnTo>
                  <a:lnTo>
                    <a:pt x="583082" y="14190"/>
                  </a:lnTo>
                  <a:lnTo>
                    <a:pt x="583082" y="28381"/>
                  </a:lnTo>
                  <a:cubicBezTo>
                    <a:pt x="279832" y="28381"/>
                    <a:pt x="34188" y="231729"/>
                    <a:pt x="34188" y="482474"/>
                  </a:cubicBezTo>
                  <a:close/>
                </a:path>
              </a:pathLst>
            </a:custGeom>
            <a:solidFill>
              <a:srgbClr val="A6A6A6"/>
            </a:solidFill>
          </p:spPr>
        </p:sp>
      </p:grpSp>
      <p:grpSp>
        <p:nvGrpSpPr>
          <p:cNvPr name="Group 4" id="4"/>
          <p:cNvGrpSpPr/>
          <p:nvPr/>
        </p:nvGrpSpPr>
        <p:grpSpPr>
          <a:xfrm rot="0">
            <a:off x="4750588" y="2162382"/>
            <a:ext cx="1546066" cy="1254878"/>
            <a:chOff x="0" y="0"/>
            <a:chExt cx="1720770" cy="1396678"/>
          </a:xfrm>
        </p:grpSpPr>
        <p:sp>
          <p:nvSpPr>
            <p:cNvPr name="Freeform 5" id="5"/>
            <p:cNvSpPr/>
            <p:nvPr/>
          </p:nvSpPr>
          <p:spPr>
            <a:xfrm flipH="false" flipV="false" rot="0">
              <a:off x="0" y="0"/>
              <a:ext cx="1720723" cy="1396619"/>
            </a:xfrm>
            <a:custGeom>
              <a:avLst/>
              <a:gdLst/>
              <a:ahLst/>
              <a:cxnLst/>
              <a:rect r="r" b="b" t="t" l="l"/>
              <a:pathLst>
                <a:path h="1396619" w="1720723">
                  <a:moveTo>
                    <a:pt x="0" y="348488"/>
                  </a:moveTo>
                  <a:cubicBezTo>
                    <a:pt x="0" y="156083"/>
                    <a:pt x="156083" y="0"/>
                    <a:pt x="348488" y="0"/>
                  </a:cubicBezTo>
                  <a:lnTo>
                    <a:pt x="1372235" y="0"/>
                  </a:lnTo>
                  <a:cubicBezTo>
                    <a:pt x="1564767" y="0"/>
                    <a:pt x="1720723" y="156083"/>
                    <a:pt x="1720723" y="348488"/>
                  </a:cubicBezTo>
                  <a:lnTo>
                    <a:pt x="1720723" y="1048131"/>
                  </a:lnTo>
                  <a:cubicBezTo>
                    <a:pt x="1720723" y="1240663"/>
                    <a:pt x="1564640" y="1396619"/>
                    <a:pt x="1372235" y="1396619"/>
                  </a:cubicBezTo>
                  <a:lnTo>
                    <a:pt x="348488" y="1396619"/>
                  </a:lnTo>
                  <a:cubicBezTo>
                    <a:pt x="156083" y="1396619"/>
                    <a:pt x="0" y="1240663"/>
                    <a:pt x="0" y="1048131"/>
                  </a:cubicBezTo>
                  <a:close/>
                </a:path>
              </a:pathLst>
            </a:custGeom>
            <a:solidFill>
              <a:srgbClr val="299DC0"/>
            </a:solidFill>
          </p:spPr>
        </p:sp>
      </p:grpSp>
      <p:grpSp>
        <p:nvGrpSpPr>
          <p:cNvPr name="Group 6" id="6"/>
          <p:cNvGrpSpPr/>
          <p:nvPr/>
        </p:nvGrpSpPr>
        <p:grpSpPr>
          <a:xfrm rot="0">
            <a:off x="2429918" y="6867561"/>
            <a:ext cx="6187407" cy="3015274"/>
            <a:chOff x="0" y="0"/>
            <a:chExt cx="6886577" cy="3355997"/>
          </a:xfrm>
        </p:grpSpPr>
        <p:sp>
          <p:nvSpPr>
            <p:cNvPr name="Freeform 7" id="7"/>
            <p:cNvSpPr/>
            <p:nvPr/>
          </p:nvSpPr>
          <p:spPr>
            <a:xfrm flipH="false" flipV="false" rot="0">
              <a:off x="0" y="0"/>
              <a:ext cx="6886561" cy="3356029"/>
            </a:xfrm>
            <a:custGeom>
              <a:avLst/>
              <a:gdLst/>
              <a:ahLst/>
              <a:cxnLst/>
              <a:rect r="r" b="b" t="t" l="l"/>
              <a:pathLst>
                <a:path h="3356029" w="6886561">
                  <a:moveTo>
                    <a:pt x="0" y="482474"/>
                  </a:moveTo>
                  <a:cubicBezTo>
                    <a:pt x="0" y="215978"/>
                    <a:pt x="261199" y="0"/>
                    <a:pt x="583082" y="0"/>
                  </a:cubicBezTo>
                  <a:lnTo>
                    <a:pt x="6303478" y="0"/>
                  </a:lnTo>
                  <a:lnTo>
                    <a:pt x="6303478" y="14190"/>
                  </a:lnTo>
                  <a:lnTo>
                    <a:pt x="6303478" y="0"/>
                  </a:lnTo>
                  <a:cubicBezTo>
                    <a:pt x="6625533" y="0"/>
                    <a:pt x="6886561" y="215978"/>
                    <a:pt x="6886561" y="482474"/>
                  </a:cubicBezTo>
                  <a:lnTo>
                    <a:pt x="6869467" y="482474"/>
                  </a:lnTo>
                  <a:lnTo>
                    <a:pt x="6886561" y="482474"/>
                  </a:lnTo>
                  <a:lnTo>
                    <a:pt x="6886561" y="2873559"/>
                  </a:lnTo>
                  <a:lnTo>
                    <a:pt x="6869467" y="2873559"/>
                  </a:lnTo>
                  <a:lnTo>
                    <a:pt x="6886561" y="2873559"/>
                  </a:lnTo>
                  <a:cubicBezTo>
                    <a:pt x="6886561" y="3140054"/>
                    <a:pt x="6625361" y="3356029"/>
                    <a:pt x="6303478" y="3356029"/>
                  </a:cubicBezTo>
                  <a:lnTo>
                    <a:pt x="6303478" y="3341842"/>
                  </a:lnTo>
                  <a:lnTo>
                    <a:pt x="6303478" y="3356029"/>
                  </a:lnTo>
                  <a:lnTo>
                    <a:pt x="583082" y="3356029"/>
                  </a:lnTo>
                  <a:lnTo>
                    <a:pt x="583082" y="3341842"/>
                  </a:lnTo>
                  <a:lnTo>
                    <a:pt x="583082" y="3356029"/>
                  </a:lnTo>
                  <a:cubicBezTo>
                    <a:pt x="261199" y="3356029"/>
                    <a:pt x="0" y="3140054"/>
                    <a:pt x="0" y="2873559"/>
                  </a:cubicBezTo>
                  <a:lnTo>
                    <a:pt x="0" y="482474"/>
                  </a:lnTo>
                  <a:lnTo>
                    <a:pt x="17094" y="482474"/>
                  </a:lnTo>
                  <a:lnTo>
                    <a:pt x="0" y="482474"/>
                  </a:lnTo>
                  <a:moveTo>
                    <a:pt x="34188" y="482474"/>
                  </a:moveTo>
                  <a:lnTo>
                    <a:pt x="34188" y="2873559"/>
                  </a:lnTo>
                  <a:lnTo>
                    <a:pt x="17094" y="2873559"/>
                  </a:lnTo>
                  <a:lnTo>
                    <a:pt x="34188" y="2873559"/>
                  </a:lnTo>
                  <a:cubicBezTo>
                    <a:pt x="34188" y="3124303"/>
                    <a:pt x="279832" y="3327652"/>
                    <a:pt x="583082" y="3327652"/>
                  </a:cubicBezTo>
                  <a:lnTo>
                    <a:pt x="6303478" y="3327652"/>
                  </a:lnTo>
                  <a:cubicBezTo>
                    <a:pt x="6606729" y="3327652"/>
                    <a:pt x="6852373" y="3124303"/>
                    <a:pt x="6852373" y="2873559"/>
                  </a:cubicBezTo>
                  <a:lnTo>
                    <a:pt x="6852373" y="482474"/>
                  </a:lnTo>
                  <a:cubicBezTo>
                    <a:pt x="6852373" y="231729"/>
                    <a:pt x="6606729" y="28381"/>
                    <a:pt x="6303478" y="28381"/>
                  </a:cubicBezTo>
                  <a:lnTo>
                    <a:pt x="583082" y="28381"/>
                  </a:lnTo>
                  <a:lnTo>
                    <a:pt x="583082" y="14190"/>
                  </a:lnTo>
                  <a:lnTo>
                    <a:pt x="583082" y="28381"/>
                  </a:lnTo>
                  <a:cubicBezTo>
                    <a:pt x="279832" y="28381"/>
                    <a:pt x="34188" y="231729"/>
                    <a:pt x="34188" y="482474"/>
                  </a:cubicBezTo>
                  <a:close/>
                </a:path>
              </a:pathLst>
            </a:custGeom>
            <a:solidFill>
              <a:srgbClr val="A6A6A6"/>
            </a:solidFill>
          </p:spPr>
        </p:sp>
      </p:grpSp>
      <p:grpSp>
        <p:nvGrpSpPr>
          <p:cNvPr name="Group 8" id="8"/>
          <p:cNvGrpSpPr/>
          <p:nvPr/>
        </p:nvGrpSpPr>
        <p:grpSpPr>
          <a:xfrm rot="0">
            <a:off x="-1891467" y="421672"/>
            <a:ext cx="15563539" cy="1214056"/>
            <a:chOff x="0" y="0"/>
            <a:chExt cx="20751385" cy="1618742"/>
          </a:xfrm>
        </p:grpSpPr>
        <p:grpSp>
          <p:nvGrpSpPr>
            <p:cNvPr name="Group 9" id="9"/>
            <p:cNvGrpSpPr/>
            <p:nvPr/>
          </p:nvGrpSpPr>
          <p:grpSpPr>
            <a:xfrm rot="0">
              <a:off x="0" y="0"/>
              <a:ext cx="20751385" cy="1618742"/>
              <a:chOff x="0" y="0"/>
              <a:chExt cx="2427362" cy="189350"/>
            </a:xfrm>
          </p:grpSpPr>
          <p:sp>
            <p:nvSpPr>
              <p:cNvPr name="Freeform 10" id="10"/>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11" id="11"/>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12" id="12"/>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2.1 </a:t>
              </a:r>
              <a:r>
                <a:rPr lang="en-US" b="true" sz="5000" spc="769">
                  <a:solidFill>
                    <a:srgbClr val="FFFFFF"/>
                  </a:solidFill>
                  <a:latin typeface="Roboto Bold"/>
                  <a:ea typeface="Roboto Bold"/>
                  <a:cs typeface="Roboto Bold"/>
                  <a:sym typeface="Roboto Bold"/>
                </a:rPr>
                <a:t>TÓM TẮT NỘI DUNG ĐỀ TÀI</a:t>
              </a:r>
            </a:p>
          </p:txBody>
        </p:sp>
      </p:grpSp>
      <p:grpSp>
        <p:nvGrpSpPr>
          <p:cNvPr name="Group 13" id="13"/>
          <p:cNvGrpSpPr/>
          <p:nvPr/>
        </p:nvGrpSpPr>
        <p:grpSpPr>
          <a:xfrm rot="0">
            <a:off x="10150097" y="2807634"/>
            <a:ext cx="6187407" cy="3015274"/>
            <a:chOff x="0" y="0"/>
            <a:chExt cx="6886577" cy="3355997"/>
          </a:xfrm>
        </p:grpSpPr>
        <p:sp>
          <p:nvSpPr>
            <p:cNvPr name="Freeform 14" id="14"/>
            <p:cNvSpPr/>
            <p:nvPr/>
          </p:nvSpPr>
          <p:spPr>
            <a:xfrm flipH="false" flipV="false" rot="0">
              <a:off x="0" y="0"/>
              <a:ext cx="6886561" cy="3356029"/>
            </a:xfrm>
            <a:custGeom>
              <a:avLst/>
              <a:gdLst/>
              <a:ahLst/>
              <a:cxnLst/>
              <a:rect r="r" b="b" t="t" l="l"/>
              <a:pathLst>
                <a:path h="3356029" w="6886561">
                  <a:moveTo>
                    <a:pt x="0" y="482474"/>
                  </a:moveTo>
                  <a:cubicBezTo>
                    <a:pt x="0" y="215978"/>
                    <a:pt x="261199" y="0"/>
                    <a:pt x="583082" y="0"/>
                  </a:cubicBezTo>
                  <a:lnTo>
                    <a:pt x="6303478" y="0"/>
                  </a:lnTo>
                  <a:lnTo>
                    <a:pt x="6303478" y="14190"/>
                  </a:lnTo>
                  <a:lnTo>
                    <a:pt x="6303478" y="0"/>
                  </a:lnTo>
                  <a:cubicBezTo>
                    <a:pt x="6625533" y="0"/>
                    <a:pt x="6886561" y="215978"/>
                    <a:pt x="6886561" y="482474"/>
                  </a:cubicBezTo>
                  <a:lnTo>
                    <a:pt x="6869467" y="482474"/>
                  </a:lnTo>
                  <a:lnTo>
                    <a:pt x="6886561" y="482474"/>
                  </a:lnTo>
                  <a:lnTo>
                    <a:pt x="6886561" y="2873559"/>
                  </a:lnTo>
                  <a:lnTo>
                    <a:pt x="6869467" y="2873559"/>
                  </a:lnTo>
                  <a:lnTo>
                    <a:pt x="6886561" y="2873559"/>
                  </a:lnTo>
                  <a:cubicBezTo>
                    <a:pt x="6886561" y="3140054"/>
                    <a:pt x="6625361" y="3356029"/>
                    <a:pt x="6303478" y="3356029"/>
                  </a:cubicBezTo>
                  <a:lnTo>
                    <a:pt x="6303478" y="3341842"/>
                  </a:lnTo>
                  <a:lnTo>
                    <a:pt x="6303478" y="3356029"/>
                  </a:lnTo>
                  <a:lnTo>
                    <a:pt x="583082" y="3356029"/>
                  </a:lnTo>
                  <a:lnTo>
                    <a:pt x="583082" y="3341842"/>
                  </a:lnTo>
                  <a:lnTo>
                    <a:pt x="583082" y="3356029"/>
                  </a:lnTo>
                  <a:cubicBezTo>
                    <a:pt x="261199" y="3356029"/>
                    <a:pt x="0" y="3140054"/>
                    <a:pt x="0" y="2873559"/>
                  </a:cubicBezTo>
                  <a:lnTo>
                    <a:pt x="0" y="482474"/>
                  </a:lnTo>
                  <a:lnTo>
                    <a:pt x="17094" y="482474"/>
                  </a:lnTo>
                  <a:lnTo>
                    <a:pt x="0" y="482474"/>
                  </a:lnTo>
                  <a:moveTo>
                    <a:pt x="34188" y="482474"/>
                  </a:moveTo>
                  <a:lnTo>
                    <a:pt x="34188" y="2873559"/>
                  </a:lnTo>
                  <a:lnTo>
                    <a:pt x="17094" y="2873559"/>
                  </a:lnTo>
                  <a:lnTo>
                    <a:pt x="34188" y="2873559"/>
                  </a:lnTo>
                  <a:cubicBezTo>
                    <a:pt x="34188" y="3124303"/>
                    <a:pt x="279832" y="3327652"/>
                    <a:pt x="583082" y="3327652"/>
                  </a:cubicBezTo>
                  <a:lnTo>
                    <a:pt x="6303478" y="3327652"/>
                  </a:lnTo>
                  <a:cubicBezTo>
                    <a:pt x="6606729" y="3327652"/>
                    <a:pt x="6852373" y="3124303"/>
                    <a:pt x="6852373" y="2873559"/>
                  </a:cubicBezTo>
                  <a:lnTo>
                    <a:pt x="6852373" y="482474"/>
                  </a:lnTo>
                  <a:cubicBezTo>
                    <a:pt x="6852373" y="231729"/>
                    <a:pt x="6606729" y="28381"/>
                    <a:pt x="6303478" y="28381"/>
                  </a:cubicBezTo>
                  <a:lnTo>
                    <a:pt x="583082" y="28381"/>
                  </a:lnTo>
                  <a:lnTo>
                    <a:pt x="583082" y="14190"/>
                  </a:lnTo>
                  <a:lnTo>
                    <a:pt x="583082" y="28381"/>
                  </a:lnTo>
                  <a:cubicBezTo>
                    <a:pt x="279832" y="28381"/>
                    <a:pt x="34188" y="231729"/>
                    <a:pt x="34188" y="482474"/>
                  </a:cubicBezTo>
                  <a:close/>
                </a:path>
              </a:pathLst>
            </a:custGeom>
            <a:solidFill>
              <a:srgbClr val="A6A6A6"/>
            </a:solidFill>
          </p:spPr>
        </p:sp>
      </p:grpSp>
      <p:grpSp>
        <p:nvGrpSpPr>
          <p:cNvPr name="Group 15" id="15"/>
          <p:cNvGrpSpPr/>
          <p:nvPr/>
        </p:nvGrpSpPr>
        <p:grpSpPr>
          <a:xfrm rot="0">
            <a:off x="12470768" y="2162382"/>
            <a:ext cx="1546066" cy="1254878"/>
            <a:chOff x="0" y="0"/>
            <a:chExt cx="2061421" cy="1673171"/>
          </a:xfrm>
        </p:grpSpPr>
        <p:grpSp>
          <p:nvGrpSpPr>
            <p:cNvPr name="Group 16" id="16"/>
            <p:cNvGrpSpPr/>
            <p:nvPr/>
          </p:nvGrpSpPr>
          <p:grpSpPr>
            <a:xfrm rot="0">
              <a:off x="0" y="0"/>
              <a:ext cx="2061421" cy="1673171"/>
              <a:chOff x="0" y="0"/>
              <a:chExt cx="1720770" cy="1396678"/>
            </a:xfrm>
          </p:grpSpPr>
          <p:sp>
            <p:nvSpPr>
              <p:cNvPr name="Freeform 17" id="17"/>
              <p:cNvSpPr/>
              <p:nvPr/>
            </p:nvSpPr>
            <p:spPr>
              <a:xfrm flipH="false" flipV="false" rot="0">
                <a:off x="0" y="0"/>
                <a:ext cx="1720723" cy="1396619"/>
              </a:xfrm>
              <a:custGeom>
                <a:avLst/>
                <a:gdLst/>
                <a:ahLst/>
                <a:cxnLst/>
                <a:rect r="r" b="b" t="t" l="l"/>
                <a:pathLst>
                  <a:path h="1396619" w="1720723">
                    <a:moveTo>
                      <a:pt x="0" y="348488"/>
                    </a:moveTo>
                    <a:cubicBezTo>
                      <a:pt x="0" y="156083"/>
                      <a:pt x="156083" y="0"/>
                      <a:pt x="348488" y="0"/>
                    </a:cubicBezTo>
                    <a:lnTo>
                      <a:pt x="1372235" y="0"/>
                    </a:lnTo>
                    <a:cubicBezTo>
                      <a:pt x="1564767" y="0"/>
                      <a:pt x="1720723" y="156083"/>
                      <a:pt x="1720723" y="348488"/>
                    </a:cubicBezTo>
                    <a:lnTo>
                      <a:pt x="1720723" y="1048131"/>
                    </a:lnTo>
                    <a:cubicBezTo>
                      <a:pt x="1720723" y="1240663"/>
                      <a:pt x="1564640" y="1396619"/>
                      <a:pt x="1372235" y="1396619"/>
                    </a:cubicBezTo>
                    <a:lnTo>
                      <a:pt x="348488" y="1396619"/>
                    </a:lnTo>
                    <a:cubicBezTo>
                      <a:pt x="156083" y="1396619"/>
                      <a:pt x="0" y="1240663"/>
                      <a:pt x="0" y="1048131"/>
                    </a:cubicBezTo>
                    <a:close/>
                  </a:path>
                </a:pathLst>
              </a:custGeom>
              <a:solidFill>
                <a:srgbClr val="264C9A"/>
              </a:solidFill>
            </p:spPr>
          </p:sp>
        </p:grpSp>
        <p:sp>
          <p:nvSpPr>
            <p:cNvPr name="Freeform 18" id="18"/>
            <p:cNvSpPr/>
            <p:nvPr/>
          </p:nvSpPr>
          <p:spPr>
            <a:xfrm flipH="false" flipV="false" rot="0">
              <a:off x="605078" y="474411"/>
              <a:ext cx="851266" cy="724350"/>
            </a:xfrm>
            <a:custGeom>
              <a:avLst/>
              <a:gdLst/>
              <a:ahLst/>
              <a:cxnLst/>
              <a:rect r="r" b="b" t="t" l="l"/>
              <a:pathLst>
                <a:path h="724350" w="851266">
                  <a:moveTo>
                    <a:pt x="0" y="0"/>
                  </a:moveTo>
                  <a:lnTo>
                    <a:pt x="851266" y="0"/>
                  </a:lnTo>
                  <a:lnTo>
                    <a:pt x="851266" y="724349"/>
                  </a:lnTo>
                  <a:lnTo>
                    <a:pt x="0" y="7243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19" id="19"/>
          <p:cNvGrpSpPr/>
          <p:nvPr/>
        </p:nvGrpSpPr>
        <p:grpSpPr>
          <a:xfrm rot="0">
            <a:off x="10150097" y="6854812"/>
            <a:ext cx="6187407" cy="3015274"/>
            <a:chOff x="0" y="0"/>
            <a:chExt cx="6886577" cy="3355997"/>
          </a:xfrm>
        </p:grpSpPr>
        <p:sp>
          <p:nvSpPr>
            <p:cNvPr name="Freeform 20" id="20"/>
            <p:cNvSpPr/>
            <p:nvPr/>
          </p:nvSpPr>
          <p:spPr>
            <a:xfrm flipH="false" flipV="false" rot="0">
              <a:off x="0" y="0"/>
              <a:ext cx="6886561" cy="3356029"/>
            </a:xfrm>
            <a:custGeom>
              <a:avLst/>
              <a:gdLst/>
              <a:ahLst/>
              <a:cxnLst/>
              <a:rect r="r" b="b" t="t" l="l"/>
              <a:pathLst>
                <a:path h="3356029" w="6886561">
                  <a:moveTo>
                    <a:pt x="0" y="482474"/>
                  </a:moveTo>
                  <a:cubicBezTo>
                    <a:pt x="0" y="215978"/>
                    <a:pt x="261199" y="0"/>
                    <a:pt x="583082" y="0"/>
                  </a:cubicBezTo>
                  <a:lnTo>
                    <a:pt x="6303478" y="0"/>
                  </a:lnTo>
                  <a:lnTo>
                    <a:pt x="6303478" y="14190"/>
                  </a:lnTo>
                  <a:lnTo>
                    <a:pt x="6303478" y="0"/>
                  </a:lnTo>
                  <a:cubicBezTo>
                    <a:pt x="6625533" y="0"/>
                    <a:pt x="6886561" y="215978"/>
                    <a:pt x="6886561" y="482474"/>
                  </a:cubicBezTo>
                  <a:lnTo>
                    <a:pt x="6869467" y="482474"/>
                  </a:lnTo>
                  <a:lnTo>
                    <a:pt x="6886561" y="482474"/>
                  </a:lnTo>
                  <a:lnTo>
                    <a:pt x="6886561" y="2873559"/>
                  </a:lnTo>
                  <a:lnTo>
                    <a:pt x="6869467" y="2873559"/>
                  </a:lnTo>
                  <a:lnTo>
                    <a:pt x="6886561" y="2873559"/>
                  </a:lnTo>
                  <a:cubicBezTo>
                    <a:pt x="6886561" y="3140054"/>
                    <a:pt x="6625361" y="3356029"/>
                    <a:pt x="6303478" y="3356029"/>
                  </a:cubicBezTo>
                  <a:lnTo>
                    <a:pt x="6303478" y="3341842"/>
                  </a:lnTo>
                  <a:lnTo>
                    <a:pt x="6303478" y="3356029"/>
                  </a:lnTo>
                  <a:lnTo>
                    <a:pt x="583082" y="3356029"/>
                  </a:lnTo>
                  <a:lnTo>
                    <a:pt x="583082" y="3341842"/>
                  </a:lnTo>
                  <a:lnTo>
                    <a:pt x="583082" y="3356029"/>
                  </a:lnTo>
                  <a:cubicBezTo>
                    <a:pt x="261199" y="3356029"/>
                    <a:pt x="0" y="3140054"/>
                    <a:pt x="0" y="2873559"/>
                  </a:cubicBezTo>
                  <a:lnTo>
                    <a:pt x="0" y="482474"/>
                  </a:lnTo>
                  <a:lnTo>
                    <a:pt x="17094" y="482474"/>
                  </a:lnTo>
                  <a:lnTo>
                    <a:pt x="0" y="482474"/>
                  </a:lnTo>
                  <a:moveTo>
                    <a:pt x="34188" y="482474"/>
                  </a:moveTo>
                  <a:lnTo>
                    <a:pt x="34188" y="2873559"/>
                  </a:lnTo>
                  <a:lnTo>
                    <a:pt x="17094" y="2873559"/>
                  </a:lnTo>
                  <a:lnTo>
                    <a:pt x="34188" y="2873559"/>
                  </a:lnTo>
                  <a:cubicBezTo>
                    <a:pt x="34188" y="3124303"/>
                    <a:pt x="279832" y="3327652"/>
                    <a:pt x="583082" y="3327652"/>
                  </a:cubicBezTo>
                  <a:lnTo>
                    <a:pt x="6303478" y="3327652"/>
                  </a:lnTo>
                  <a:cubicBezTo>
                    <a:pt x="6606729" y="3327652"/>
                    <a:pt x="6852373" y="3124303"/>
                    <a:pt x="6852373" y="2873559"/>
                  </a:cubicBezTo>
                  <a:lnTo>
                    <a:pt x="6852373" y="482474"/>
                  </a:lnTo>
                  <a:cubicBezTo>
                    <a:pt x="6852373" y="231729"/>
                    <a:pt x="6606729" y="28381"/>
                    <a:pt x="6303478" y="28381"/>
                  </a:cubicBezTo>
                  <a:lnTo>
                    <a:pt x="583082" y="28381"/>
                  </a:lnTo>
                  <a:lnTo>
                    <a:pt x="583082" y="14190"/>
                  </a:lnTo>
                  <a:lnTo>
                    <a:pt x="583082" y="28381"/>
                  </a:lnTo>
                  <a:cubicBezTo>
                    <a:pt x="279832" y="28381"/>
                    <a:pt x="34188" y="231729"/>
                    <a:pt x="34188" y="482474"/>
                  </a:cubicBezTo>
                  <a:close/>
                </a:path>
              </a:pathLst>
            </a:custGeom>
            <a:solidFill>
              <a:srgbClr val="A6A6A6"/>
            </a:solidFill>
          </p:spPr>
        </p:sp>
      </p:grpSp>
      <p:grpSp>
        <p:nvGrpSpPr>
          <p:cNvPr name="Group 21" id="21"/>
          <p:cNvGrpSpPr/>
          <p:nvPr/>
        </p:nvGrpSpPr>
        <p:grpSpPr>
          <a:xfrm rot="0">
            <a:off x="12470768" y="6227372"/>
            <a:ext cx="1546066" cy="1254878"/>
            <a:chOff x="0" y="0"/>
            <a:chExt cx="2061421" cy="1673171"/>
          </a:xfrm>
        </p:grpSpPr>
        <p:grpSp>
          <p:nvGrpSpPr>
            <p:cNvPr name="Group 22" id="22"/>
            <p:cNvGrpSpPr/>
            <p:nvPr/>
          </p:nvGrpSpPr>
          <p:grpSpPr>
            <a:xfrm rot="0">
              <a:off x="0" y="0"/>
              <a:ext cx="2061421" cy="1673171"/>
              <a:chOff x="0" y="0"/>
              <a:chExt cx="1720770" cy="1396678"/>
            </a:xfrm>
          </p:grpSpPr>
          <p:sp>
            <p:nvSpPr>
              <p:cNvPr name="Freeform 23" id="23"/>
              <p:cNvSpPr/>
              <p:nvPr/>
            </p:nvSpPr>
            <p:spPr>
              <a:xfrm flipH="false" flipV="false" rot="0">
                <a:off x="0" y="0"/>
                <a:ext cx="1720723" cy="1396619"/>
              </a:xfrm>
              <a:custGeom>
                <a:avLst/>
                <a:gdLst/>
                <a:ahLst/>
                <a:cxnLst/>
                <a:rect r="r" b="b" t="t" l="l"/>
                <a:pathLst>
                  <a:path h="1396619" w="1720723">
                    <a:moveTo>
                      <a:pt x="0" y="348488"/>
                    </a:moveTo>
                    <a:cubicBezTo>
                      <a:pt x="0" y="156083"/>
                      <a:pt x="156083" y="0"/>
                      <a:pt x="348488" y="0"/>
                    </a:cubicBezTo>
                    <a:lnTo>
                      <a:pt x="1372235" y="0"/>
                    </a:lnTo>
                    <a:cubicBezTo>
                      <a:pt x="1564767" y="0"/>
                      <a:pt x="1720723" y="156083"/>
                      <a:pt x="1720723" y="348488"/>
                    </a:cubicBezTo>
                    <a:lnTo>
                      <a:pt x="1720723" y="1048131"/>
                    </a:lnTo>
                    <a:cubicBezTo>
                      <a:pt x="1720723" y="1240663"/>
                      <a:pt x="1564640" y="1396619"/>
                      <a:pt x="1372235" y="1396619"/>
                    </a:cubicBezTo>
                    <a:lnTo>
                      <a:pt x="348488" y="1396619"/>
                    </a:lnTo>
                    <a:cubicBezTo>
                      <a:pt x="156083" y="1396619"/>
                      <a:pt x="0" y="1240663"/>
                      <a:pt x="0" y="1048131"/>
                    </a:cubicBezTo>
                    <a:close/>
                  </a:path>
                </a:pathLst>
              </a:custGeom>
              <a:solidFill>
                <a:srgbClr val="299DC0"/>
              </a:solidFill>
            </p:spPr>
          </p:sp>
        </p:grpSp>
        <p:sp>
          <p:nvSpPr>
            <p:cNvPr name="Freeform 24" id="24"/>
            <p:cNvSpPr/>
            <p:nvPr/>
          </p:nvSpPr>
          <p:spPr>
            <a:xfrm flipH="false" flipV="false" rot="0">
              <a:off x="535983" y="341858"/>
              <a:ext cx="989455" cy="989455"/>
            </a:xfrm>
            <a:custGeom>
              <a:avLst/>
              <a:gdLst/>
              <a:ahLst/>
              <a:cxnLst/>
              <a:rect r="r" b="b" t="t" l="l"/>
              <a:pathLst>
                <a:path h="989455" w="989455">
                  <a:moveTo>
                    <a:pt x="0" y="0"/>
                  </a:moveTo>
                  <a:lnTo>
                    <a:pt x="989455" y="0"/>
                  </a:lnTo>
                  <a:lnTo>
                    <a:pt x="989455" y="989455"/>
                  </a:lnTo>
                  <a:lnTo>
                    <a:pt x="0" y="9894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5" id="25"/>
          <p:cNvSpPr/>
          <p:nvPr/>
        </p:nvSpPr>
        <p:spPr>
          <a:xfrm flipH="false" flipV="false" rot="0">
            <a:off x="5178896" y="2445097"/>
            <a:ext cx="689449" cy="689449"/>
          </a:xfrm>
          <a:custGeom>
            <a:avLst/>
            <a:gdLst/>
            <a:ahLst/>
            <a:cxnLst/>
            <a:rect r="r" b="b" t="t" l="l"/>
            <a:pathLst>
              <a:path h="689449" w="689449">
                <a:moveTo>
                  <a:pt x="0" y="0"/>
                </a:moveTo>
                <a:lnTo>
                  <a:pt x="689449" y="0"/>
                </a:lnTo>
                <a:lnTo>
                  <a:pt x="689449" y="689449"/>
                </a:lnTo>
                <a:lnTo>
                  <a:pt x="0" y="689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4750588" y="6240122"/>
            <a:ext cx="1546066" cy="1254878"/>
            <a:chOff x="0" y="0"/>
            <a:chExt cx="2061421" cy="1673171"/>
          </a:xfrm>
        </p:grpSpPr>
        <p:grpSp>
          <p:nvGrpSpPr>
            <p:cNvPr name="Group 27" id="27"/>
            <p:cNvGrpSpPr/>
            <p:nvPr/>
          </p:nvGrpSpPr>
          <p:grpSpPr>
            <a:xfrm rot="0">
              <a:off x="0" y="0"/>
              <a:ext cx="2061421" cy="1673171"/>
              <a:chOff x="0" y="0"/>
              <a:chExt cx="1720770" cy="1396678"/>
            </a:xfrm>
          </p:grpSpPr>
          <p:sp>
            <p:nvSpPr>
              <p:cNvPr name="Freeform 28" id="28"/>
              <p:cNvSpPr/>
              <p:nvPr/>
            </p:nvSpPr>
            <p:spPr>
              <a:xfrm flipH="false" flipV="false" rot="0">
                <a:off x="0" y="0"/>
                <a:ext cx="1720723" cy="1396619"/>
              </a:xfrm>
              <a:custGeom>
                <a:avLst/>
                <a:gdLst/>
                <a:ahLst/>
                <a:cxnLst/>
                <a:rect r="r" b="b" t="t" l="l"/>
                <a:pathLst>
                  <a:path h="1396619" w="1720723">
                    <a:moveTo>
                      <a:pt x="0" y="348488"/>
                    </a:moveTo>
                    <a:cubicBezTo>
                      <a:pt x="0" y="156083"/>
                      <a:pt x="156083" y="0"/>
                      <a:pt x="348488" y="0"/>
                    </a:cubicBezTo>
                    <a:lnTo>
                      <a:pt x="1372235" y="0"/>
                    </a:lnTo>
                    <a:cubicBezTo>
                      <a:pt x="1564767" y="0"/>
                      <a:pt x="1720723" y="156083"/>
                      <a:pt x="1720723" y="348488"/>
                    </a:cubicBezTo>
                    <a:lnTo>
                      <a:pt x="1720723" y="1048131"/>
                    </a:lnTo>
                    <a:cubicBezTo>
                      <a:pt x="1720723" y="1240663"/>
                      <a:pt x="1564640" y="1396619"/>
                      <a:pt x="1372235" y="1396619"/>
                    </a:cubicBezTo>
                    <a:lnTo>
                      <a:pt x="348488" y="1396619"/>
                    </a:lnTo>
                    <a:cubicBezTo>
                      <a:pt x="156083" y="1396619"/>
                      <a:pt x="0" y="1240663"/>
                      <a:pt x="0" y="1048131"/>
                    </a:cubicBezTo>
                    <a:close/>
                  </a:path>
                </a:pathLst>
              </a:custGeom>
              <a:solidFill>
                <a:srgbClr val="264C9A"/>
              </a:solidFill>
            </p:spPr>
          </p:sp>
        </p:grpSp>
        <p:sp>
          <p:nvSpPr>
            <p:cNvPr name="Freeform 29" id="29"/>
            <p:cNvSpPr/>
            <p:nvPr/>
          </p:nvSpPr>
          <p:spPr>
            <a:xfrm flipH="false" flipV="false" rot="0">
              <a:off x="549985" y="405450"/>
              <a:ext cx="961452" cy="833841"/>
            </a:xfrm>
            <a:custGeom>
              <a:avLst/>
              <a:gdLst/>
              <a:ahLst/>
              <a:cxnLst/>
              <a:rect r="r" b="b" t="t" l="l"/>
              <a:pathLst>
                <a:path h="833841" w="961452">
                  <a:moveTo>
                    <a:pt x="0" y="0"/>
                  </a:moveTo>
                  <a:lnTo>
                    <a:pt x="961452" y="0"/>
                  </a:lnTo>
                  <a:lnTo>
                    <a:pt x="961452" y="833841"/>
                  </a:lnTo>
                  <a:lnTo>
                    <a:pt x="0" y="83384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30" id="30"/>
          <p:cNvSpPr txBox="true"/>
          <p:nvPr/>
        </p:nvSpPr>
        <p:spPr>
          <a:xfrm rot="0">
            <a:off x="2744894" y="3775549"/>
            <a:ext cx="5251476" cy="1485900"/>
          </a:xfrm>
          <a:prstGeom prst="rect">
            <a:avLst/>
          </a:prstGeom>
        </p:spPr>
        <p:txBody>
          <a:bodyPr anchor="t" rtlCol="false" tIns="0" lIns="0" bIns="0" rIns="0">
            <a:spAutoFit/>
          </a:bodyPr>
          <a:lstStyle/>
          <a:p>
            <a:pPr algn="just">
              <a:lnSpc>
                <a:spcPts val="2994"/>
              </a:lnSpc>
            </a:pPr>
            <a:r>
              <a:rPr lang="en-US" sz="2495">
                <a:solidFill>
                  <a:srgbClr val="262626"/>
                </a:solidFill>
                <a:latin typeface="Roboto"/>
                <a:ea typeface="Roboto"/>
                <a:cs typeface="Roboto"/>
                <a:sym typeface="Roboto"/>
              </a:rPr>
              <a:t>Thiết kế và triển khai trạm cân thông minh dựa trên </a:t>
            </a:r>
            <a:r>
              <a:rPr lang="en-US" sz="2495" b="true">
                <a:solidFill>
                  <a:srgbClr val="1B4290"/>
                </a:solidFill>
                <a:latin typeface="Roboto Bold"/>
                <a:ea typeface="Roboto Bold"/>
                <a:cs typeface="Roboto Bold"/>
                <a:sym typeface="Roboto Bold"/>
              </a:rPr>
              <a:t>CRENOT Gofit S2</a:t>
            </a:r>
            <a:r>
              <a:rPr lang="en-US" sz="2495">
                <a:solidFill>
                  <a:srgbClr val="262626"/>
                </a:solidFill>
                <a:latin typeface="Roboto"/>
                <a:ea typeface="Roboto"/>
                <a:cs typeface="Roboto"/>
                <a:sym typeface="Roboto"/>
              </a:rPr>
              <a:t>, được mở rộng với thuật toán bổ sung để tăng cường chức năng</a:t>
            </a:r>
          </a:p>
        </p:txBody>
      </p:sp>
      <p:sp>
        <p:nvSpPr>
          <p:cNvPr name="TextBox 31" id="31"/>
          <p:cNvSpPr txBox="true"/>
          <p:nvPr/>
        </p:nvSpPr>
        <p:spPr>
          <a:xfrm rot="0">
            <a:off x="2897883" y="8040866"/>
            <a:ext cx="5251476" cy="1114425"/>
          </a:xfrm>
          <a:prstGeom prst="rect">
            <a:avLst/>
          </a:prstGeom>
        </p:spPr>
        <p:txBody>
          <a:bodyPr anchor="t" rtlCol="false" tIns="0" lIns="0" bIns="0" rIns="0">
            <a:spAutoFit/>
          </a:bodyPr>
          <a:lstStyle/>
          <a:p>
            <a:pPr algn="just">
              <a:lnSpc>
                <a:spcPts val="2994"/>
              </a:lnSpc>
            </a:pPr>
            <a:r>
              <a:rPr lang="en-US" sz="2495">
                <a:solidFill>
                  <a:srgbClr val="262626"/>
                </a:solidFill>
                <a:latin typeface="Roboto"/>
                <a:ea typeface="Roboto"/>
                <a:cs typeface="Roboto"/>
                <a:sym typeface="Roboto"/>
              </a:rPr>
              <a:t>Tự động hóa quá trình đo lường, đồng bộ dữ liệu và cung cấp phân tích sức khỏe theo thời gian thực</a:t>
            </a:r>
          </a:p>
        </p:txBody>
      </p:sp>
      <p:sp>
        <p:nvSpPr>
          <p:cNvPr name="TextBox 32" id="32"/>
          <p:cNvSpPr txBox="true"/>
          <p:nvPr/>
        </p:nvSpPr>
        <p:spPr>
          <a:xfrm rot="0">
            <a:off x="10618063" y="3980940"/>
            <a:ext cx="5251476" cy="742950"/>
          </a:xfrm>
          <a:prstGeom prst="rect">
            <a:avLst/>
          </a:prstGeom>
        </p:spPr>
        <p:txBody>
          <a:bodyPr anchor="t" rtlCol="false" tIns="0" lIns="0" bIns="0" rIns="0">
            <a:spAutoFit/>
          </a:bodyPr>
          <a:lstStyle/>
          <a:p>
            <a:pPr algn="just">
              <a:lnSpc>
                <a:spcPts val="2994"/>
              </a:lnSpc>
            </a:pPr>
            <a:r>
              <a:rPr lang="en-US" sz="2495">
                <a:solidFill>
                  <a:srgbClr val="262626"/>
                </a:solidFill>
                <a:latin typeface="Roboto"/>
                <a:ea typeface="Roboto"/>
                <a:cs typeface="Roboto"/>
                <a:sym typeface="Roboto"/>
              </a:rPr>
              <a:t>Nội suy các chỉ số sức khỏe dựa trên dữ liệu thu thập được.</a:t>
            </a:r>
          </a:p>
        </p:txBody>
      </p:sp>
      <p:sp>
        <p:nvSpPr>
          <p:cNvPr name="TextBox 33" id="33"/>
          <p:cNvSpPr txBox="true"/>
          <p:nvPr/>
        </p:nvSpPr>
        <p:spPr>
          <a:xfrm rot="0">
            <a:off x="10618063" y="8040866"/>
            <a:ext cx="5251476" cy="742950"/>
          </a:xfrm>
          <a:prstGeom prst="rect">
            <a:avLst/>
          </a:prstGeom>
        </p:spPr>
        <p:txBody>
          <a:bodyPr anchor="t" rtlCol="false" tIns="0" lIns="0" bIns="0" rIns="0">
            <a:spAutoFit/>
          </a:bodyPr>
          <a:lstStyle/>
          <a:p>
            <a:pPr algn="just">
              <a:lnSpc>
                <a:spcPts val="2994"/>
              </a:lnSpc>
            </a:pPr>
            <a:r>
              <a:rPr lang="en-US" sz="2495">
                <a:solidFill>
                  <a:srgbClr val="262626"/>
                </a:solidFill>
                <a:latin typeface="Roboto"/>
                <a:ea typeface="Roboto"/>
                <a:cs typeface="Roboto"/>
                <a:sym typeface="Roboto"/>
              </a:rPr>
              <a:t>Tích hợp trí tuệ nhân tạo (AI) để đưa ra khuyến nghị sức khỏe cá nhân hóa</a:t>
            </a:r>
          </a:p>
        </p:txBody>
      </p:sp>
      <p:sp>
        <p:nvSpPr>
          <p:cNvPr name="TextBox 34" id="34"/>
          <p:cNvSpPr txBox="true"/>
          <p:nvPr/>
        </p:nvSpPr>
        <p:spPr>
          <a:xfrm rot="0">
            <a:off x="16523047"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7 of 37</a:t>
            </a:r>
          </a:p>
        </p:txBody>
      </p:sp>
    </p:spTree>
  </p:cSld>
  <p:clrMapOvr>
    <a:masterClrMapping/>
  </p:clrMapOvr>
  <p:transition spd="med">
    <p:push dir="l"/>
  </p:transition>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6968384" cy="1214056"/>
            <a:chOff x="0" y="0"/>
            <a:chExt cx="22624511" cy="1618742"/>
          </a:xfrm>
        </p:grpSpPr>
        <p:grpSp>
          <p:nvGrpSpPr>
            <p:cNvPr name="Group 3" id="3"/>
            <p:cNvGrpSpPr/>
            <p:nvPr/>
          </p:nvGrpSpPr>
          <p:grpSpPr>
            <a:xfrm rot="0">
              <a:off x="0" y="0"/>
              <a:ext cx="22624511" cy="1618742"/>
              <a:chOff x="0" y="0"/>
              <a:chExt cx="2646468" cy="189350"/>
            </a:xfrm>
          </p:grpSpPr>
          <p:sp>
            <p:nvSpPr>
              <p:cNvPr name="Freeform 4" id="4"/>
              <p:cNvSpPr/>
              <p:nvPr/>
            </p:nvSpPr>
            <p:spPr>
              <a:xfrm flipH="false" flipV="false" rot="0">
                <a:off x="0" y="0"/>
                <a:ext cx="2646468" cy="189350"/>
              </a:xfrm>
              <a:custGeom>
                <a:avLst/>
                <a:gdLst/>
                <a:ahLst/>
                <a:cxnLst/>
                <a:rect r="r" b="b" t="t" l="l"/>
                <a:pathLst>
                  <a:path h="189350" w="2646468">
                    <a:moveTo>
                      <a:pt x="203200" y="0"/>
                    </a:moveTo>
                    <a:lnTo>
                      <a:pt x="2646468" y="0"/>
                    </a:lnTo>
                    <a:lnTo>
                      <a:pt x="2443268" y="189350"/>
                    </a:lnTo>
                    <a:lnTo>
                      <a:pt x="0" y="189350"/>
                    </a:lnTo>
                    <a:lnTo>
                      <a:pt x="203200" y="0"/>
                    </a:lnTo>
                    <a:close/>
                  </a:path>
                </a:pathLst>
              </a:custGeom>
              <a:solidFill>
                <a:srgbClr val="002699"/>
              </a:solidFill>
            </p:spPr>
          </p:sp>
          <p:sp>
            <p:nvSpPr>
              <p:cNvPr name="TextBox 5" id="5"/>
              <p:cNvSpPr txBox="true"/>
              <p:nvPr/>
            </p:nvSpPr>
            <p:spPr>
              <a:xfrm>
                <a:off x="101600" y="-47625"/>
                <a:ext cx="2443268"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597156" y="291846"/>
              <a:ext cx="17076025"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2.2 </a:t>
              </a:r>
              <a:r>
                <a:rPr lang="en-US" b="true" sz="5000" spc="769">
                  <a:solidFill>
                    <a:srgbClr val="FFFFFF"/>
                  </a:solidFill>
                  <a:latin typeface="Roboto Bold"/>
                  <a:ea typeface="Roboto Bold"/>
                  <a:cs typeface="Roboto Bold"/>
                  <a:sym typeface="Roboto Bold"/>
                </a:rPr>
                <a:t>YÊU CẦU VÀ MỤC TIÊU ĐỀ TÀI</a:t>
              </a:r>
            </a:p>
          </p:txBody>
        </p:sp>
      </p:grpSp>
      <p:grpSp>
        <p:nvGrpSpPr>
          <p:cNvPr name="Group 7" id="7"/>
          <p:cNvGrpSpPr/>
          <p:nvPr/>
        </p:nvGrpSpPr>
        <p:grpSpPr>
          <a:xfrm rot="0">
            <a:off x="1443586" y="2072506"/>
            <a:ext cx="7285528" cy="7814233"/>
            <a:chOff x="0" y="0"/>
            <a:chExt cx="1918822" cy="2058070"/>
          </a:xfrm>
        </p:grpSpPr>
        <p:sp>
          <p:nvSpPr>
            <p:cNvPr name="Freeform 8" id="8"/>
            <p:cNvSpPr/>
            <p:nvPr/>
          </p:nvSpPr>
          <p:spPr>
            <a:xfrm flipH="false" flipV="false" rot="0">
              <a:off x="0" y="0"/>
              <a:ext cx="1918822" cy="2058070"/>
            </a:xfrm>
            <a:custGeom>
              <a:avLst/>
              <a:gdLst/>
              <a:ahLst/>
              <a:cxnLst/>
              <a:rect r="r" b="b" t="t" l="l"/>
              <a:pathLst>
                <a:path h="2058070" w="1918822">
                  <a:moveTo>
                    <a:pt x="54195" y="0"/>
                  </a:moveTo>
                  <a:lnTo>
                    <a:pt x="1864627" y="0"/>
                  </a:lnTo>
                  <a:cubicBezTo>
                    <a:pt x="1879001" y="0"/>
                    <a:pt x="1892785" y="5710"/>
                    <a:pt x="1902949" y="15873"/>
                  </a:cubicBezTo>
                  <a:cubicBezTo>
                    <a:pt x="1913112" y="26037"/>
                    <a:pt x="1918822" y="39821"/>
                    <a:pt x="1918822" y="54195"/>
                  </a:cubicBezTo>
                  <a:lnTo>
                    <a:pt x="1918822" y="2003875"/>
                  </a:lnTo>
                  <a:cubicBezTo>
                    <a:pt x="1918822" y="2018248"/>
                    <a:pt x="1913112" y="2032033"/>
                    <a:pt x="1902949" y="2042196"/>
                  </a:cubicBezTo>
                  <a:cubicBezTo>
                    <a:pt x="1892785" y="2052360"/>
                    <a:pt x="1879001" y="2058070"/>
                    <a:pt x="1864627" y="2058070"/>
                  </a:cubicBezTo>
                  <a:lnTo>
                    <a:pt x="54195" y="2058070"/>
                  </a:lnTo>
                  <a:cubicBezTo>
                    <a:pt x="39821" y="2058070"/>
                    <a:pt x="26037" y="2052360"/>
                    <a:pt x="15873" y="2042196"/>
                  </a:cubicBezTo>
                  <a:cubicBezTo>
                    <a:pt x="5710" y="2032033"/>
                    <a:pt x="0" y="2018248"/>
                    <a:pt x="0" y="2003875"/>
                  </a:cubicBezTo>
                  <a:lnTo>
                    <a:pt x="0" y="54195"/>
                  </a:lnTo>
                  <a:cubicBezTo>
                    <a:pt x="0" y="39821"/>
                    <a:pt x="5710" y="26037"/>
                    <a:pt x="15873" y="15873"/>
                  </a:cubicBezTo>
                  <a:cubicBezTo>
                    <a:pt x="26037" y="5710"/>
                    <a:pt x="39821" y="0"/>
                    <a:pt x="54195" y="0"/>
                  </a:cubicBezTo>
                  <a:close/>
                </a:path>
              </a:pathLst>
            </a:custGeom>
            <a:solidFill>
              <a:srgbClr val="E4F0F4"/>
            </a:solidFill>
          </p:spPr>
        </p:sp>
        <p:sp>
          <p:nvSpPr>
            <p:cNvPr name="TextBox 9" id="9"/>
            <p:cNvSpPr txBox="true"/>
            <p:nvPr/>
          </p:nvSpPr>
          <p:spPr>
            <a:xfrm>
              <a:off x="0" y="-47625"/>
              <a:ext cx="1918822" cy="2105695"/>
            </a:xfrm>
            <a:prstGeom prst="rect">
              <a:avLst/>
            </a:prstGeom>
          </p:spPr>
          <p:txBody>
            <a:bodyPr anchor="ctr" rtlCol="false" tIns="50800" lIns="50800" bIns="50800" rIns="50800"/>
            <a:lstStyle/>
            <a:p>
              <a:pPr algn="ctr">
                <a:lnSpc>
                  <a:spcPts val="2592"/>
                </a:lnSpc>
              </a:pPr>
            </a:p>
          </p:txBody>
        </p:sp>
      </p:grpSp>
      <p:sp>
        <p:nvSpPr>
          <p:cNvPr name="TextBox 10" id="10"/>
          <p:cNvSpPr txBox="true"/>
          <p:nvPr/>
        </p:nvSpPr>
        <p:spPr>
          <a:xfrm rot="0">
            <a:off x="1839069" y="2246489"/>
            <a:ext cx="3247281"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1488DB"/>
                </a:solidFill>
                <a:latin typeface="Roboto Bold"/>
                <a:ea typeface="Roboto Bold"/>
                <a:cs typeface="Roboto Bold"/>
                <a:sym typeface="Roboto Bold"/>
              </a:rPr>
              <a:t>Yêu cầu đề tài</a:t>
            </a:r>
          </a:p>
        </p:txBody>
      </p:sp>
      <p:sp>
        <p:nvSpPr>
          <p:cNvPr name="TextBox 11" id="11"/>
          <p:cNvSpPr txBox="true"/>
          <p:nvPr/>
        </p:nvSpPr>
        <p:spPr>
          <a:xfrm rot="0">
            <a:off x="16789152" y="99377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8 of 37</a:t>
            </a:r>
          </a:p>
        </p:txBody>
      </p:sp>
      <p:grpSp>
        <p:nvGrpSpPr>
          <p:cNvPr name="Group 12" id="12"/>
          <p:cNvGrpSpPr/>
          <p:nvPr/>
        </p:nvGrpSpPr>
        <p:grpSpPr>
          <a:xfrm rot="0">
            <a:off x="9558886" y="2072506"/>
            <a:ext cx="7285528" cy="7814233"/>
            <a:chOff x="0" y="0"/>
            <a:chExt cx="1918822" cy="2058070"/>
          </a:xfrm>
        </p:grpSpPr>
        <p:sp>
          <p:nvSpPr>
            <p:cNvPr name="Freeform 13" id="13"/>
            <p:cNvSpPr/>
            <p:nvPr/>
          </p:nvSpPr>
          <p:spPr>
            <a:xfrm flipH="false" flipV="false" rot="0">
              <a:off x="0" y="0"/>
              <a:ext cx="1918822" cy="2058070"/>
            </a:xfrm>
            <a:custGeom>
              <a:avLst/>
              <a:gdLst/>
              <a:ahLst/>
              <a:cxnLst/>
              <a:rect r="r" b="b" t="t" l="l"/>
              <a:pathLst>
                <a:path h="2058070" w="1918822">
                  <a:moveTo>
                    <a:pt x="54195" y="0"/>
                  </a:moveTo>
                  <a:lnTo>
                    <a:pt x="1864627" y="0"/>
                  </a:lnTo>
                  <a:cubicBezTo>
                    <a:pt x="1879001" y="0"/>
                    <a:pt x="1892785" y="5710"/>
                    <a:pt x="1902949" y="15873"/>
                  </a:cubicBezTo>
                  <a:cubicBezTo>
                    <a:pt x="1913112" y="26037"/>
                    <a:pt x="1918822" y="39821"/>
                    <a:pt x="1918822" y="54195"/>
                  </a:cubicBezTo>
                  <a:lnTo>
                    <a:pt x="1918822" y="2003875"/>
                  </a:lnTo>
                  <a:cubicBezTo>
                    <a:pt x="1918822" y="2018248"/>
                    <a:pt x="1913112" y="2032033"/>
                    <a:pt x="1902949" y="2042196"/>
                  </a:cubicBezTo>
                  <a:cubicBezTo>
                    <a:pt x="1892785" y="2052360"/>
                    <a:pt x="1879001" y="2058070"/>
                    <a:pt x="1864627" y="2058070"/>
                  </a:cubicBezTo>
                  <a:lnTo>
                    <a:pt x="54195" y="2058070"/>
                  </a:lnTo>
                  <a:cubicBezTo>
                    <a:pt x="39821" y="2058070"/>
                    <a:pt x="26037" y="2052360"/>
                    <a:pt x="15873" y="2042196"/>
                  </a:cubicBezTo>
                  <a:cubicBezTo>
                    <a:pt x="5710" y="2032033"/>
                    <a:pt x="0" y="2018248"/>
                    <a:pt x="0" y="2003875"/>
                  </a:cubicBezTo>
                  <a:lnTo>
                    <a:pt x="0" y="54195"/>
                  </a:lnTo>
                  <a:cubicBezTo>
                    <a:pt x="0" y="39821"/>
                    <a:pt x="5710" y="26037"/>
                    <a:pt x="15873" y="15873"/>
                  </a:cubicBezTo>
                  <a:cubicBezTo>
                    <a:pt x="26037" y="5710"/>
                    <a:pt x="39821" y="0"/>
                    <a:pt x="54195" y="0"/>
                  </a:cubicBezTo>
                  <a:close/>
                </a:path>
              </a:pathLst>
            </a:custGeom>
            <a:solidFill>
              <a:srgbClr val="E4F0F4"/>
            </a:solidFill>
          </p:spPr>
        </p:sp>
        <p:sp>
          <p:nvSpPr>
            <p:cNvPr name="TextBox 14" id="14"/>
            <p:cNvSpPr txBox="true"/>
            <p:nvPr/>
          </p:nvSpPr>
          <p:spPr>
            <a:xfrm>
              <a:off x="0" y="-47625"/>
              <a:ext cx="1918822" cy="2105695"/>
            </a:xfrm>
            <a:prstGeom prst="rect">
              <a:avLst/>
            </a:prstGeom>
          </p:spPr>
          <p:txBody>
            <a:bodyPr anchor="ctr" rtlCol="false" tIns="50800" lIns="50800" bIns="50800" rIns="50800"/>
            <a:lstStyle/>
            <a:p>
              <a:pPr algn="ctr">
                <a:lnSpc>
                  <a:spcPts val="2592"/>
                </a:lnSpc>
              </a:pPr>
            </a:p>
          </p:txBody>
        </p:sp>
      </p:grpSp>
      <p:sp>
        <p:nvSpPr>
          <p:cNvPr name="TextBox 15" id="15"/>
          <p:cNvSpPr txBox="true"/>
          <p:nvPr/>
        </p:nvSpPr>
        <p:spPr>
          <a:xfrm rot="0">
            <a:off x="9866456" y="2246489"/>
            <a:ext cx="3412182"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CB6CE6"/>
                </a:solidFill>
                <a:latin typeface="Roboto Bold"/>
                <a:ea typeface="Roboto Bold"/>
                <a:cs typeface="Roboto Bold"/>
                <a:sym typeface="Roboto Bold"/>
              </a:rPr>
              <a:t>Mục tiêu đề tài</a:t>
            </a:r>
          </a:p>
        </p:txBody>
      </p:sp>
      <p:sp>
        <p:nvSpPr>
          <p:cNvPr name="TextBox 16" id="16"/>
          <p:cNvSpPr txBox="true"/>
          <p:nvPr/>
        </p:nvSpPr>
        <p:spPr>
          <a:xfrm rot="0">
            <a:off x="1839069" y="3009899"/>
            <a:ext cx="6451975" cy="6248401"/>
          </a:xfrm>
          <a:prstGeom prst="rect">
            <a:avLst/>
          </a:prstGeom>
        </p:spPr>
        <p:txBody>
          <a:bodyPr anchor="t" rtlCol="false" tIns="0" lIns="0" bIns="0" rIns="0">
            <a:spAutoFit/>
          </a:bodyPr>
          <a:lstStyle/>
          <a:p>
            <a:pPr algn="l">
              <a:lnSpc>
                <a:spcPts val="3599"/>
              </a:lnSpc>
              <a:spcBef>
                <a:spcPct val="0"/>
              </a:spcBef>
            </a:pPr>
            <a:r>
              <a:rPr lang="en-US" sz="2499">
                <a:solidFill>
                  <a:srgbClr val="000000"/>
                </a:solidFill>
                <a:latin typeface="Roboto"/>
                <a:ea typeface="Roboto"/>
                <a:cs typeface="Roboto"/>
                <a:sym typeface="Roboto"/>
              </a:rPr>
              <a:t>✅ </a:t>
            </a:r>
            <a:r>
              <a:rPr lang="en-US" sz="2499">
                <a:solidFill>
                  <a:srgbClr val="000000"/>
                </a:solidFill>
                <a:latin typeface="Roboto"/>
                <a:ea typeface="Roboto"/>
                <a:cs typeface="Roboto"/>
                <a:sym typeface="Roboto"/>
              </a:rPr>
              <a:t>Thu thập </a:t>
            </a:r>
            <a:r>
              <a:rPr lang="en-US" b="true" sz="2499">
                <a:solidFill>
                  <a:srgbClr val="000000"/>
                </a:solidFill>
                <a:latin typeface="Roboto Bold"/>
                <a:ea typeface="Roboto Bold"/>
                <a:cs typeface="Roboto Bold"/>
                <a:sym typeface="Roboto Bold"/>
              </a:rPr>
              <a:t>dữ liệu sức khỏe</a:t>
            </a:r>
            <a:r>
              <a:rPr lang="en-US" sz="2499">
                <a:solidFill>
                  <a:srgbClr val="000000"/>
                </a:solidFill>
                <a:latin typeface="Roboto"/>
                <a:ea typeface="Roboto"/>
                <a:cs typeface="Roboto"/>
                <a:sym typeface="Roboto"/>
              </a:rPr>
              <a:t> (cân nặng, </a:t>
            </a:r>
            <a:r>
              <a:rPr lang="en-US" b="true" sz="2499">
                <a:solidFill>
                  <a:srgbClr val="000000"/>
                </a:solidFill>
                <a:latin typeface="Roboto Bold"/>
                <a:ea typeface="Roboto Bold"/>
                <a:cs typeface="Roboto Bold"/>
                <a:sym typeface="Roboto Bold"/>
              </a:rPr>
              <a:t>BIA</a:t>
            </a:r>
            <a:r>
              <a:rPr lang="en-US" sz="2499">
                <a:solidFill>
                  <a:srgbClr val="000000"/>
                </a:solidFill>
                <a:latin typeface="Roboto"/>
                <a:ea typeface="Roboto"/>
                <a:cs typeface="Roboto"/>
                <a:sym typeface="Roboto"/>
              </a:rPr>
              <a:t>) qua </a:t>
            </a:r>
            <a:r>
              <a:rPr lang="en-US" b="true" sz="2499">
                <a:solidFill>
                  <a:srgbClr val="000000"/>
                </a:solidFill>
                <a:latin typeface="Roboto Bold"/>
                <a:ea typeface="Roboto Bold"/>
                <a:cs typeface="Roboto Bold"/>
                <a:sym typeface="Roboto Bold"/>
              </a:rPr>
              <a:t>BLE </a:t>
            </a:r>
            <a:r>
              <a:rPr lang="en-US" sz="2499">
                <a:solidFill>
                  <a:srgbClr val="000000"/>
                </a:solidFill>
                <a:latin typeface="Roboto"/>
                <a:ea typeface="Roboto"/>
                <a:cs typeface="Roboto"/>
                <a:sym typeface="Roboto"/>
              </a:rPr>
              <a:t>và </a:t>
            </a:r>
            <a:r>
              <a:rPr lang="en-US" b="true" sz="2499">
                <a:solidFill>
                  <a:srgbClr val="000000"/>
                </a:solidFill>
                <a:latin typeface="Roboto Bold"/>
                <a:ea typeface="Roboto Bold"/>
                <a:cs typeface="Roboto Bold"/>
                <a:sym typeface="Roboto Bold"/>
              </a:rPr>
              <a:t>MQTT</a:t>
            </a:r>
            <a:r>
              <a:rPr lang="en-US" sz="2499">
                <a:solidFill>
                  <a:srgbClr val="000000"/>
                </a:solidFill>
                <a:latin typeface="Roboto"/>
                <a:ea typeface="Roboto"/>
                <a:cs typeface="Roboto"/>
                <a:sym typeface="Roboto"/>
              </a:rPr>
              <a:t>, định danh người dùng qua QR.</a:t>
            </a:r>
          </a:p>
          <a:p>
            <a:pPr algn="l">
              <a:lnSpc>
                <a:spcPts val="3599"/>
              </a:lnSpc>
              <a:spcBef>
                <a:spcPct val="0"/>
              </a:spcBef>
            </a:pPr>
            <a:r>
              <a:rPr lang="en-US" sz="2499">
                <a:solidFill>
                  <a:srgbClr val="000000"/>
                </a:solidFill>
                <a:latin typeface="Roboto"/>
                <a:ea typeface="Roboto"/>
                <a:cs typeface="Roboto"/>
                <a:sym typeface="Roboto"/>
              </a:rPr>
              <a:t>✅ </a:t>
            </a:r>
            <a:r>
              <a:rPr lang="en-US" b="true" sz="2499">
                <a:solidFill>
                  <a:srgbClr val="000000"/>
                </a:solidFill>
                <a:latin typeface="Roboto Bold"/>
                <a:ea typeface="Roboto Bold"/>
                <a:cs typeface="Roboto Bold"/>
                <a:sym typeface="Roboto Bold"/>
              </a:rPr>
              <a:t>Chuẩn hóa</a:t>
            </a:r>
            <a:r>
              <a:rPr lang="en-US" sz="2499">
                <a:solidFill>
                  <a:srgbClr val="000000"/>
                </a:solidFill>
                <a:latin typeface="Roboto"/>
                <a:ea typeface="Roboto"/>
                <a:cs typeface="Roboto"/>
                <a:sym typeface="Roboto"/>
              </a:rPr>
              <a:t>, </a:t>
            </a:r>
            <a:r>
              <a:rPr lang="en-US" b="true" sz="2499">
                <a:solidFill>
                  <a:srgbClr val="000000"/>
                </a:solidFill>
                <a:latin typeface="Roboto Bold"/>
                <a:ea typeface="Roboto Bold"/>
                <a:cs typeface="Roboto Bold"/>
                <a:sym typeface="Roboto Bold"/>
              </a:rPr>
              <a:t>lọc</a:t>
            </a:r>
            <a:r>
              <a:rPr lang="en-US" sz="2499">
                <a:solidFill>
                  <a:srgbClr val="000000"/>
                </a:solidFill>
                <a:latin typeface="Roboto"/>
                <a:ea typeface="Roboto"/>
                <a:cs typeface="Roboto"/>
                <a:sym typeface="Roboto"/>
              </a:rPr>
              <a:t> và </a:t>
            </a:r>
            <a:r>
              <a:rPr lang="en-US" b="true" sz="2499">
                <a:solidFill>
                  <a:srgbClr val="000000"/>
                </a:solidFill>
                <a:latin typeface="Roboto Bold"/>
                <a:ea typeface="Roboto Bold"/>
                <a:cs typeface="Roboto Bold"/>
                <a:sym typeface="Roboto Bold"/>
              </a:rPr>
              <a:t>tính toán các chỉ số</a:t>
            </a:r>
            <a:r>
              <a:rPr lang="en-US" sz="2499">
                <a:solidFill>
                  <a:srgbClr val="000000"/>
                </a:solidFill>
                <a:latin typeface="Roboto"/>
                <a:ea typeface="Roboto"/>
                <a:cs typeface="Roboto"/>
                <a:sym typeface="Roboto"/>
              </a:rPr>
              <a:t> (BMI, BMR, mỡ, cơ, xương).</a:t>
            </a:r>
          </a:p>
          <a:p>
            <a:pPr algn="l">
              <a:lnSpc>
                <a:spcPts val="3599"/>
              </a:lnSpc>
              <a:spcBef>
                <a:spcPct val="0"/>
              </a:spcBef>
            </a:pPr>
            <a:r>
              <a:rPr lang="en-US" sz="2499">
                <a:solidFill>
                  <a:srgbClr val="000000"/>
                </a:solidFill>
                <a:latin typeface="Roboto"/>
                <a:ea typeface="Roboto"/>
                <a:cs typeface="Roboto"/>
                <a:sym typeface="Roboto"/>
              </a:rPr>
              <a:t>✅ Áp dụng </a:t>
            </a:r>
            <a:r>
              <a:rPr lang="en-US" b="true" sz="2499">
                <a:solidFill>
                  <a:srgbClr val="000000"/>
                </a:solidFill>
                <a:latin typeface="Roboto Bold"/>
                <a:ea typeface="Roboto Bold"/>
                <a:cs typeface="Roboto Bold"/>
                <a:sym typeface="Roboto Bold"/>
              </a:rPr>
              <a:t>học máy (AI)</a:t>
            </a:r>
            <a:r>
              <a:rPr lang="en-US" sz="2499">
                <a:solidFill>
                  <a:srgbClr val="000000"/>
                </a:solidFill>
                <a:latin typeface="Roboto"/>
                <a:ea typeface="Roboto"/>
                <a:cs typeface="Roboto"/>
                <a:sym typeface="Roboto"/>
              </a:rPr>
              <a:t> để </a:t>
            </a:r>
            <a:r>
              <a:rPr lang="en-US" b="true" sz="2499">
                <a:solidFill>
                  <a:srgbClr val="000000"/>
                </a:solidFill>
                <a:latin typeface="Roboto Bold"/>
                <a:ea typeface="Roboto Bold"/>
                <a:cs typeface="Roboto Bold"/>
                <a:sym typeface="Roboto Bold"/>
              </a:rPr>
              <a:t>ước lượng</a:t>
            </a:r>
            <a:r>
              <a:rPr lang="en-US" sz="2499">
                <a:solidFill>
                  <a:srgbClr val="000000"/>
                </a:solidFill>
                <a:latin typeface="Roboto"/>
                <a:ea typeface="Roboto"/>
                <a:cs typeface="Roboto"/>
                <a:sym typeface="Roboto"/>
              </a:rPr>
              <a:t> và </a:t>
            </a:r>
            <a:r>
              <a:rPr lang="en-US" b="true" sz="2499">
                <a:solidFill>
                  <a:srgbClr val="000000"/>
                </a:solidFill>
                <a:latin typeface="Roboto Bold"/>
                <a:ea typeface="Roboto Bold"/>
                <a:cs typeface="Roboto Bold"/>
                <a:sym typeface="Roboto Bold"/>
              </a:rPr>
              <a:t>báo cáo độ chính xác</a:t>
            </a:r>
            <a:r>
              <a:rPr lang="en-US" sz="2499">
                <a:solidFill>
                  <a:srgbClr val="000000"/>
                </a:solidFill>
                <a:latin typeface="Roboto"/>
                <a:ea typeface="Roboto"/>
                <a:cs typeface="Roboto"/>
                <a:sym typeface="Roboto"/>
              </a:rPr>
              <a:t>.</a:t>
            </a:r>
          </a:p>
          <a:p>
            <a:pPr algn="l">
              <a:lnSpc>
                <a:spcPts val="3599"/>
              </a:lnSpc>
              <a:spcBef>
                <a:spcPct val="0"/>
              </a:spcBef>
            </a:pPr>
            <a:r>
              <a:rPr lang="en-US" sz="2499">
                <a:solidFill>
                  <a:srgbClr val="000000"/>
                </a:solidFill>
                <a:latin typeface="Roboto"/>
                <a:ea typeface="Roboto"/>
                <a:cs typeface="Roboto"/>
                <a:sym typeface="Roboto"/>
              </a:rPr>
              <a:t>✅ Tạo </a:t>
            </a:r>
            <a:r>
              <a:rPr lang="en-US" b="true" sz="2499">
                <a:solidFill>
                  <a:srgbClr val="000000"/>
                </a:solidFill>
                <a:latin typeface="Roboto Bold"/>
                <a:ea typeface="Roboto Bold"/>
                <a:cs typeface="Roboto Bold"/>
                <a:sym typeface="Roboto Bold"/>
              </a:rPr>
              <a:t>khuyến nghị dinh dưỡng</a:t>
            </a:r>
            <a:r>
              <a:rPr lang="en-US" sz="2499">
                <a:solidFill>
                  <a:srgbClr val="000000"/>
                </a:solidFill>
                <a:latin typeface="Roboto"/>
                <a:ea typeface="Roboto"/>
                <a:cs typeface="Roboto"/>
                <a:sym typeface="Roboto"/>
              </a:rPr>
              <a:t>, </a:t>
            </a:r>
            <a:r>
              <a:rPr lang="en-US" b="true" sz="2499">
                <a:solidFill>
                  <a:srgbClr val="000000"/>
                </a:solidFill>
                <a:latin typeface="Roboto Bold"/>
                <a:ea typeface="Roboto Bold"/>
                <a:cs typeface="Roboto Bold"/>
                <a:sym typeface="Roboto Bold"/>
              </a:rPr>
              <a:t>vận động cá nhân</a:t>
            </a:r>
            <a:r>
              <a:rPr lang="en-US" sz="2499">
                <a:solidFill>
                  <a:srgbClr val="000000"/>
                </a:solidFill>
                <a:latin typeface="Roboto"/>
                <a:ea typeface="Roboto"/>
                <a:cs typeface="Roboto"/>
                <a:sym typeface="Roboto"/>
              </a:rPr>
              <a:t> hóa và </a:t>
            </a:r>
            <a:r>
              <a:rPr lang="en-US" b="true" sz="2499">
                <a:solidFill>
                  <a:srgbClr val="000000"/>
                </a:solidFill>
                <a:latin typeface="Roboto Bold"/>
                <a:ea typeface="Roboto Bold"/>
                <a:cs typeface="Roboto Bold"/>
                <a:sym typeface="Roboto Bold"/>
              </a:rPr>
              <a:t>cảnh báo</a:t>
            </a:r>
            <a:r>
              <a:rPr lang="en-US" sz="2499">
                <a:solidFill>
                  <a:srgbClr val="000000"/>
                </a:solidFill>
                <a:latin typeface="Roboto"/>
                <a:ea typeface="Roboto"/>
                <a:cs typeface="Roboto"/>
                <a:sym typeface="Roboto"/>
              </a:rPr>
              <a:t>.</a:t>
            </a:r>
          </a:p>
          <a:p>
            <a:pPr algn="l">
              <a:lnSpc>
                <a:spcPts val="3599"/>
              </a:lnSpc>
              <a:spcBef>
                <a:spcPct val="0"/>
              </a:spcBef>
            </a:pPr>
            <a:r>
              <a:rPr lang="en-US" sz="2499">
                <a:solidFill>
                  <a:srgbClr val="000000"/>
                </a:solidFill>
                <a:latin typeface="Roboto"/>
                <a:ea typeface="Roboto"/>
                <a:cs typeface="Roboto"/>
                <a:sym typeface="Roboto"/>
              </a:rPr>
              <a:t>✅Hỗ trợ bài </a:t>
            </a:r>
            <a:r>
              <a:rPr lang="en-US" b="true" sz="2499">
                <a:solidFill>
                  <a:srgbClr val="000000"/>
                </a:solidFill>
                <a:latin typeface="Roboto Bold"/>
                <a:ea typeface="Roboto Bold"/>
                <a:cs typeface="Roboto Bold"/>
                <a:sym typeface="Roboto Bold"/>
              </a:rPr>
              <a:t>kiểm tra thăng bằng</a:t>
            </a:r>
            <a:r>
              <a:rPr lang="en-US" sz="2499">
                <a:solidFill>
                  <a:srgbClr val="000000"/>
                </a:solidFill>
                <a:latin typeface="Roboto"/>
                <a:ea typeface="Roboto"/>
                <a:cs typeface="Roboto"/>
                <a:sym typeface="Roboto"/>
              </a:rPr>
              <a:t>.</a:t>
            </a:r>
          </a:p>
          <a:p>
            <a:pPr algn="l">
              <a:lnSpc>
                <a:spcPts val="3599"/>
              </a:lnSpc>
              <a:spcBef>
                <a:spcPct val="0"/>
              </a:spcBef>
            </a:pPr>
            <a:r>
              <a:rPr lang="en-US" sz="2499">
                <a:solidFill>
                  <a:srgbClr val="000000"/>
                </a:solidFill>
                <a:latin typeface="Roboto"/>
                <a:ea typeface="Roboto"/>
                <a:cs typeface="Roboto"/>
                <a:sym typeface="Roboto"/>
              </a:rPr>
              <a:t>✅Cung cấp </a:t>
            </a:r>
            <a:r>
              <a:rPr lang="en-US" b="true" sz="2499">
                <a:solidFill>
                  <a:srgbClr val="000000"/>
                </a:solidFill>
                <a:latin typeface="Roboto Bold"/>
                <a:ea typeface="Roboto Bold"/>
                <a:cs typeface="Roboto Bold"/>
                <a:sym typeface="Roboto Bold"/>
              </a:rPr>
              <a:t>dashboard web tương tác</a:t>
            </a:r>
            <a:r>
              <a:rPr lang="en-US" sz="2499">
                <a:solidFill>
                  <a:srgbClr val="000000"/>
                </a:solidFill>
                <a:latin typeface="Roboto"/>
                <a:ea typeface="Roboto"/>
                <a:cs typeface="Roboto"/>
                <a:sym typeface="Roboto"/>
              </a:rPr>
              <a:t> để theo dõi.</a:t>
            </a:r>
          </a:p>
          <a:p>
            <a:pPr algn="l">
              <a:lnSpc>
                <a:spcPts val="3599"/>
              </a:lnSpc>
              <a:spcBef>
                <a:spcPct val="0"/>
              </a:spcBef>
            </a:pPr>
            <a:r>
              <a:rPr lang="en-US" sz="2499">
                <a:solidFill>
                  <a:srgbClr val="000000"/>
                </a:solidFill>
                <a:latin typeface="Roboto"/>
                <a:ea typeface="Roboto"/>
                <a:cs typeface="Roboto"/>
                <a:sym typeface="Roboto"/>
              </a:rPr>
              <a:t>✅Đảm bảo </a:t>
            </a:r>
            <a:r>
              <a:rPr lang="en-US" b="true" sz="2499">
                <a:solidFill>
                  <a:srgbClr val="000000"/>
                </a:solidFill>
                <a:latin typeface="Roboto Bold"/>
                <a:ea typeface="Roboto Bold"/>
                <a:cs typeface="Roboto Bold"/>
                <a:sym typeface="Roboto Bold"/>
              </a:rPr>
              <a:t>an toàn</a:t>
            </a:r>
            <a:r>
              <a:rPr lang="en-US" sz="2499">
                <a:solidFill>
                  <a:srgbClr val="000000"/>
                </a:solidFill>
                <a:latin typeface="Roboto"/>
                <a:ea typeface="Roboto"/>
                <a:cs typeface="Roboto"/>
                <a:sym typeface="Roboto"/>
              </a:rPr>
              <a:t>, </a:t>
            </a:r>
            <a:r>
              <a:rPr lang="en-US" b="true" sz="2499">
                <a:solidFill>
                  <a:srgbClr val="000000"/>
                </a:solidFill>
                <a:latin typeface="Roboto Bold"/>
                <a:ea typeface="Roboto Bold"/>
                <a:cs typeface="Roboto Bold"/>
                <a:sym typeface="Roboto Bold"/>
              </a:rPr>
              <a:t>riêng tư dữ liệu</a:t>
            </a:r>
            <a:r>
              <a:rPr lang="en-US" sz="2499">
                <a:solidFill>
                  <a:srgbClr val="000000"/>
                </a:solidFill>
                <a:latin typeface="Roboto"/>
                <a:ea typeface="Roboto"/>
                <a:cs typeface="Roboto"/>
                <a:sym typeface="Roboto"/>
              </a:rPr>
              <a:t> và </a:t>
            </a:r>
            <a:r>
              <a:rPr lang="en-US" b="true" sz="2499">
                <a:solidFill>
                  <a:srgbClr val="000000"/>
                </a:solidFill>
                <a:latin typeface="Roboto Bold"/>
                <a:ea typeface="Roboto Bold"/>
                <a:cs typeface="Roboto Bold"/>
                <a:sym typeface="Roboto Bold"/>
              </a:rPr>
              <a:t>vận hành tin cậy</a:t>
            </a:r>
            <a:r>
              <a:rPr lang="en-US" sz="2499">
                <a:solidFill>
                  <a:srgbClr val="000000"/>
                </a:solidFill>
                <a:latin typeface="Roboto"/>
                <a:ea typeface="Roboto"/>
                <a:cs typeface="Roboto"/>
                <a:sym typeface="Roboto"/>
              </a:rPr>
              <a:t>.</a:t>
            </a:r>
          </a:p>
        </p:txBody>
      </p:sp>
      <p:sp>
        <p:nvSpPr>
          <p:cNvPr name="TextBox 17" id="17"/>
          <p:cNvSpPr txBox="true"/>
          <p:nvPr/>
        </p:nvSpPr>
        <p:spPr>
          <a:xfrm rot="0">
            <a:off x="9866456" y="3000374"/>
            <a:ext cx="6507810" cy="5121403"/>
          </a:xfrm>
          <a:prstGeom prst="rect">
            <a:avLst/>
          </a:prstGeom>
        </p:spPr>
        <p:txBody>
          <a:bodyPr anchor="t" rtlCol="false" tIns="0" lIns="0" bIns="0" rIns="0">
            <a:spAutoFit/>
          </a:bodyPr>
          <a:lstStyle/>
          <a:p>
            <a:pPr algn="l">
              <a:lnSpc>
                <a:spcPts val="3743"/>
              </a:lnSpc>
              <a:spcBef>
                <a:spcPct val="0"/>
              </a:spcBef>
            </a:pPr>
            <a:r>
              <a:rPr lang="en-US" sz="2599">
                <a:solidFill>
                  <a:srgbClr val="000000"/>
                </a:solidFill>
                <a:latin typeface="Roboto"/>
                <a:ea typeface="Roboto"/>
                <a:cs typeface="Roboto"/>
                <a:sym typeface="Roboto"/>
              </a:rPr>
              <a:t>📌</a:t>
            </a:r>
            <a:r>
              <a:rPr lang="en-US" sz="2599">
                <a:solidFill>
                  <a:srgbClr val="000000"/>
                </a:solidFill>
                <a:latin typeface="Roboto"/>
                <a:ea typeface="Roboto"/>
                <a:cs typeface="Roboto"/>
                <a:sym typeface="Roboto"/>
              </a:rPr>
              <a:t>Xây dựng một </a:t>
            </a:r>
            <a:r>
              <a:rPr lang="en-US" b="true" sz="2599">
                <a:solidFill>
                  <a:srgbClr val="000000"/>
                </a:solidFill>
                <a:latin typeface="Roboto Bold"/>
                <a:ea typeface="Roboto Bold"/>
                <a:cs typeface="Roboto Bold"/>
                <a:sym typeface="Roboto Bold"/>
              </a:rPr>
              <a:t>pipeline dữ liệu khép kín</a:t>
            </a:r>
            <a:r>
              <a:rPr lang="en-US" sz="2599">
                <a:solidFill>
                  <a:srgbClr val="000000"/>
                </a:solidFill>
                <a:latin typeface="Roboto"/>
                <a:ea typeface="Roboto"/>
                <a:cs typeface="Roboto"/>
                <a:sym typeface="Roboto"/>
              </a:rPr>
              <a:t>: thu thập - phân tích - trực quan - khuyến nghị.</a:t>
            </a:r>
          </a:p>
          <a:p>
            <a:pPr algn="l">
              <a:lnSpc>
                <a:spcPts val="3743"/>
              </a:lnSpc>
              <a:spcBef>
                <a:spcPct val="0"/>
              </a:spcBef>
            </a:pPr>
            <a:r>
              <a:rPr lang="en-US" sz="2599">
                <a:solidFill>
                  <a:srgbClr val="000000"/>
                </a:solidFill>
                <a:latin typeface="Roboto"/>
                <a:ea typeface="Roboto"/>
                <a:cs typeface="Roboto"/>
                <a:sym typeface="Roboto"/>
              </a:rPr>
              <a:t>📌Cung cấp </a:t>
            </a:r>
            <a:r>
              <a:rPr lang="en-US" b="true" sz="2599">
                <a:solidFill>
                  <a:srgbClr val="000000"/>
                </a:solidFill>
                <a:latin typeface="Roboto Bold"/>
                <a:ea typeface="Roboto Bold"/>
                <a:cs typeface="Roboto Bold"/>
                <a:sym typeface="Roboto Bold"/>
              </a:rPr>
              <a:t>dashboard dễ hiểu để</a:t>
            </a:r>
            <a:r>
              <a:rPr lang="en-US" sz="2599">
                <a:solidFill>
                  <a:srgbClr val="000000"/>
                </a:solidFill>
                <a:latin typeface="Roboto"/>
                <a:ea typeface="Roboto"/>
                <a:cs typeface="Roboto"/>
                <a:sym typeface="Roboto"/>
              </a:rPr>
              <a:t> theo dõi </a:t>
            </a:r>
            <a:r>
              <a:rPr lang="en-US" b="true" sz="2599">
                <a:solidFill>
                  <a:srgbClr val="000000"/>
                </a:solidFill>
                <a:latin typeface="Roboto Bold"/>
                <a:ea typeface="Roboto Bold"/>
                <a:cs typeface="Roboto Bold"/>
                <a:sym typeface="Roboto Bold"/>
              </a:rPr>
              <a:t>xu hướng dài hạn</a:t>
            </a:r>
            <a:r>
              <a:rPr lang="en-US" sz="2599">
                <a:solidFill>
                  <a:srgbClr val="000000"/>
                </a:solidFill>
                <a:latin typeface="Roboto"/>
                <a:ea typeface="Roboto"/>
                <a:cs typeface="Roboto"/>
                <a:sym typeface="Roboto"/>
              </a:rPr>
              <a:t> và </a:t>
            </a:r>
            <a:r>
              <a:rPr lang="en-US" b="true" sz="2599">
                <a:solidFill>
                  <a:srgbClr val="000000"/>
                </a:solidFill>
                <a:latin typeface="Roboto Bold"/>
                <a:ea typeface="Roboto Bold"/>
                <a:cs typeface="Roboto Bold"/>
                <a:sym typeface="Roboto Bold"/>
              </a:rPr>
              <a:t>phát hiện bất thường</a:t>
            </a:r>
            <a:r>
              <a:rPr lang="en-US" sz="2599">
                <a:solidFill>
                  <a:srgbClr val="000000"/>
                </a:solidFill>
                <a:latin typeface="Roboto"/>
                <a:ea typeface="Roboto"/>
                <a:cs typeface="Roboto"/>
                <a:sym typeface="Roboto"/>
              </a:rPr>
              <a:t>.</a:t>
            </a:r>
          </a:p>
          <a:p>
            <a:pPr algn="l">
              <a:lnSpc>
                <a:spcPts val="3743"/>
              </a:lnSpc>
              <a:spcBef>
                <a:spcPct val="0"/>
              </a:spcBef>
            </a:pPr>
            <a:r>
              <a:rPr lang="en-US" sz="2599">
                <a:solidFill>
                  <a:srgbClr val="000000"/>
                </a:solidFill>
                <a:latin typeface="Roboto"/>
                <a:ea typeface="Roboto"/>
                <a:cs typeface="Roboto"/>
                <a:sym typeface="Roboto"/>
              </a:rPr>
              <a:t>📌Triển khai </a:t>
            </a:r>
            <a:r>
              <a:rPr lang="en-US" b="true" sz="2599">
                <a:solidFill>
                  <a:srgbClr val="000000"/>
                </a:solidFill>
                <a:latin typeface="Roboto Bold"/>
                <a:ea typeface="Roboto Bold"/>
                <a:cs typeface="Roboto Bold"/>
                <a:sym typeface="Roboto Bold"/>
              </a:rPr>
              <a:t>mô-đun học máy</a:t>
            </a:r>
            <a:r>
              <a:rPr lang="en-US" sz="2599">
                <a:solidFill>
                  <a:srgbClr val="000000"/>
                </a:solidFill>
                <a:latin typeface="Roboto"/>
                <a:ea typeface="Roboto"/>
                <a:cs typeface="Roboto"/>
                <a:sym typeface="Roboto"/>
              </a:rPr>
              <a:t> cho </a:t>
            </a:r>
            <a:r>
              <a:rPr lang="en-US" b="true" sz="2599">
                <a:solidFill>
                  <a:srgbClr val="000000"/>
                </a:solidFill>
                <a:latin typeface="Roboto Bold"/>
                <a:ea typeface="Roboto Bold"/>
                <a:cs typeface="Roboto Bold"/>
                <a:sym typeface="Roboto Bold"/>
              </a:rPr>
              <a:t>khuyến nghị thích ứng</a:t>
            </a:r>
            <a:r>
              <a:rPr lang="en-US" sz="2599">
                <a:solidFill>
                  <a:srgbClr val="000000"/>
                </a:solidFill>
                <a:latin typeface="Roboto"/>
                <a:ea typeface="Roboto"/>
                <a:cs typeface="Roboto"/>
                <a:sym typeface="Roboto"/>
              </a:rPr>
              <a:t> theo hồ sơ cá nhân.</a:t>
            </a:r>
          </a:p>
          <a:p>
            <a:pPr algn="l">
              <a:lnSpc>
                <a:spcPts val="3743"/>
              </a:lnSpc>
              <a:spcBef>
                <a:spcPct val="0"/>
              </a:spcBef>
            </a:pPr>
            <a:r>
              <a:rPr lang="en-US" sz="2599">
                <a:solidFill>
                  <a:srgbClr val="000000"/>
                </a:solidFill>
                <a:latin typeface="Roboto"/>
                <a:ea typeface="Roboto"/>
                <a:cs typeface="Roboto"/>
                <a:sym typeface="Roboto"/>
              </a:rPr>
              <a:t>📌Đảm bảo </a:t>
            </a:r>
            <a:r>
              <a:rPr lang="en-US" b="true" sz="2599">
                <a:solidFill>
                  <a:srgbClr val="000000"/>
                </a:solidFill>
                <a:latin typeface="Roboto Bold"/>
                <a:ea typeface="Roboto Bold"/>
                <a:cs typeface="Roboto Bold"/>
                <a:sym typeface="Roboto Bold"/>
              </a:rPr>
              <a:t>quản trị dữ liệu an toàn</a:t>
            </a:r>
            <a:r>
              <a:rPr lang="en-US" sz="2599">
                <a:solidFill>
                  <a:srgbClr val="000000"/>
                </a:solidFill>
                <a:latin typeface="Roboto"/>
                <a:ea typeface="Roboto"/>
                <a:cs typeface="Roboto"/>
                <a:sym typeface="Roboto"/>
              </a:rPr>
              <a:t>, </a:t>
            </a:r>
            <a:r>
              <a:rPr lang="en-US" b="true" sz="2599">
                <a:solidFill>
                  <a:srgbClr val="000000"/>
                </a:solidFill>
                <a:latin typeface="Roboto Bold"/>
                <a:ea typeface="Roboto Bold"/>
                <a:cs typeface="Roboto Bold"/>
                <a:sym typeface="Roboto Bold"/>
              </a:rPr>
              <a:t>riêng tư</a:t>
            </a:r>
            <a:r>
              <a:rPr lang="en-US" sz="2599">
                <a:solidFill>
                  <a:srgbClr val="000000"/>
                </a:solidFill>
                <a:latin typeface="Roboto"/>
                <a:ea typeface="Roboto"/>
                <a:cs typeface="Roboto"/>
                <a:sym typeface="Roboto"/>
              </a:rPr>
              <a:t> và có </a:t>
            </a:r>
            <a:r>
              <a:rPr lang="en-US" b="true" sz="2599">
                <a:solidFill>
                  <a:srgbClr val="000000"/>
                </a:solidFill>
                <a:latin typeface="Roboto Bold"/>
                <a:ea typeface="Roboto Bold"/>
                <a:cs typeface="Roboto Bold"/>
                <a:sym typeface="Roboto Bold"/>
              </a:rPr>
              <a:t>khả năng mở rộng</a:t>
            </a:r>
            <a:r>
              <a:rPr lang="en-US" sz="2599">
                <a:solidFill>
                  <a:srgbClr val="000000"/>
                </a:solidFill>
                <a:latin typeface="Roboto"/>
                <a:ea typeface="Roboto"/>
                <a:cs typeface="Roboto"/>
                <a:sym typeface="Roboto"/>
              </a:rPr>
              <a:t>.</a:t>
            </a:r>
          </a:p>
          <a:p>
            <a:pPr algn="l">
              <a:lnSpc>
                <a:spcPts val="3743"/>
              </a:lnSpc>
              <a:spcBef>
                <a:spcPct val="0"/>
              </a:spcBef>
            </a:pPr>
            <a:r>
              <a:rPr lang="en-US" sz="2599">
                <a:solidFill>
                  <a:srgbClr val="000000"/>
                </a:solidFill>
                <a:latin typeface="Roboto"/>
                <a:ea typeface="Roboto"/>
                <a:cs typeface="Roboto"/>
                <a:sym typeface="Roboto"/>
              </a:rPr>
              <a:t>📌</a:t>
            </a:r>
            <a:r>
              <a:rPr lang="en-US" b="true" sz="2599">
                <a:solidFill>
                  <a:srgbClr val="000000"/>
                </a:solidFill>
                <a:latin typeface="Roboto Bold"/>
                <a:ea typeface="Roboto Bold"/>
                <a:cs typeface="Roboto Bold"/>
                <a:sym typeface="Roboto Bold"/>
              </a:rPr>
              <a:t>Đánh giá hệ thống</a:t>
            </a:r>
            <a:r>
              <a:rPr lang="en-US" sz="2599">
                <a:solidFill>
                  <a:srgbClr val="000000"/>
                </a:solidFill>
                <a:latin typeface="Roboto"/>
                <a:ea typeface="Roboto"/>
                <a:cs typeface="Roboto"/>
                <a:sym typeface="Roboto"/>
              </a:rPr>
              <a:t> qua các </a:t>
            </a:r>
            <a:r>
              <a:rPr lang="en-US" b="true" sz="2599">
                <a:solidFill>
                  <a:srgbClr val="000000"/>
                </a:solidFill>
                <a:latin typeface="Roboto Bold"/>
                <a:ea typeface="Roboto Bold"/>
                <a:cs typeface="Roboto Bold"/>
                <a:sym typeface="Roboto Bold"/>
              </a:rPr>
              <a:t>chỉ số định lượng</a:t>
            </a:r>
            <a:r>
              <a:rPr lang="en-US" sz="2599">
                <a:solidFill>
                  <a:srgbClr val="000000"/>
                </a:solidFill>
                <a:latin typeface="Roboto"/>
                <a:ea typeface="Roboto"/>
                <a:cs typeface="Roboto"/>
                <a:sym typeface="Roboto"/>
              </a:rPr>
              <a:t> và </a:t>
            </a:r>
            <a:r>
              <a:rPr lang="en-US" b="true" sz="2599">
                <a:solidFill>
                  <a:srgbClr val="000000"/>
                </a:solidFill>
                <a:latin typeface="Roboto Bold"/>
                <a:ea typeface="Roboto Bold"/>
                <a:cs typeface="Roboto Bold"/>
                <a:sym typeface="Roboto Bold"/>
              </a:rPr>
              <a:t>phản hồi của người dùng</a:t>
            </a:r>
            <a:r>
              <a:rPr lang="en-US" sz="2599">
                <a:solidFill>
                  <a:srgbClr val="000000"/>
                </a:solidFill>
                <a:latin typeface="Roboto"/>
                <a:ea typeface="Roboto"/>
                <a:cs typeface="Roboto"/>
                <a:sym typeface="Roboto"/>
              </a:rPr>
              <a:t>.</a:t>
            </a:r>
          </a:p>
        </p:txBody>
      </p:sp>
    </p:spTree>
  </p:cSld>
  <p:clrMapOvr>
    <a:masterClrMapping/>
  </p:clrMapOvr>
  <p:transition spd="med">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50317" y="0"/>
            <a:ext cx="6137684" cy="6127944"/>
            <a:chOff x="0" y="0"/>
            <a:chExt cx="8183578" cy="8170592"/>
          </a:xfrm>
        </p:grpSpPr>
        <p:sp>
          <p:nvSpPr>
            <p:cNvPr name="Freeform 3" id="3"/>
            <p:cNvSpPr/>
            <p:nvPr/>
          </p:nvSpPr>
          <p:spPr>
            <a:xfrm flipH="false" flipV="false" rot="0">
              <a:off x="0" y="0"/>
              <a:ext cx="8183626" cy="8170545"/>
            </a:xfrm>
            <a:custGeom>
              <a:avLst/>
              <a:gdLst/>
              <a:ahLst/>
              <a:cxnLst/>
              <a:rect r="r" b="b" t="t" l="l"/>
              <a:pathLst>
                <a:path h="8170545" w="8183626">
                  <a:moveTo>
                    <a:pt x="0" y="0"/>
                  </a:moveTo>
                  <a:lnTo>
                    <a:pt x="8183626" y="0"/>
                  </a:lnTo>
                  <a:lnTo>
                    <a:pt x="8183626" y="8170545"/>
                  </a:lnTo>
                  <a:lnTo>
                    <a:pt x="0" y="8170545"/>
                  </a:lnTo>
                  <a:lnTo>
                    <a:pt x="0" y="0"/>
                  </a:lnTo>
                  <a:close/>
                </a:path>
              </a:pathLst>
            </a:custGeom>
            <a:blipFill>
              <a:blip r:embed="rId2"/>
              <a:stretch>
                <a:fillRect l="0" t="-15057" r="-15172" b="0"/>
              </a:stretch>
            </a:blipFill>
          </p:spPr>
        </p:sp>
      </p:grpSp>
      <p:sp>
        <p:nvSpPr>
          <p:cNvPr name="AutoShape 4" id="4"/>
          <p:cNvSpPr/>
          <p:nvPr/>
        </p:nvSpPr>
        <p:spPr>
          <a:xfrm>
            <a:off x="1028737" y="1056473"/>
            <a:ext cx="7296656" cy="19050"/>
          </a:xfrm>
          <a:prstGeom prst="line">
            <a:avLst/>
          </a:prstGeom>
          <a:ln cap="rnd" w="28575">
            <a:solidFill>
              <a:srgbClr val="264C9A"/>
            </a:solidFill>
            <a:prstDash val="solid"/>
            <a:headEnd type="none" len="sm" w="sm"/>
            <a:tailEnd type="none" len="sm" w="sm"/>
          </a:ln>
        </p:spPr>
      </p:sp>
      <p:grpSp>
        <p:nvGrpSpPr>
          <p:cNvPr name="Group 5" id="5"/>
          <p:cNvGrpSpPr/>
          <p:nvPr/>
        </p:nvGrpSpPr>
        <p:grpSpPr>
          <a:xfrm rot="0">
            <a:off x="1028738" y="1412911"/>
            <a:ext cx="1312902" cy="1312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8" id="8"/>
          <p:cNvGrpSpPr/>
          <p:nvPr/>
        </p:nvGrpSpPr>
        <p:grpSpPr>
          <a:xfrm rot="0">
            <a:off x="1028700" y="3067464"/>
            <a:ext cx="1312902" cy="13129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1" id="11"/>
          <p:cNvGrpSpPr/>
          <p:nvPr/>
        </p:nvGrpSpPr>
        <p:grpSpPr>
          <a:xfrm rot="0">
            <a:off x="1047288" y="6548851"/>
            <a:ext cx="1312902" cy="13129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4" id="14"/>
          <p:cNvGrpSpPr/>
          <p:nvPr/>
        </p:nvGrpSpPr>
        <p:grpSpPr>
          <a:xfrm rot="0">
            <a:off x="1047288" y="8280853"/>
            <a:ext cx="1312902" cy="13129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7" id="17"/>
          <p:cNvGrpSpPr/>
          <p:nvPr/>
        </p:nvGrpSpPr>
        <p:grpSpPr>
          <a:xfrm rot="0">
            <a:off x="1047288" y="4815042"/>
            <a:ext cx="1312902" cy="13129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20" id="20"/>
          <p:cNvGrpSpPr/>
          <p:nvPr/>
        </p:nvGrpSpPr>
        <p:grpSpPr>
          <a:xfrm rot="0">
            <a:off x="-2372187" y="4951515"/>
            <a:ext cx="3086100" cy="1039956"/>
            <a:chOff x="0" y="0"/>
            <a:chExt cx="812800" cy="273898"/>
          </a:xfrm>
        </p:grpSpPr>
        <p:sp>
          <p:nvSpPr>
            <p:cNvPr name="Freeform 21" id="21"/>
            <p:cNvSpPr/>
            <p:nvPr/>
          </p:nvSpPr>
          <p:spPr>
            <a:xfrm flipH="false" flipV="false" rot="0">
              <a:off x="0" y="0"/>
              <a:ext cx="812800" cy="273898"/>
            </a:xfrm>
            <a:custGeom>
              <a:avLst/>
              <a:gdLst/>
              <a:ahLst/>
              <a:cxnLst/>
              <a:rect r="r" b="b" t="t" l="l"/>
              <a:pathLst>
                <a:path h="273898" w="812800">
                  <a:moveTo>
                    <a:pt x="609600" y="0"/>
                  </a:moveTo>
                  <a:lnTo>
                    <a:pt x="0" y="0"/>
                  </a:lnTo>
                  <a:lnTo>
                    <a:pt x="0" y="273898"/>
                  </a:lnTo>
                  <a:lnTo>
                    <a:pt x="609600" y="273898"/>
                  </a:lnTo>
                  <a:lnTo>
                    <a:pt x="812800" y="136949"/>
                  </a:lnTo>
                  <a:lnTo>
                    <a:pt x="609600" y="0"/>
                  </a:lnTo>
                  <a:close/>
                </a:path>
              </a:pathLst>
            </a:custGeom>
            <a:solidFill>
              <a:srgbClr val="01135B"/>
            </a:solidFill>
          </p:spPr>
        </p:sp>
        <p:sp>
          <p:nvSpPr>
            <p:cNvPr name="TextBox 22" id="22"/>
            <p:cNvSpPr txBox="true"/>
            <p:nvPr/>
          </p:nvSpPr>
          <p:spPr>
            <a:xfrm>
              <a:off x="0" y="-47625"/>
              <a:ext cx="698500" cy="321523"/>
            </a:xfrm>
            <a:prstGeom prst="rect">
              <a:avLst/>
            </a:prstGeom>
          </p:spPr>
          <p:txBody>
            <a:bodyPr anchor="ctr" rtlCol="false" tIns="50800" lIns="50800" bIns="50800" rIns="50800"/>
            <a:lstStyle/>
            <a:p>
              <a:pPr algn="ctr">
                <a:lnSpc>
                  <a:spcPts val="2592"/>
                </a:lnSpc>
              </a:pPr>
            </a:p>
          </p:txBody>
        </p:sp>
      </p:grpSp>
      <p:sp>
        <p:nvSpPr>
          <p:cNvPr name="TextBox 23" id="23"/>
          <p:cNvSpPr txBox="true"/>
          <p:nvPr/>
        </p:nvSpPr>
        <p:spPr>
          <a:xfrm rot="0">
            <a:off x="1028700" y="161925"/>
            <a:ext cx="3327142" cy="866775"/>
          </a:xfrm>
          <a:prstGeom prst="rect">
            <a:avLst/>
          </a:prstGeom>
        </p:spPr>
        <p:txBody>
          <a:bodyPr anchor="t" rtlCol="false" tIns="0" lIns="0" bIns="0" rIns="0">
            <a:spAutoFit/>
          </a:bodyPr>
          <a:lstStyle/>
          <a:p>
            <a:pPr algn="just">
              <a:lnSpc>
                <a:spcPts val="6720"/>
              </a:lnSpc>
            </a:pPr>
            <a:r>
              <a:rPr lang="en-US" sz="5600" b="true">
                <a:solidFill>
                  <a:srgbClr val="081861"/>
                </a:solidFill>
                <a:latin typeface="Roboto Bold"/>
                <a:ea typeface="Roboto Bold"/>
                <a:cs typeface="Roboto Bold"/>
                <a:sym typeface="Roboto Bold"/>
              </a:rPr>
              <a:t>NỘI DUNG</a:t>
            </a:r>
          </a:p>
        </p:txBody>
      </p:sp>
      <p:sp>
        <p:nvSpPr>
          <p:cNvPr name="TextBox 24" id="24"/>
          <p:cNvSpPr txBox="true"/>
          <p:nvPr/>
        </p:nvSpPr>
        <p:spPr>
          <a:xfrm rot="0">
            <a:off x="2692271" y="1773839"/>
            <a:ext cx="5818648" cy="600075"/>
          </a:xfrm>
          <a:prstGeom prst="rect">
            <a:avLst/>
          </a:prstGeom>
        </p:spPr>
        <p:txBody>
          <a:bodyPr anchor="t" rtlCol="false" tIns="0" lIns="0" bIns="0" rIns="0">
            <a:spAutoFit/>
          </a:bodyPr>
          <a:lstStyle/>
          <a:p>
            <a:pPr algn="l">
              <a:lnSpc>
                <a:spcPts val="4799"/>
              </a:lnSpc>
            </a:pPr>
            <a:r>
              <a:rPr lang="en-US" b="true" sz="3999" spc="615">
                <a:solidFill>
                  <a:srgbClr val="081861"/>
                </a:solidFill>
                <a:latin typeface="Roboto Bold"/>
                <a:ea typeface="Roboto Bold"/>
                <a:cs typeface="Roboto Bold"/>
                <a:sym typeface="Roboto Bold"/>
              </a:rPr>
              <a:t>TỔNG QUAN ĐỀ TÀI</a:t>
            </a:r>
          </a:p>
        </p:txBody>
      </p:sp>
      <p:sp>
        <p:nvSpPr>
          <p:cNvPr name="TextBox 25" id="25"/>
          <p:cNvSpPr txBox="true"/>
          <p:nvPr/>
        </p:nvSpPr>
        <p:spPr>
          <a:xfrm rot="0">
            <a:off x="2683682" y="3469289"/>
            <a:ext cx="7601139"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TÓM TẮT NỘI DUNG ĐỀ TÀI</a:t>
            </a:r>
          </a:p>
        </p:txBody>
      </p:sp>
      <p:sp>
        <p:nvSpPr>
          <p:cNvPr name="TextBox 26" id="26"/>
          <p:cNvSpPr txBox="true"/>
          <p:nvPr/>
        </p:nvSpPr>
        <p:spPr>
          <a:xfrm rot="0">
            <a:off x="2692271" y="6905264"/>
            <a:ext cx="8857139" cy="600075"/>
          </a:xfrm>
          <a:prstGeom prst="rect">
            <a:avLst/>
          </a:prstGeom>
        </p:spPr>
        <p:txBody>
          <a:bodyPr anchor="t" rtlCol="false" tIns="0" lIns="0" bIns="0" rIns="0">
            <a:spAutoFit/>
          </a:bodyPr>
          <a:lstStyle/>
          <a:p>
            <a:pPr algn="l">
              <a:lnSpc>
                <a:spcPts val="4799"/>
              </a:lnSpc>
            </a:pPr>
            <a:r>
              <a:rPr lang="en-US" b="true" sz="3999" spc="307">
                <a:solidFill>
                  <a:srgbClr val="081861"/>
                </a:solidFill>
                <a:latin typeface="Roboto Bold"/>
                <a:ea typeface="Roboto Bold"/>
                <a:cs typeface="Roboto Bold"/>
                <a:sym typeface="Roboto Bold"/>
              </a:rPr>
              <a:t>BÁO CÁO KẾT QUẢ THỰC HIỆN</a:t>
            </a:r>
          </a:p>
        </p:txBody>
      </p:sp>
      <p:sp>
        <p:nvSpPr>
          <p:cNvPr name="TextBox 27" id="27"/>
          <p:cNvSpPr txBox="true"/>
          <p:nvPr/>
        </p:nvSpPr>
        <p:spPr>
          <a:xfrm rot="0">
            <a:off x="2782505" y="8679356"/>
            <a:ext cx="7715949" cy="600075"/>
          </a:xfrm>
          <a:prstGeom prst="rect">
            <a:avLst/>
          </a:prstGeom>
        </p:spPr>
        <p:txBody>
          <a:bodyPr anchor="t" rtlCol="false" tIns="0" lIns="0" bIns="0" rIns="0">
            <a:spAutoFit/>
          </a:bodyPr>
          <a:lstStyle/>
          <a:p>
            <a:pPr algn="l">
              <a:lnSpc>
                <a:spcPts val="4799"/>
              </a:lnSpc>
            </a:pPr>
            <a:r>
              <a:rPr lang="en-US" b="true" sz="3999" spc="470">
                <a:solidFill>
                  <a:srgbClr val="081861"/>
                </a:solidFill>
                <a:latin typeface="Roboto Bold"/>
                <a:ea typeface="Roboto Bold"/>
                <a:cs typeface="Roboto Bold"/>
                <a:sym typeface="Roboto Bold"/>
              </a:rPr>
              <a:t>ĐỊNH HƯỚNG PHÁT TRIỂN</a:t>
            </a:r>
          </a:p>
        </p:txBody>
      </p:sp>
      <p:sp>
        <p:nvSpPr>
          <p:cNvPr name="TextBox 28" id="28"/>
          <p:cNvSpPr txBox="true"/>
          <p:nvPr/>
        </p:nvSpPr>
        <p:spPr>
          <a:xfrm rot="0">
            <a:off x="1299986" y="1664302"/>
            <a:ext cx="807428"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01</a:t>
            </a:r>
          </a:p>
        </p:txBody>
      </p:sp>
      <p:sp>
        <p:nvSpPr>
          <p:cNvPr name="TextBox 29" id="29"/>
          <p:cNvSpPr txBox="true"/>
          <p:nvPr/>
        </p:nvSpPr>
        <p:spPr>
          <a:xfrm rot="0">
            <a:off x="1300018" y="3314339"/>
            <a:ext cx="807440"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02</a:t>
            </a:r>
          </a:p>
        </p:txBody>
      </p:sp>
      <p:sp>
        <p:nvSpPr>
          <p:cNvPr name="TextBox 30" id="30"/>
          <p:cNvSpPr txBox="true"/>
          <p:nvPr/>
        </p:nvSpPr>
        <p:spPr>
          <a:xfrm rot="0">
            <a:off x="1308449" y="6795727"/>
            <a:ext cx="790578"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04</a:t>
            </a:r>
          </a:p>
        </p:txBody>
      </p:sp>
      <p:sp>
        <p:nvSpPr>
          <p:cNvPr name="TextBox 31" id="31"/>
          <p:cNvSpPr txBox="true"/>
          <p:nvPr/>
        </p:nvSpPr>
        <p:spPr>
          <a:xfrm rot="0">
            <a:off x="1295175" y="8536252"/>
            <a:ext cx="817050"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05</a:t>
            </a:r>
          </a:p>
        </p:txBody>
      </p:sp>
      <p:sp>
        <p:nvSpPr>
          <p:cNvPr name="TextBox 32" id="32"/>
          <p:cNvSpPr txBox="true"/>
          <p:nvPr/>
        </p:nvSpPr>
        <p:spPr>
          <a:xfrm rot="0">
            <a:off x="2692271" y="5164739"/>
            <a:ext cx="5341342"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CƠ SỞ LÝ THUYẾT</a:t>
            </a:r>
          </a:p>
        </p:txBody>
      </p:sp>
      <p:sp>
        <p:nvSpPr>
          <p:cNvPr name="TextBox 33" id="33"/>
          <p:cNvSpPr txBox="true"/>
          <p:nvPr/>
        </p:nvSpPr>
        <p:spPr>
          <a:xfrm rot="0">
            <a:off x="1300607" y="5055202"/>
            <a:ext cx="806264"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03</a:t>
            </a:r>
          </a:p>
        </p:txBody>
      </p:sp>
    </p:spTree>
  </p:cSld>
  <p:clrMapOvr>
    <a:masterClrMapping/>
  </p:clrMapOvr>
  <p:transition spd="med">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9860380" cy="1976056"/>
            <a:chOff x="0" y="0"/>
            <a:chExt cx="26480507" cy="2634742"/>
          </a:xfrm>
        </p:grpSpPr>
        <p:grpSp>
          <p:nvGrpSpPr>
            <p:cNvPr name="Group 3" id="3"/>
            <p:cNvGrpSpPr/>
            <p:nvPr/>
          </p:nvGrpSpPr>
          <p:grpSpPr>
            <a:xfrm rot="0">
              <a:off x="0" y="0"/>
              <a:ext cx="26480507" cy="2634742"/>
              <a:chOff x="0" y="0"/>
              <a:chExt cx="3097517" cy="308195"/>
            </a:xfrm>
          </p:grpSpPr>
          <p:sp>
            <p:nvSpPr>
              <p:cNvPr name="Freeform 4" id="4"/>
              <p:cNvSpPr/>
              <p:nvPr/>
            </p:nvSpPr>
            <p:spPr>
              <a:xfrm flipH="false" flipV="false" rot="0">
                <a:off x="0" y="0"/>
                <a:ext cx="3097517" cy="308195"/>
              </a:xfrm>
              <a:custGeom>
                <a:avLst/>
                <a:gdLst/>
                <a:ahLst/>
                <a:cxnLst/>
                <a:rect r="r" b="b" t="t" l="l"/>
                <a:pathLst>
                  <a:path h="308195" w="3097517">
                    <a:moveTo>
                      <a:pt x="203200" y="0"/>
                    </a:moveTo>
                    <a:lnTo>
                      <a:pt x="3097517" y="0"/>
                    </a:lnTo>
                    <a:lnTo>
                      <a:pt x="2894317" y="308195"/>
                    </a:lnTo>
                    <a:lnTo>
                      <a:pt x="0" y="308195"/>
                    </a:lnTo>
                    <a:lnTo>
                      <a:pt x="203200" y="0"/>
                    </a:lnTo>
                    <a:close/>
                  </a:path>
                </a:pathLst>
              </a:custGeom>
              <a:solidFill>
                <a:srgbClr val="002699"/>
              </a:solidFill>
            </p:spPr>
          </p:sp>
          <p:sp>
            <p:nvSpPr>
              <p:cNvPr name="TextBox 5" id="5"/>
              <p:cNvSpPr txBox="true"/>
              <p:nvPr/>
            </p:nvSpPr>
            <p:spPr>
              <a:xfrm>
                <a:off x="101600" y="-47625"/>
                <a:ext cx="2894317" cy="355820"/>
              </a:xfrm>
              <a:prstGeom prst="rect">
                <a:avLst/>
              </a:prstGeom>
            </p:spPr>
            <p:txBody>
              <a:bodyPr anchor="ctr" rtlCol="false" tIns="50800" lIns="50800" bIns="50800" rIns="50800"/>
              <a:lstStyle/>
              <a:p>
                <a:pPr algn="ctr">
                  <a:lnSpc>
                    <a:spcPts val="2592"/>
                  </a:lnSpc>
                </a:pPr>
                <a:r>
                  <a:rPr lang="en-US" sz="1800">
                    <a:solidFill>
                      <a:srgbClr val="FFFFFF"/>
                    </a:solidFill>
                    <a:latin typeface="Roboto"/>
                    <a:ea typeface="Roboto"/>
                    <a:cs typeface="Roboto"/>
                    <a:sym typeface="Roboto"/>
                  </a:rPr>
                  <a:t> </a:t>
                </a:r>
              </a:p>
            </p:txBody>
          </p:sp>
        </p:grpSp>
        <p:sp>
          <p:nvSpPr>
            <p:cNvPr name="TextBox 6" id="6"/>
            <p:cNvSpPr txBox="true"/>
            <p:nvPr/>
          </p:nvSpPr>
          <p:spPr>
            <a:xfrm rot="0">
              <a:off x="4210235" y="291846"/>
              <a:ext cx="19986368"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3.1 </a:t>
              </a:r>
              <a:r>
                <a:rPr lang="en-US" b="true" sz="5000" spc="769">
                  <a:solidFill>
                    <a:srgbClr val="FFFFFF"/>
                  </a:solidFill>
                  <a:latin typeface="Roboto Bold"/>
                  <a:ea typeface="Roboto Bold"/>
                  <a:cs typeface="Roboto Bold"/>
                  <a:sym typeface="Roboto Bold"/>
                </a:rPr>
                <a:t>CẤU TRÚC DỮ LIỆU CÂN MI SCALE 2 [Bluetooth2024] </a:t>
              </a:r>
            </a:p>
          </p:txBody>
        </p:sp>
      </p:grpSp>
      <p:graphicFrame>
        <p:nvGraphicFramePr>
          <p:cNvPr name="Object 7" id="7"/>
          <p:cNvGraphicFramePr/>
          <p:nvPr/>
        </p:nvGraphicFramePr>
        <p:xfrm>
          <a:off x="7064313" y="3473752"/>
          <a:ext cx="3771900" cy="4400550"/>
        </p:xfrm>
        <a:graphic>
          <a:graphicData uri="http://schemas.openxmlformats.org/presentationml/2006/ole">
            <p:oleObj imgW="4648200" imgH="527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8" id="8"/>
          <p:cNvGrpSpPr/>
          <p:nvPr/>
        </p:nvGrpSpPr>
        <p:grpSpPr>
          <a:xfrm rot="0">
            <a:off x="12329794" y="5925825"/>
            <a:ext cx="2336274" cy="2291377"/>
            <a:chOff x="0" y="0"/>
            <a:chExt cx="615315" cy="603490"/>
          </a:xfrm>
        </p:grpSpPr>
        <p:sp>
          <p:nvSpPr>
            <p:cNvPr name="Freeform 9" id="9"/>
            <p:cNvSpPr/>
            <p:nvPr/>
          </p:nvSpPr>
          <p:spPr>
            <a:xfrm flipH="false" flipV="false" rot="0">
              <a:off x="0" y="0"/>
              <a:ext cx="615315" cy="603490"/>
            </a:xfrm>
            <a:custGeom>
              <a:avLst/>
              <a:gdLst/>
              <a:ahLst/>
              <a:cxnLst/>
              <a:rect r="r" b="b" t="t" l="l"/>
              <a:pathLst>
                <a:path h="603490" w="615315">
                  <a:moveTo>
                    <a:pt x="99414" y="0"/>
                  </a:moveTo>
                  <a:lnTo>
                    <a:pt x="515901" y="0"/>
                  </a:lnTo>
                  <a:cubicBezTo>
                    <a:pt x="570806" y="0"/>
                    <a:pt x="615315" y="44509"/>
                    <a:pt x="615315" y="99414"/>
                  </a:cubicBezTo>
                  <a:lnTo>
                    <a:pt x="615315" y="504076"/>
                  </a:lnTo>
                  <a:cubicBezTo>
                    <a:pt x="615315" y="558981"/>
                    <a:pt x="570806" y="603490"/>
                    <a:pt x="515901" y="603490"/>
                  </a:cubicBezTo>
                  <a:lnTo>
                    <a:pt x="99414" y="603490"/>
                  </a:lnTo>
                  <a:cubicBezTo>
                    <a:pt x="44509" y="603490"/>
                    <a:pt x="0" y="558981"/>
                    <a:pt x="0" y="504076"/>
                  </a:cubicBezTo>
                  <a:lnTo>
                    <a:pt x="0" y="99414"/>
                  </a:lnTo>
                  <a:cubicBezTo>
                    <a:pt x="0" y="44509"/>
                    <a:pt x="44509" y="0"/>
                    <a:pt x="99414" y="0"/>
                  </a:cubicBezTo>
                  <a:close/>
                </a:path>
              </a:pathLst>
            </a:custGeom>
            <a:solidFill>
              <a:srgbClr val="000000">
                <a:alpha val="0"/>
              </a:srgbClr>
            </a:solidFill>
            <a:ln w="38100" cap="rnd">
              <a:solidFill>
                <a:srgbClr val="1F4290"/>
              </a:solidFill>
              <a:prstDash val="solid"/>
              <a:round/>
            </a:ln>
          </p:spPr>
        </p:sp>
        <p:sp>
          <p:nvSpPr>
            <p:cNvPr name="TextBox 10" id="10"/>
            <p:cNvSpPr txBox="true"/>
            <p:nvPr/>
          </p:nvSpPr>
          <p:spPr>
            <a:xfrm>
              <a:off x="0" y="-76200"/>
              <a:ext cx="615315" cy="679690"/>
            </a:xfrm>
            <a:prstGeom prst="rect">
              <a:avLst/>
            </a:prstGeom>
          </p:spPr>
          <p:txBody>
            <a:bodyPr anchor="ctr" rtlCol="false" tIns="50800" lIns="50800" bIns="50800" rIns="50800"/>
            <a:lstStyle/>
            <a:p>
              <a:pPr algn="just">
                <a:lnSpc>
                  <a:spcPts val="3099"/>
                </a:lnSpc>
              </a:pPr>
              <a:r>
                <a:rPr lang="en-US" sz="1999" b="true">
                  <a:solidFill>
                    <a:srgbClr val="1B4290"/>
                  </a:solidFill>
                  <a:latin typeface="Roboto Bold"/>
                  <a:ea typeface="Roboto Bold"/>
                  <a:cs typeface="Roboto Bold"/>
                  <a:sym typeface="Roboto Bold"/>
                </a:rPr>
                <a:t>Chế độ SI (Bit 0=0)</a:t>
              </a:r>
            </a:p>
            <a:p>
              <a:pPr algn="just">
                <a:lnSpc>
                  <a:spcPts val="3099"/>
                </a:lnSpc>
              </a:pPr>
              <a:r>
                <a:rPr lang="en-US" sz="1999" b="true">
                  <a:solidFill>
                    <a:srgbClr val="000000"/>
                  </a:solidFill>
                  <a:latin typeface="Roboto Bold"/>
                  <a:ea typeface="Roboto Bold"/>
                  <a:cs typeface="Roboto Bold"/>
                  <a:sym typeface="Roboto Bold"/>
                </a:rPr>
                <a:t>Đơn vị:</a:t>
              </a:r>
            </a:p>
            <a:p>
              <a:pPr algn="just">
                <a:lnSpc>
                  <a:spcPts val="3099"/>
                </a:lnSpc>
              </a:pPr>
              <a:r>
                <a:rPr lang="en-US" sz="1999">
                  <a:solidFill>
                    <a:srgbClr val="000000"/>
                  </a:solidFill>
                  <a:latin typeface="Roboto"/>
                  <a:ea typeface="Roboto"/>
                  <a:cs typeface="Roboto"/>
                  <a:sym typeface="Roboto"/>
                </a:rPr>
                <a:t>Kilogram (kg)</a:t>
              </a:r>
            </a:p>
            <a:p>
              <a:pPr algn="just">
                <a:lnSpc>
                  <a:spcPts val="3099"/>
                </a:lnSpc>
              </a:pPr>
              <a:r>
                <a:rPr lang="en-US" sz="1999" b="true">
                  <a:solidFill>
                    <a:srgbClr val="000000"/>
                  </a:solidFill>
                  <a:latin typeface="Roboto Bold"/>
                  <a:ea typeface="Roboto Bold"/>
                  <a:cs typeface="Roboto Bold"/>
                  <a:sym typeface="Roboto Bold"/>
                </a:rPr>
                <a:t>Độ phân giải:</a:t>
              </a:r>
            </a:p>
            <a:p>
              <a:pPr algn="just">
                <a:lnSpc>
                  <a:spcPts val="3099"/>
                </a:lnSpc>
              </a:pPr>
              <a:r>
                <a:rPr lang="en-US" sz="1999">
                  <a:solidFill>
                    <a:srgbClr val="000000"/>
                  </a:solidFill>
                  <a:latin typeface="Roboto"/>
                  <a:ea typeface="Roboto"/>
                  <a:cs typeface="Roboto"/>
                  <a:sym typeface="Roboto"/>
                </a:rPr>
                <a:t>0.005 kg</a:t>
              </a:r>
            </a:p>
          </p:txBody>
        </p:sp>
      </p:grpSp>
      <p:grpSp>
        <p:nvGrpSpPr>
          <p:cNvPr name="Group 11" id="11"/>
          <p:cNvGrpSpPr/>
          <p:nvPr/>
        </p:nvGrpSpPr>
        <p:grpSpPr>
          <a:xfrm rot="0">
            <a:off x="14942516" y="5925825"/>
            <a:ext cx="2336274" cy="2185388"/>
            <a:chOff x="0" y="0"/>
            <a:chExt cx="615315" cy="575575"/>
          </a:xfrm>
        </p:grpSpPr>
        <p:sp>
          <p:nvSpPr>
            <p:cNvPr name="Freeform 12" id="12"/>
            <p:cNvSpPr/>
            <p:nvPr/>
          </p:nvSpPr>
          <p:spPr>
            <a:xfrm flipH="false" flipV="false" rot="0">
              <a:off x="0" y="0"/>
              <a:ext cx="615315" cy="575575"/>
            </a:xfrm>
            <a:custGeom>
              <a:avLst/>
              <a:gdLst/>
              <a:ahLst/>
              <a:cxnLst/>
              <a:rect r="r" b="b" t="t" l="l"/>
              <a:pathLst>
                <a:path h="575575" w="615315">
                  <a:moveTo>
                    <a:pt x="99414" y="0"/>
                  </a:moveTo>
                  <a:lnTo>
                    <a:pt x="515901" y="0"/>
                  </a:lnTo>
                  <a:cubicBezTo>
                    <a:pt x="570806" y="0"/>
                    <a:pt x="615315" y="44509"/>
                    <a:pt x="615315" y="99414"/>
                  </a:cubicBezTo>
                  <a:lnTo>
                    <a:pt x="615315" y="476162"/>
                  </a:lnTo>
                  <a:cubicBezTo>
                    <a:pt x="615315" y="531066"/>
                    <a:pt x="570806" y="575575"/>
                    <a:pt x="515901" y="575575"/>
                  </a:cubicBezTo>
                  <a:lnTo>
                    <a:pt x="99414" y="575575"/>
                  </a:lnTo>
                  <a:cubicBezTo>
                    <a:pt x="44509" y="575575"/>
                    <a:pt x="0" y="531066"/>
                    <a:pt x="0" y="476162"/>
                  </a:cubicBezTo>
                  <a:lnTo>
                    <a:pt x="0" y="99414"/>
                  </a:lnTo>
                  <a:cubicBezTo>
                    <a:pt x="0" y="44509"/>
                    <a:pt x="44509" y="0"/>
                    <a:pt x="99414" y="0"/>
                  </a:cubicBezTo>
                  <a:close/>
                </a:path>
              </a:pathLst>
            </a:custGeom>
            <a:solidFill>
              <a:srgbClr val="000000">
                <a:alpha val="0"/>
              </a:srgbClr>
            </a:solidFill>
            <a:ln w="38100" cap="rnd">
              <a:solidFill>
                <a:srgbClr val="1B4290"/>
              </a:solidFill>
              <a:prstDash val="solid"/>
              <a:round/>
            </a:ln>
          </p:spPr>
        </p:sp>
        <p:sp>
          <p:nvSpPr>
            <p:cNvPr name="TextBox 13" id="13"/>
            <p:cNvSpPr txBox="true"/>
            <p:nvPr/>
          </p:nvSpPr>
          <p:spPr>
            <a:xfrm>
              <a:off x="0" y="-57150"/>
              <a:ext cx="615315" cy="632725"/>
            </a:xfrm>
            <a:prstGeom prst="rect">
              <a:avLst/>
            </a:prstGeom>
          </p:spPr>
          <p:txBody>
            <a:bodyPr anchor="ctr" rtlCol="false" tIns="50800" lIns="50800" bIns="50800" rIns="50800"/>
            <a:lstStyle/>
            <a:p>
              <a:pPr algn="just">
                <a:lnSpc>
                  <a:spcPts val="2879"/>
                </a:lnSpc>
              </a:pPr>
              <a:r>
                <a:rPr lang="en-US" sz="1999" b="true">
                  <a:solidFill>
                    <a:srgbClr val="1B4290"/>
                  </a:solidFill>
                  <a:latin typeface="Roboto Bold"/>
                  <a:ea typeface="Roboto Bold"/>
                  <a:cs typeface="Roboto Bold"/>
                  <a:sym typeface="Roboto Bold"/>
                </a:rPr>
                <a:t>Chế độ I (Bit 0=1)</a:t>
              </a:r>
            </a:p>
            <a:p>
              <a:pPr algn="just">
                <a:lnSpc>
                  <a:spcPts val="2879"/>
                </a:lnSpc>
              </a:pPr>
              <a:r>
                <a:rPr lang="en-US" sz="1999" b="true">
                  <a:solidFill>
                    <a:srgbClr val="000000"/>
                  </a:solidFill>
                  <a:latin typeface="Roboto Bold"/>
                  <a:ea typeface="Roboto Bold"/>
                  <a:cs typeface="Roboto Bold"/>
                  <a:sym typeface="Roboto Bold"/>
                </a:rPr>
                <a:t>Đơn vị:</a:t>
              </a:r>
            </a:p>
            <a:p>
              <a:pPr algn="just">
                <a:lnSpc>
                  <a:spcPts val="2879"/>
                </a:lnSpc>
              </a:pPr>
              <a:r>
                <a:rPr lang="en-US" sz="1999">
                  <a:solidFill>
                    <a:srgbClr val="000000"/>
                  </a:solidFill>
                  <a:latin typeface="Roboto"/>
                  <a:ea typeface="Roboto"/>
                  <a:cs typeface="Roboto"/>
                  <a:sym typeface="Roboto"/>
                </a:rPr>
                <a:t>P</a:t>
              </a:r>
              <a:r>
                <a:rPr lang="en-US" sz="1999">
                  <a:solidFill>
                    <a:srgbClr val="000000"/>
                  </a:solidFill>
                  <a:latin typeface="Roboto"/>
                  <a:ea typeface="Roboto"/>
                  <a:cs typeface="Roboto"/>
                  <a:sym typeface="Roboto"/>
                </a:rPr>
                <a:t>ound (lb)</a:t>
              </a:r>
            </a:p>
            <a:p>
              <a:pPr algn="just">
                <a:lnSpc>
                  <a:spcPts val="2879"/>
                </a:lnSpc>
              </a:pPr>
              <a:r>
                <a:rPr lang="en-US" sz="1999" b="true">
                  <a:solidFill>
                    <a:srgbClr val="000000"/>
                  </a:solidFill>
                  <a:latin typeface="Roboto Bold"/>
                  <a:ea typeface="Roboto Bold"/>
                  <a:cs typeface="Roboto Bold"/>
                  <a:sym typeface="Roboto Bold"/>
                </a:rPr>
                <a:t>Độ phân giải:</a:t>
              </a:r>
            </a:p>
            <a:p>
              <a:pPr algn="just">
                <a:lnSpc>
                  <a:spcPts val="2879"/>
                </a:lnSpc>
              </a:pPr>
              <a:r>
                <a:rPr lang="en-US" sz="1999">
                  <a:solidFill>
                    <a:srgbClr val="000000"/>
                  </a:solidFill>
                  <a:latin typeface="Roboto"/>
                  <a:ea typeface="Roboto"/>
                  <a:cs typeface="Roboto"/>
                  <a:sym typeface="Roboto"/>
                </a:rPr>
                <a:t>0.01 lb</a:t>
              </a:r>
            </a:p>
          </p:txBody>
        </p:sp>
      </p:grpSp>
      <p:sp>
        <p:nvSpPr>
          <p:cNvPr name="AutoShape 14" id="14"/>
          <p:cNvSpPr/>
          <p:nvPr/>
        </p:nvSpPr>
        <p:spPr>
          <a:xfrm>
            <a:off x="2078615" y="3297615"/>
            <a:ext cx="3357562" cy="0"/>
          </a:xfrm>
          <a:prstGeom prst="line">
            <a:avLst/>
          </a:prstGeom>
          <a:ln cap="flat" w="38100">
            <a:solidFill>
              <a:srgbClr val="1B4290"/>
            </a:solidFill>
            <a:prstDash val="solid"/>
            <a:headEnd type="none" len="sm" w="sm"/>
            <a:tailEnd type="none" len="sm" w="sm"/>
          </a:ln>
        </p:spPr>
      </p:sp>
      <p:sp>
        <p:nvSpPr>
          <p:cNvPr name="AutoShape 15" id="15"/>
          <p:cNvSpPr/>
          <p:nvPr/>
        </p:nvSpPr>
        <p:spPr>
          <a:xfrm>
            <a:off x="7737285" y="3278565"/>
            <a:ext cx="3357562" cy="0"/>
          </a:xfrm>
          <a:prstGeom prst="line">
            <a:avLst/>
          </a:prstGeom>
          <a:ln cap="flat" w="38100">
            <a:solidFill>
              <a:srgbClr val="1B4290"/>
            </a:solidFill>
            <a:prstDash val="solid"/>
            <a:headEnd type="none" len="sm" w="sm"/>
            <a:tailEnd type="none" len="sm" w="sm"/>
          </a:ln>
        </p:spPr>
      </p:sp>
      <p:sp>
        <p:nvSpPr>
          <p:cNvPr name="AutoShape 16" id="16"/>
          <p:cNvSpPr/>
          <p:nvPr/>
        </p:nvSpPr>
        <p:spPr>
          <a:xfrm>
            <a:off x="13083460" y="3259515"/>
            <a:ext cx="3357562" cy="0"/>
          </a:xfrm>
          <a:prstGeom prst="line">
            <a:avLst/>
          </a:prstGeom>
          <a:ln cap="flat" w="38100">
            <a:solidFill>
              <a:srgbClr val="1B4290"/>
            </a:solidFill>
            <a:prstDash val="solid"/>
            <a:headEnd type="none" len="sm" w="sm"/>
            <a:tailEnd type="none" len="sm" w="sm"/>
          </a:ln>
        </p:spPr>
      </p:sp>
      <p:sp>
        <p:nvSpPr>
          <p:cNvPr name="TextBox 17" id="17"/>
          <p:cNvSpPr txBox="true"/>
          <p:nvPr/>
        </p:nvSpPr>
        <p:spPr>
          <a:xfrm rot="0">
            <a:off x="1009210" y="3416602"/>
            <a:ext cx="5496371" cy="3190494"/>
          </a:xfrm>
          <a:prstGeom prst="rect">
            <a:avLst/>
          </a:prstGeom>
        </p:spPr>
        <p:txBody>
          <a:bodyPr anchor="t" rtlCol="false" tIns="0" lIns="0" bIns="0" rIns="0">
            <a:spAutoFit/>
          </a:bodyPr>
          <a:lstStyle/>
          <a:p>
            <a:pPr algn="l">
              <a:lnSpc>
                <a:spcPts val="3168"/>
              </a:lnSpc>
            </a:pPr>
            <a:r>
              <a:rPr lang="en-US" b="true" sz="2200">
                <a:solidFill>
                  <a:srgbClr val="1B4290"/>
                </a:solidFill>
                <a:latin typeface="Roboto Bold"/>
                <a:ea typeface="Roboto Bold"/>
                <a:cs typeface="Roboto Bold"/>
                <a:sym typeface="Roboto Bold"/>
              </a:rPr>
              <a:t>Thiết bị:</a:t>
            </a:r>
          </a:p>
          <a:p>
            <a:pPr algn="l">
              <a:lnSpc>
                <a:spcPts val="3168"/>
              </a:lnSpc>
            </a:pPr>
            <a:r>
              <a:rPr lang="en-US" sz="2200">
                <a:solidFill>
                  <a:srgbClr val="000000"/>
                </a:solidFill>
                <a:latin typeface="Roboto"/>
                <a:ea typeface="Roboto"/>
                <a:cs typeface="Roboto"/>
                <a:sym typeface="Roboto"/>
              </a:rPr>
              <a:t>CRENOT Gofit S2</a:t>
            </a:r>
          </a:p>
          <a:p>
            <a:pPr algn="l">
              <a:lnSpc>
                <a:spcPts val="3168"/>
              </a:lnSpc>
            </a:pPr>
            <a:r>
              <a:rPr lang="en-US" b="true" sz="2200">
                <a:solidFill>
                  <a:srgbClr val="1B4290"/>
                </a:solidFill>
                <a:latin typeface="Roboto Bold"/>
                <a:ea typeface="Roboto Bold"/>
                <a:cs typeface="Roboto Bold"/>
                <a:sym typeface="Roboto Bold"/>
              </a:rPr>
              <a:t>Giao thức:</a:t>
            </a:r>
          </a:p>
          <a:p>
            <a:pPr algn="l">
              <a:lnSpc>
                <a:spcPts val="3168"/>
              </a:lnSpc>
            </a:pPr>
            <a:r>
              <a:rPr lang="en-US" sz="2200">
                <a:solidFill>
                  <a:srgbClr val="000000"/>
                </a:solidFill>
                <a:latin typeface="Roboto"/>
                <a:ea typeface="Roboto"/>
                <a:cs typeface="Roboto"/>
                <a:sym typeface="Roboto"/>
              </a:rPr>
              <a:t>Bluetooth Low Energy (BLE)</a:t>
            </a:r>
          </a:p>
          <a:p>
            <a:pPr algn="l">
              <a:lnSpc>
                <a:spcPts val="3168"/>
              </a:lnSpc>
            </a:pPr>
            <a:r>
              <a:rPr lang="en-US" b="true" sz="2200">
                <a:solidFill>
                  <a:srgbClr val="1B4290"/>
                </a:solidFill>
                <a:latin typeface="Roboto Bold"/>
                <a:ea typeface="Roboto Bold"/>
                <a:cs typeface="Roboto Bold"/>
                <a:sym typeface="Roboto Bold"/>
              </a:rPr>
              <a:t>Characteristic (Weight Measurement) UUID:</a:t>
            </a:r>
          </a:p>
          <a:p>
            <a:pPr algn="l">
              <a:lnSpc>
                <a:spcPts val="3168"/>
              </a:lnSpc>
            </a:pPr>
            <a:r>
              <a:rPr lang="en-US" sz="2200">
                <a:solidFill>
                  <a:srgbClr val="000000"/>
                </a:solidFill>
                <a:latin typeface="Roboto"/>
                <a:ea typeface="Roboto"/>
                <a:cs typeface="Roboto"/>
                <a:sym typeface="Roboto"/>
              </a:rPr>
              <a:t>0000FFB2-0000-1000-8000-00805F9B34FB</a:t>
            </a:r>
          </a:p>
          <a:p>
            <a:pPr algn="l">
              <a:lnSpc>
                <a:spcPts val="3168"/>
              </a:lnSpc>
            </a:pPr>
            <a:r>
              <a:rPr lang="en-US" b="true" sz="2200">
                <a:solidFill>
                  <a:srgbClr val="1B4290"/>
                </a:solidFill>
                <a:latin typeface="Roboto Bold"/>
                <a:ea typeface="Roboto Bold"/>
                <a:cs typeface="Roboto Bold"/>
                <a:sym typeface="Roboto Bold"/>
              </a:rPr>
              <a:t>Định dạng gói tin:</a:t>
            </a:r>
          </a:p>
          <a:p>
            <a:pPr algn="l">
              <a:lnSpc>
                <a:spcPts val="3168"/>
              </a:lnSpc>
            </a:pPr>
            <a:r>
              <a:rPr lang="en-US" sz="2200">
                <a:solidFill>
                  <a:srgbClr val="000000"/>
                </a:solidFill>
                <a:latin typeface="Roboto"/>
                <a:ea typeface="Roboto"/>
                <a:cs typeface="Roboto"/>
                <a:sym typeface="Roboto"/>
              </a:rPr>
              <a:t>Gói dữ liệu dạng byte gửi từ cân.</a:t>
            </a:r>
          </a:p>
        </p:txBody>
      </p:sp>
      <p:sp>
        <p:nvSpPr>
          <p:cNvPr name="TextBox 18" id="18"/>
          <p:cNvSpPr txBox="true"/>
          <p:nvPr/>
        </p:nvSpPr>
        <p:spPr>
          <a:xfrm rot="0">
            <a:off x="15838587"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10 of 37</a:t>
            </a:r>
          </a:p>
        </p:txBody>
      </p:sp>
      <p:sp>
        <p:nvSpPr>
          <p:cNvPr name="TextBox 19" id="19"/>
          <p:cNvSpPr txBox="true"/>
          <p:nvPr/>
        </p:nvSpPr>
        <p:spPr>
          <a:xfrm rot="0">
            <a:off x="1028700" y="9283700"/>
            <a:ext cx="11168360" cy="276225"/>
          </a:xfrm>
          <a:prstGeom prst="rect">
            <a:avLst/>
          </a:prstGeom>
        </p:spPr>
        <p:txBody>
          <a:bodyPr anchor="t" rtlCol="false" tIns="0" lIns="0" bIns="0" rIns="0">
            <a:spAutoFit/>
          </a:bodyPr>
          <a:lstStyle/>
          <a:p>
            <a:pPr algn="ctr">
              <a:lnSpc>
                <a:spcPts val="2160"/>
              </a:lnSpc>
              <a:spcBef>
                <a:spcPct val="0"/>
              </a:spcBef>
            </a:pPr>
            <a:r>
              <a:rPr lang="en-US" sz="1800" spc="276">
                <a:solidFill>
                  <a:srgbClr val="000000"/>
                </a:solidFill>
                <a:latin typeface="Roboto"/>
                <a:ea typeface="Roboto"/>
                <a:cs typeface="Roboto"/>
                <a:sym typeface="Roboto"/>
              </a:rPr>
              <a:t>[Bluet</a:t>
            </a:r>
            <a:r>
              <a:rPr lang="en-US" sz="1800" spc="276">
                <a:solidFill>
                  <a:srgbClr val="000000"/>
                </a:solidFill>
                <a:latin typeface="Roboto"/>
                <a:ea typeface="Roboto"/>
                <a:cs typeface="Roboto"/>
                <a:sym typeface="Roboto"/>
              </a:rPr>
              <a:t>ooth2024] Bluetooth SIG Proprietary (2024). GATT Specification Supplement.</a:t>
            </a:r>
          </a:p>
        </p:txBody>
      </p:sp>
      <p:sp>
        <p:nvSpPr>
          <p:cNvPr name="TextBox 20" id="20"/>
          <p:cNvSpPr txBox="true"/>
          <p:nvPr/>
        </p:nvSpPr>
        <p:spPr>
          <a:xfrm rot="0">
            <a:off x="12329794" y="3416602"/>
            <a:ext cx="4864894" cy="1990344"/>
          </a:xfrm>
          <a:prstGeom prst="rect">
            <a:avLst/>
          </a:prstGeom>
        </p:spPr>
        <p:txBody>
          <a:bodyPr anchor="t" rtlCol="false" tIns="0" lIns="0" bIns="0" rIns="0">
            <a:spAutoFit/>
          </a:bodyPr>
          <a:lstStyle/>
          <a:p>
            <a:pPr algn="l">
              <a:lnSpc>
                <a:spcPts val="3167"/>
              </a:lnSpc>
              <a:spcBef>
                <a:spcPct val="0"/>
              </a:spcBef>
            </a:pPr>
            <a:r>
              <a:rPr lang="en-US" b="true" sz="2199">
                <a:solidFill>
                  <a:srgbClr val="1B4290"/>
                </a:solidFill>
                <a:latin typeface="Roboto Bold"/>
                <a:ea typeface="Roboto Bold"/>
                <a:cs typeface="Roboto Bold"/>
                <a:sym typeface="Roboto Bold"/>
              </a:rPr>
              <a:t>Trường “Flags”</a:t>
            </a:r>
          </a:p>
          <a:p>
            <a:pPr algn="l">
              <a:lnSpc>
                <a:spcPts val="3167"/>
              </a:lnSpc>
              <a:spcBef>
                <a:spcPct val="0"/>
              </a:spcBef>
            </a:pPr>
            <a:r>
              <a:rPr lang="en-US" sz="2199">
                <a:solidFill>
                  <a:srgbClr val="000000"/>
                </a:solidFill>
                <a:latin typeface="Roboto"/>
                <a:ea typeface="Roboto"/>
                <a:cs typeface="Roboto"/>
                <a:sym typeface="Roboto"/>
              </a:rPr>
              <a:t>Bit 0 (Đơn vị): 0: SI (kg) / 1: Imperial (lb)</a:t>
            </a:r>
          </a:p>
          <a:p>
            <a:pPr algn="l">
              <a:lnSpc>
                <a:spcPts val="3167"/>
              </a:lnSpc>
              <a:spcBef>
                <a:spcPct val="0"/>
              </a:spcBef>
            </a:pPr>
            <a:r>
              <a:rPr lang="en-US" sz="2199">
                <a:solidFill>
                  <a:srgbClr val="000000"/>
                </a:solidFill>
                <a:latin typeface="Roboto"/>
                <a:ea typeface="Roboto"/>
                <a:cs typeface="Roboto"/>
                <a:sym typeface="Roboto"/>
              </a:rPr>
              <a:t>Bit 1 (Time Stamp): Có/Không</a:t>
            </a:r>
          </a:p>
          <a:p>
            <a:pPr algn="l">
              <a:lnSpc>
                <a:spcPts val="3167"/>
              </a:lnSpc>
              <a:spcBef>
                <a:spcPct val="0"/>
              </a:spcBef>
            </a:pPr>
            <a:r>
              <a:rPr lang="en-US" sz="2199">
                <a:solidFill>
                  <a:srgbClr val="000000"/>
                </a:solidFill>
                <a:latin typeface="Roboto"/>
                <a:ea typeface="Roboto"/>
                <a:cs typeface="Roboto"/>
                <a:sym typeface="Roboto"/>
              </a:rPr>
              <a:t>Bit 2 (User ID): Có/Không</a:t>
            </a:r>
          </a:p>
          <a:p>
            <a:pPr algn="l">
              <a:lnSpc>
                <a:spcPts val="3167"/>
              </a:lnSpc>
              <a:spcBef>
                <a:spcPct val="0"/>
              </a:spcBef>
            </a:pPr>
            <a:r>
              <a:rPr lang="en-US" sz="2199">
                <a:solidFill>
                  <a:srgbClr val="000000"/>
                </a:solidFill>
                <a:latin typeface="Roboto"/>
                <a:ea typeface="Roboto"/>
                <a:cs typeface="Roboto"/>
                <a:sym typeface="Roboto"/>
              </a:rPr>
              <a:t>Bit 3 (BMI &amp; Height): Có/Không</a:t>
            </a:r>
          </a:p>
        </p:txBody>
      </p:sp>
      <p:sp>
        <p:nvSpPr>
          <p:cNvPr name="TextBox 21" id="21"/>
          <p:cNvSpPr txBox="true"/>
          <p:nvPr/>
        </p:nvSpPr>
        <p:spPr>
          <a:xfrm rot="0">
            <a:off x="12329794" y="5440431"/>
            <a:ext cx="2087017" cy="390144"/>
          </a:xfrm>
          <a:prstGeom prst="rect">
            <a:avLst/>
          </a:prstGeom>
        </p:spPr>
        <p:txBody>
          <a:bodyPr anchor="t" rtlCol="false" tIns="0" lIns="0" bIns="0" rIns="0">
            <a:spAutoFit/>
          </a:bodyPr>
          <a:lstStyle/>
          <a:p>
            <a:pPr algn="l">
              <a:lnSpc>
                <a:spcPts val="3167"/>
              </a:lnSpc>
              <a:spcBef>
                <a:spcPct val="0"/>
              </a:spcBef>
            </a:pPr>
            <a:r>
              <a:rPr lang="en-US" b="true" sz="2199">
                <a:solidFill>
                  <a:srgbClr val="1B4290"/>
                </a:solidFill>
                <a:latin typeface="Roboto Bold"/>
                <a:ea typeface="Roboto Bold"/>
                <a:cs typeface="Roboto Bold"/>
                <a:sym typeface="Roboto Bold"/>
              </a:rPr>
              <a:t>Trường “Weight”</a:t>
            </a:r>
          </a:p>
        </p:txBody>
      </p:sp>
      <p:sp>
        <p:nvSpPr>
          <p:cNvPr name="TextBox 22" id="22"/>
          <p:cNvSpPr txBox="true"/>
          <p:nvPr/>
        </p:nvSpPr>
        <p:spPr>
          <a:xfrm rot="0">
            <a:off x="2078615" y="2692852"/>
            <a:ext cx="3357562" cy="428626"/>
          </a:xfrm>
          <a:prstGeom prst="rect">
            <a:avLst/>
          </a:prstGeom>
        </p:spPr>
        <p:txBody>
          <a:bodyPr anchor="t" rtlCol="false" tIns="0" lIns="0" bIns="0" rIns="0">
            <a:spAutoFit/>
          </a:bodyPr>
          <a:lstStyle/>
          <a:p>
            <a:pPr algn="ctr">
              <a:lnSpc>
                <a:spcPts val="3599"/>
              </a:lnSpc>
              <a:spcBef>
                <a:spcPct val="0"/>
              </a:spcBef>
            </a:pPr>
            <a:r>
              <a:rPr lang="en-US" b="true" sz="2499">
                <a:solidFill>
                  <a:srgbClr val="1B4290"/>
                </a:solidFill>
                <a:latin typeface="Roboto Bold"/>
                <a:ea typeface="Roboto Bold"/>
                <a:cs typeface="Roboto Bold"/>
                <a:sym typeface="Roboto Bold"/>
              </a:rPr>
              <a:t>TỔNG QUAN KỸ THUẬT</a:t>
            </a:r>
          </a:p>
        </p:txBody>
      </p:sp>
      <p:sp>
        <p:nvSpPr>
          <p:cNvPr name="TextBox 23" id="23"/>
          <p:cNvSpPr txBox="true"/>
          <p:nvPr/>
        </p:nvSpPr>
        <p:spPr>
          <a:xfrm rot="0">
            <a:off x="8064558" y="2692852"/>
            <a:ext cx="2703016" cy="428626"/>
          </a:xfrm>
          <a:prstGeom prst="rect">
            <a:avLst/>
          </a:prstGeom>
        </p:spPr>
        <p:txBody>
          <a:bodyPr anchor="t" rtlCol="false" tIns="0" lIns="0" bIns="0" rIns="0">
            <a:spAutoFit/>
          </a:bodyPr>
          <a:lstStyle/>
          <a:p>
            <a:pPr algn="ctr">
              <a:lnSpc>
                <a:spcPts val="3599"/>
              </a:lnSpc>
              <a:spcBef>
                <a:spcPct val="0"/>
              </a:spcBef>
            </a:pPr>
            <a:r>
              <a:rPr lang="en-US" b="true" sz="2499">
                <a:solidFill>
                  <a:srgbClr val="1B4290"/>
                </a:solidFill>
                <a:latin typeface="Roboto Bold"/>
                <a:ea typeface="Roboto Bold"/>
                <a:cs typeface="Roboto Bold"/>
                <a:sym typeface="Roboto Bold"/>
              </a:rPr>
              <a:t>CẤU TRÚC GÓI TIN</a:t>
            </a:r>
          </a:p>
        </p:txBody>
      </p:sp>
      <p:sp>
        <p:nvSpPr>
          <p:cNvPr name="TextBox 24" id="24"/>
          <p:cNvSpPr txBox="true"/>
          <p:nvPr/>
        </p:nvSpPr>
        <p:spPr>
          <a:xfrm rot="0">
            <a:off x="13261830" y="2692852"/>
            <a:ext cx="3000821" cy="428626"/>
          </a:xfrm>
          <a:prstGeom prst="rect">
            <a:avLst/>
          </a:prstGeom>
        </p:spPr>
        <p:txBody>
          <a:bodyPr anchor="t" rtlCol="false" tIns="0" lIns="0" bIns="0" rIns="0">
            <a:spAutoFit/>
          </a:bodyPr>
          <a:lstStyle/>
          <a:p>
            <a:pPr algn="ctr">
              <a:lnSpc>
                <a:spcPts val="3599"/>
              </a:lnSpc>
              <a:spcBef>
                <a:spcPct val="0"/>
              </a:spcBef>
            </a:pPr>
            <a:r>
              <a:rPr lang="en-US" b="true" sz="2499">
                <a:solidFill>
                  <a:srgbClr val="1B4290"/>
                </a:solidFill>
                <a:latin typeface="Roboto Bold"/>
                <a:ea typeface="Roboto Bold"/>
                <a:cs typeface="Roboto Bold"/>
                <a:sym typeface="Roboto Bold"/>
              </a:rPr>
              <a:t>PHÂN TÍCH CHI TIẾT</a:t>
            </a:r>
          </a:p>
        </p:txBody>
      </p:sp>
    </p:spTree>
  </p:cSld>
  <p:clrMapOvr>
    <a:masterClrMapping/>
  </p:clrMapOvr>
  <p:transition spd="med">
    <p:push dir="l"/>
  </p:transition>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9860380" cy="1214056"/>
            <a:chOff x="0" y="0"/>
            <a:chExt cx="26480507" cy="1618742"/>
          </a:xfrm>
        </p:grpSpPr>
        <p:grpSp>
          <p:nvGrpSpPr>
            <p:cNvPr name="Group 3" id="3"/>
            <p:cNvGrpSpPr/>
            <p:nvPr/>
          </p:nvGrpSpPr>
          <p:grpSpPr>
            <a:xfrm rot="0">
              <a:off x="0" y="0"/>
              <a:ext cx="26480507" cy="1618742"/>
              <a:chOff x="0" y="0"/>
              <a:chExt cx="3097517" cy="189350"/>
            </a:xfrm>
          </p:grpSpPr>
          <p:sp>
            <p:nvSpPr>
              <p:cNvPr name="Freeform 4" id="4"/>
              <p:cNvSpPr/>
              <p:nvPr/>
            </p:nvSpPr>
            <p:spPr>
              <a:xfrm flipH="false" flipV="false" rot="0">
                <a:off x="0" y="0"/>
                <a:ext cx="3097517" cy="189350"/>
              </a:xfrm>
              <a:custGeom>
                <a:avLst/>
                <a:gdLst/>
                <a:ahLst/>
                <a:cxnLst/>
                <a:rect r="r" b="b" t="t" l="l"/>
                <a:pathLst>
                  <a:path h="189350" w="3097517">
                    <a:moveTo>
                      <a:pt x="203200" y="0"/>
                    </a:moveTo>
                    <a:lnTo>
                      <a:pt x="3097517" y="0"/>
                    </a:lnTo>
                    <a:lnTo>
                      <a:pt x="2894317" y="189350"/>
                    </a:lnTo>
                    <a:lnTo>
                      <a:pt x="0" y="189350"/>
                    </a:lnTo>
                    <a:lnTo>
                      <a:pt x="203200" y="0"/>
                    </a:lnTo>
                    <a:close/>
                  </a:path>
                </a:pathLst>
              </a:custGeom>
              <a:solidFill>
                <a:srgbClr val="002699"/>
              </a:solidFill>
            </p:spPr>
          </p:sp>
          <p:sp>
            <p:nvSpPr>
              <p:cNvPr name="TextBox 5" id="5"/>
              <p:cNvSpPr txBox="true"/>
              <p:nvPr/>
            </p:nvSpPr>
            <p:spPr>
              <a:xfrm>
                <a:off x="101600" y="-47625"/>
                <a:ext cx="2894317" cy="236975"/>
              </a:xfrm>
              <a:prstGeom prst="rect">
                <a:avLst/>
              </a:prstGeom>
            </p:spPr>
            <p:txBody>
              <a:bodyPr anchor="ctr" rtlCol="false" tIns="50800" lIns="50800" bIns="50800" rIns="50800"/>
              <a:lstStyle/>
              <a:p>
                <a:pPr algn="ctr">
                  <a:lnSpc>
                    <a:spcPts val="2592"/>
                  </a:lnSpc>
                </a:pPr>
                <a:r>
                  <a:rPr lang="en-US" sz="1800">
                    <a:solidFill>
                      <a:srgbClr val="FFFFFF"/>
                    </a:solidFill>
                    <a:latin typeface="Roboto"/>
                    <a:ea typeface="Roboto"/>
                    <a:cs typeface="Roboto"/>
                    <a:sym typeface="Roboto"/>
                  </a:rPr>
                  <a:t> </a:t>
                </a:r>
              </a:p>
            </p:txBody>
          </p:sp>
        </p:grpSp>
        <p:sp>
          <p:nvSpPr>
            <p:cNvPr name="TextBox 6" id="6"/>
            <p:cNvSpPr txBox="true"/>
            <p:nvPr/>
          </p:nvSpPr>
          <p:spPr>
            <a:xfrm rot="0">
              <a:off x="4210235" y="291846"/>
              <a:ext cx="19986368"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VÍ DỤ MINH HOẠ GIẢI MÃ</a:t>
              </a:r>
            </a:p>
          </p:txBody>
        </p:sp>
      </p:grpSp>
      <p:graphicFrame>
        <p:nvGraphicFramePr>
          <p:cNvPr name="Table 7" id="7"/>
          <p:cNvGraphicFramePr>
            <a:graphicFrameLocks noGrp="true"/>
          </p:cNvGraphicFramePr>
          <p:nvPr/>
        </p:nvGraphicFramePr>
        <p:xfrm>
          <a:off x="5486400" y="2699052"/>
          <a:ext cx="7315200" cy="3095625"/>
        </p:xfrm>
        <a:graphic>
          <a:graphicData uri="http://schemas.openxmlformats.org/drawingml/2006/table">
            <a:tbl>
              <a:tblPr/>
              <a:tblGrid>
                <a:gridCol w="3657600"/>
                <a:gridCol w="3657600"/>
              </a:tblGrid>
              <a:tr h="1031875">
                <a:tc>
                  <a:txBody>
                    <a:bodyPr anchor="t" rtlCol="false"/>
                    <a:lstStyle/>
                    <a:p>
                      <a:pPr algn="ctr">
                        <a:lnSpc>
                          <a:spcPts val="4199"/>
                        </a:lnSpc>
                        <a:defRPr/>
                      </a:pPr>
                      <a:r>
                        <a:rPr lang="en-US" b="true" sz="2999">
                          <a:solidFill>
                            <a:srgbClr val="1F4290"/>
                          </a:solidFill>
                          <a:latin typeface="Roboto Bold"/>
                          <a:ea typeface="Roboto Bold"/>
                          <a:cs typeface="Roboto Bold"/>
                          <a:sym typeface="Roboto Bold"/>
                        </a:rPr>
                        <a:t>TRƯỜNG</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solidFill>
                      <a:srgbClr val="BCDCED"/>
                    </a:solidFill>
                  </a:tcPr>
                </a:tc>
                <a:tc>
                  <a:txBody>
                    <a:bodyPr anchor="t" rtlCol="false"/>
                    <a:lstStyle/>
                    <a:p>
                      <a:pPr algn="ctr">
                        <a:lnSpc>
                          <a:spcPts val="4199"/>
                        </a:lnSpc>
                        <a:defRPr/>
                      </a:pPr>
                      <a:r>
                        <a:rPr lang="en-US" b="true" sz="2999">
                          <a:solidFill>
                            <a:srgbClr val="1F4290"/>
                          </a:solidFill>
                          <a:latin typeface="Roboto Bold"/>
                          <a:ea typeface="Roboto Bold"/>
                          <a:cs typeface="Roboto Bold"/>
                          <a:sym typeface="Roboto Bold"/>
                        </a:rPr>
                        <a:t>GIÁ TRỊ (HEX)</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solidFill>
                      <a:srgbClr val="BCDCED"/>
                    </a:solidFill>
                  </a:tcPr>
                </a:tc>
              </a:tr>
              <a:tr h="1031875">
                <a:tc>
                  <a:txBody>
                    <a:bodyPr anchor="t" rtlCol="false"/>
                    <a:lstStyle/>
                    <a:p>
                      <a:pPr algn="l">
                        <a:lnSpc>
                          <a:spcPts val="4199"/>
                        </a:lnSpc>
                        <a:defRPr/>
                      </a:pPr>
                      <a:r>
                        <a:rPr lang="en-US" sz="2999">
                          <a:solidFill>
                            <a:srgbClr val="000000"/>
                          </a:solidFill>
                          <a:latin typeface="Roboto"/>
                          <a:ea typeface="Roboto"/>
                          <a:cs typeface="Roboto"/>
                          <a:sym typeface="Roboto"/>
                        </a:rPr>
                        <a:t>Flags</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tcPr>
                </a:tc>
                <a:tc>
                  <a:txBody>
                    <a:bodyPr anchor="t" rtlCol="false"/>
                    <a:lstStyle/>
                    <a:p>
                      <a:pPr algn="l">
                        <a:lnSpc>
                          <a:spcPts val="4199"/>
                        </a:lnSpc>
                        <a:defRPr/>
                      </a:pPr>
                      <a:r>
                        <a:rPr lang="en-US" sz="2999">
                          <a:solidFill>
                            <a:srgbClr val="000000"/>
                          </a:solidFill>
                          <a:latin typeface="Roboto"/>
                          <a:ea typeface="Roboto"/>
                          <a:cs typeface="Roboto"/>
                          <a:sym typeface="Roboto"/>
                        </a:rPr>
                        <a:t>0x00</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tcPr>
                </a:tc>
              </a:tr>
              <a:tr h="1031875">
                <a:tc>
                  <a:txBody>
                    <a:bodyPr anchor="t" rtlCol="false"/>
                    <a:lstStyle/>
                    <a:p>
                      <a:pPr algn="l">
                        <a:lnSpc>
                          <a:spcPts val="4199"/>
                        </a:lnSpc>
                        <a:defRPr/>
                      </a:pPr>
                      <a:r>
                        <a:rPr lang="en-US" sz="2999">
                          <a:solidFill>
                            <a:srgbClr val="000000"/>
                          </a:solidFill>
                          <a:latin typeface="Roboto"/>
                          <a:ea typeface="Roboto"/>
                          <a:cs typeface="Roboto"/>
                          <a:sym typeface="Roboto"/>
                        </a:rPr>
                        <a:t>Weight</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tcPr>
                </a:tc>
                <a:tc>
                  <a:txBody>
                    <a:bodyPr anchor="t" rtlCol="false"/>
                    <a:lstStyle/>
                    <a:p>
                      <a:pPr algn="l">
                        <a:lnSpc>
                          <a:spcPts val="4199"/>
                        </a:lnSpc>
                        <a:defRPr/>
                      </a:pPr>
                      <a:r>
                        <a:rPr lang="en-US" sz="2999">
                          <a:solidFill>
                            <a:srgbClr val="000000"/>
                          </a:solidFill>
                          <a:latin typeface="Roboto"/>
                          <a:ea typeface="Roboto"/>
                          <a:cs typeface="Roboto"/>
                          <a:sym typeface="Roboto"/>
                        </a:rPr>
                        <a:t>0x0FA0</a:t>
                      </a:r>
                      <a:endParaRPr lang="en-US" sz="1100"/>
                    </a:p>
                  </a:txBody>
                  <a:tcPr marL="190500" marR="190500" marT="190500" marB="190500" anchor="ctr">
                    <a:lnL cmpd="sng" algn="ctr" cap="flat" w="38100">
                      <a:solidFill>
                        <a:srgbClr val="002699"/>
                      </a:solidFill>
                      <a:prstDash val="solid"/>
                      <a:round/>
                      <a:headEnd type="none" w="med" len="med"/>
                      <a:tailEnd type="none" w="med" len="med"/>
                    </a:lnL>
                    <a:lnR cmpd="sng" algn="ctr" cap="flat" w="38100">
                      <a:solidFill>
                        <a:srgbClr val="002699"/>
                      </a:solidFill>
                      <a:prstDash val="solid"/>
                      <a:round/>
                      <a:headEnd type="none" w="med" len="med"/>
                      <a:tailEnd type="none" w="med" len="med"/>
                    </a:lnR>
                    <a:lnT cmpd="sng" algn="ctr" cap="flat" w="38100">
                      <a:solidFill>
                        <a:srgbClr val="002699"/>
                      </a:solidFill>
                      <a:prstDash val="solid"/>
                      <a:round/>
                      <a:headEnd type="none" w="med" len="med"/>
                      <a:tailEnd type="none" w="med" len="med"/>
                    </a:lnT>
                    <a:lnB cmpd="sng" algn="ctr" cap="flat" w="38100">
                      <a:solidFill>
                        <a:srgbClr val="002699"/>
                      </a:solidFill>
                      <a:prstDash val="solid"/>
                      <a:round/>
                      <a:headEnd type="none" w="med" len="med"/>
                      <a:tailEnd type="none" w="med" len="med"/>
                    </a:lnB>
                  </a:tcPr>
                </a:tc>
              </a:tr>
            </a:tbl>
          </a:graphicData>
        </a:graphic>
      </p:graphicFrame>
      <p:sp>
        <p:nvSpPr>
          <p:cNvPr name="TextBox 8" id="8"/>
          <p:cNvSpPr txBox="true"/>
          <p:nvPr/>
        </p:nvSpPr>
        <p:spPr>
          <a:xfrm rot="0">
            <a:off x="15838587"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11 of 37</a:t>
            </a:r>
          </a:p>
        </p:txBody>
      </p:sp>
      <p:sp>
        <p:nvSpPr>
          <p:cNvPr name="TextBox 9" id="9"/>
          <p:cNvSpPr txBox="true"/>
          <p:nvPr/>
        </p:nvSpPr>
        <p:spPr>
          <a:xfrm rot="0">
            <a:off x="1028700" y="6858000"/>
            <a:ext cx="11667827" cy="2400300"/>
          </a:xfrm>
          <a:prstGeom prst="rect">
            <a:avLst/>
          </a:prstGeom>
        </p:spPr>
        <p:txBody>
          <a:bodyPr anchor="t" rtlCol="false" tIns="0" lIns="0" bIns="0" rIns="0">
            <a:spAutoFit/>
          </a:bodyPr>
          <a:lstStyle/>
          <a:p>
            <a:pPr algn="l">
              <a:lnSpc>
                <a:spcPts val="4799"/>
              </a:lnSpc>
            </a:pPr>
            <a:r>
              <a:rPr lang="en-US" sz="3999" spc="611" b="true">
                <a:solidFill>
                  <a:srgbClr val="1B4290"/>
                </a:solidFill>
                <a:latin typeface="Roboto Bold"/>
                <a:ea typeface="Roboto Bold"/>
                <a:cs typeface="Roboto Bold"/>
                <a:sym typeface="Roboto Bold"/>
              </a:rPr>
              <a:t>Quá trình giải mã:</a:t>
            </a:r>
          </a:p>
          <a:p>
            <a:pPr algn="l" marL="863599" indent="-431800" lvl="1">
              <a:lnSpc>
                <a:spcPts val="4799"/>
              </a:lnSpc>
              <a:buFont typeface="Arial"/>
              <a:buChar char="•"/>
            </a:pPr>
            <a:r>
              <a:rPr lang="en-US" sz="3999" spc="611">
                <a:solidFill>
                  <a:srgbClr val="000000"/>
                </a:solidFill>
                <a:latin typeface="Roboto"/>
                <a:ea typeface="Roboto"/>
                <a:cs typeface="Roboto"/>
                <a:sym typeface="Roboto"/>
              </a:rPr>
              <a:t>Flags = 0x00: Dùng đơn vị SI</a:t>
            </a:r>
          </a:p>
          <a:p>
            <a:pPr algn="l" marL="863599" indent="-431800" lvl="1">
              <a:lnSpc>
                <a:spcPts val="4799"/>
              </a:lnSpc>
              <a:buFont typeface="Arial"/>
              <a:buChar char="•"/>
            </a:pPr>
            <a:r>
              <a:rPr lang="en-US" sz="3999" spc="611">
                <a:solidFill>
                  <a:srgbClr val="000000"/>
                </a:solidFill>
                <a:latin typeface="Roboto"/>
                <a:ea typeface="Roboto"/>
                <a:cs typeface="Roboto"/>
                <a:sym typeface="Roboto"/>
              </a:rPr>
              <a:t>Weight = 0x0FA0 chuyển thành 4000</a:t>
            </a:r>
          </a:p>
          <a:p>
            <a:pPr algn="l" marL="863599" indent="-431800" lvl="1">
              <a:lnSpc>
                <a:spcPts val="4799"/>
              </a:lnSpc>
              <a:buFont typeface="Arial"/>
              <a:buChar char="•"/>
            </a:pPr>
            <a:r>
              <a:rPr lang="en-US" sz="3999" spc="615">
                <a:solidFill>
                  <a:srgbClr val="000000"/>
                </a:solidFill>
                <a:latin typeface="Roboto"/>
                <a:ea typeface="Roboto"/>
                <a:cs typeface="Roboto"/>
                <a:sym typeface="Roboto"/>
              </a:rPr>
              <a:t>Tính: 4000 x 0.005 = 20kg</a:t>
            </a:r>
          </a:p>
        </p:txBody>
      </p:sp>
    </p:spTree>
  </p:cSld>
  <p:clrMapOvr>
    <a:masterClrMapping/>
  </p:clrMapOvr>
  <p:transition spd="med">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7240289" cy="1214056"/>
            <a:chOff x="0" y="0"/>
            <a:chExt cx="22987052" cy="1618742"/>
          </a:xfrm>
        </p:grpSpPr>
        <p:grpSp>
          <p:nvGrpSpPr>
            <p:cNvPr name="Group 3" id="3"/>
            <p:cNvGrpSpPr/>
            <p:nvPr/>
          </p:nvGrpSpPr>
          <p:grpSpPr>
            <a:xfrm rot="0">
              <a:off x="0" y="0"/>
              <a:ext cx="22987052" cy="1618742"/>
              <a:chOff x="0" y="0"/>
              <a:chExt cx="2688876" cy="189350"/>
            </a:xfrm>
          </p:grpSpPr>
          <p:sp>
            <p:nvSpPr>
              <p:cNvPr name="Freeform 4" id="4"/>
              <p:cNvSpPr/>
              <p:nvPr/>
            </p:nvSpPr>
            <p:spPr>
              <a:xfrm flipH="false" flipV="false" rot="0">
                <a:off x="0" y="0"/>
                <a:ext cx="2688876" cy="189350"/>
              </a:xfrm>
              <a:custGeom>
                <a:avLst/>
                <a:gdLst/>
                <a:ahLst/>
                <a:cxnLst/>
                <a:rect r="r" b="b" t="t" l="l"/>
                <a:pathLst>
                  <a:path h="189350" w="2688876">
                    <a:moveTo>
                      <a:pt x="203200" y="0"/>
                    </a:moveTo>
                    <a:lnTo>
                      <a:pt x="2688876" y="0"/>
                    </a:lnTo>
                    <a:lnTo>
                      <a:pt x="2485676" y="189350"/>
                    </a:lnTo>
                    <a:lnTo>
                      <a:pt x="0" y="189350"/>
                    </a:lnTo>
                    <a:lnTo>
                      <a:pt x="203200" y="0"/>
                    </a:lnTo>
                    <a:close/>
                  </a:path>
                </a:pathLst>
              </a:custGeom>
              <a:solidFill>
                <a:srgbClr val="002699"/>
              </a:solidFill>
            </p:spPr>
          </p:sp>
          <p:sp>
            <p:nvSpPr>
              <p:cNvPr name="TextBox 5" id="5"/>
              <p:cNvSpPr txBox="true"/>
              <p:nvPr/>
            </p:nvSpPr>
            <p:spPr>
              <a:xfrm>
                <a:off x="101600" y="-47625"/>
                <a:ext cx="2485676"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654798" y="291846"/>
              <a:ext cx="17349656"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3.2 GIỚI THIỆU</a:t>
              </a:r>
              <a:r>
                <a:rPr lang="en-US" b="true" sz="5000" spc="769">
                  <a:solidFill>
                    <a:srgbClr val="FFFFFF"/>
                  </a:solidFill>
                  <a:latin typeface="Roboto Bold"/>
                  <a:ea typeface="Roboto Bold"/>
                  <a:cs typeface="Roboto Bold"/>
                  <a:sym typeface="Roboto Bold"/>
                </a:rPr>
                <a:t> MQTT [MQTT2025]</a:t>
              </a:r>
            </a:p>
          </p:txBody>
        </p:sp>
      </p:grpSp>
      <p:sp>
        <p:nvSpPr>
          <p:cNvPr name="TextBox 7" id="7"/>
          <p:cNvSpPr txBox="true"/>
          <p:nvPr/>
        </p:nvSpPr>
        <p:spPr>
          <a:xfrm rot="0">
            <a:off x="1028700" y="2381250"/>
            <a:ext cx="12774362" cy="6419850"/>
          </a:xfrm>
          <a:prstGeom prst="rect">
            <a:avLst/>
          </a:prstGeom>
        </p:spPr>
        <p:txBody>
          <a:bodyPr anchor="t" rtlCol="false" tIns="0" lIns="0" bIns="0" rIns="0">
            <a:spAutoFit/>
          </a:bodyPr>
          <a:lstStyle/>
          <a:p>
            <a:pPr algn="l">
              <a:lnSpc>
                <a:spcPts val="3600"/>
              </a:lnSpc>
              <a:spcBef>
                <a:spcPct val="0"/>
              </a:spcBef>
            </a:pPr>
            <a:r>
              <a:rPr lang="en-US" b="true" sz="3000" spc="459">
                <a:solidFill>
                  <a:srgbClr val="1B4290"/>
                </a:solidFill>
                <a:latin typeface="Roboto Bold"/>
                <a:ea typeface="Roboto Bold"/>
                <a:cs typeface="Roboto Bold"/>
                <a:sym typeface="Roboto Bold"/>
              </a:rPr>
              <a:t>MQTT (Message Queuing Telemetry Transp</a:t>
            </a:r>
            <a:r>
              <a:rPr lang="en-US" b="true" sz="3000" spc="459">
                <a:solidFill>
                  <a:srgbClr val="1B4290"/>
                </a:solidFill>
                <a:latin typeface="Roboto Bold"/>
                <a:ea typeface="Roboto Bold"/>
                <a:cs typeface="Roboto Bold"/>
                <a:sym typeface="Roboto Bold"/>
              </a:rPr>
              <a:t>ort)</a:t>
            </a:r>
            <a:r>
              <a:rPr lang="en-US" sz="3000" spc="459">
                <a:solidFill>
                  <a:srgbClr val="000000"/>
                </a:solidFill>
                <a:latin typeface="Roboto"/>
                <a:ea typeface="Roboto"/>
                <a:cs typeface="Roboto"/>
                <a:sym typeface="Roboto"/>
              </a:rPr>
              <a:t> là giao thức nhẹ, dùng để gửi và</a:t>
            </a:r>
          </a:p>
          <a:p>
            <a:pPr algn="l">
              <a:lnSpc>
                <a:spcPts val="3600"/>
              </a:lnSpc>
              <a:spcBef>
                <a:spcPct val="0"/>
              </a:spcBef>
            </a:pPr>
            <a:r>
              <a:rPr lang="en-US" sz="3000" spc="459">
                <a:solidFill>
                  <a:srgbClr val="000000"/>
                </a:solidFill>
                <a:latin typeface="Roboto"/>
                <a:ea typeface="Roboto"/>
                <a:cs typeface="Roboto"/>
                <a:sym typeface="Roboto"/>
              </a:rPr>
              <a:t>nhận thông điệp.</a:t>
            </a:r>
          </a:p>
          <a:p>
            <a:pPr algn="l" marL="647711" indent="-323856" lvl="1">
              <a:lnSpc>
                <a:spcPts val="3600"/>
              </a:lnSpc>
              <a:buFont typeface="Arial"/>
              <a:buChar char="•"/>
            </a:pPr>
            <a:r>
              <a:rPr lang="en-US" sz="3000" spc="459">
                <a:solidFill>
                  <a:srgbClr val="000000"/>
                </a:solidFill>
                <a:latin typeface="Roboto"/>
                <a:ea typeface="Roboto"/>
                <a:cs typeface="Roboto"/>
                <a:sym typeface="Roboto"/>
              </a:rPr>
              <a:t>Hoạt động theo mô hình publish-subscribe.</a:t>
            </a:r>
          </a:p>
          <a:p>
            <a:pPr algn="l" marL="647711" indent="-323856" lvl="1">
              <a:lnSpc>
                <a:spcPts val="3600"/>
              </a:lnSpc>
              <a:buFont typeface="Arial"/>
              <a:buChar char="•"/>
            </a:pPr>
            <a:r>
              <a:rPr lang="en-US" sz="3000" spc="459">
                <a:solidFill>
                  <a:srgbClr val="000000"/>
                </a:solidFill>
                <a:latin typeface="Roboto"/>
                <a:ea typeface="Roboto"/>
                <a:cs typeface="Roboto"/>
                <a:sym typeface="Roboto"/>
              </a:rPr>
              <a:t>Phù hợp với các mạng có băng thông thấp hoặc độ trễ cao, thường dùng trong IoT.</a:t>
            </a:r>
          </a:p>
          <a:p>
            <a:pPr algn="l">
              <a:lnSpc>
                <a:spcPts val="3600"/>
              </a:lnSpc>
              <a:spcBef>
                <a:spcPct val="0"/>
              </a:spcBef>
            </a:pPr>
          </a:p>
          <a:p>
            <a:pPr algn="l">
              <a:lnSpc>
                <a:spcPts val="3600"/>
              </a:lnSpc>
              <a:spcBef>
                <a:spcPct val="0"/>
              </a:spcBef>
            </a:pPr>
            <a:r>
              <a:rPr lang="en-US" sz="3000" spc="459">
                <a:solidFill>
                  <a:srgbClr val="000000"/>
                </a:solidFill>
                <a:latin typeface="Roboto"/>
                <a:ea typeface="Roboto"/>
                <a:cs typeface="Roboto"/>
                <a:sym typeface="Roboto"/>
              </a:rPr>
              <a:t>MQTT dựa trên mô hình </a:t>
            </a:r>
            <a:r>
              <a:rPr lang="en-US" b="true" sz="3000" spc="459">
                <a:solidFill>
                  <a:srgbClr val="1B4290"/>
                </a:solidFill>
                <a:latin typeface="Roboto Bold"/>
                <a:ea typeface="Roboto Bold"/>
                <a:cs typeface="Roboto Bold"/>
                <a:sym typeface="Roboto Bold"/>
              </a:rPr>
              <a:t>publish-subscribe</a:t>
            </a:r>
            <a:r>
              <a:rPr lang="en-US" sz="3000" spc="459">
                <a:solidFill>
                  <a:srgbClr val="000000"/>
                </a:solidFill>
                <a:latin typeface="Roboto"/>
                <a:ea typeface="Roboto"/>
                <a:cs typeface="Roboto"/>
                <a:sym typeface="Roboto"/>
              </a:rPr>
              <a:t> với 3 thành phần chính:</a:t>
            </a:r>
          </a:p>
          <a:p>
            <a:pPr algn="l" marL="647711" indent="-323856" lvl="1">
              <a:lnSpc>
                <a:spcPts val="3600"/>
              </a:lnSpc>
              <a:buAutoNum type="arabicPeriod" startAt="1"/>
            </a:pPr>
            <a:r>
              <a:rPr lang="en-US" b="true" sz="3000" spc="459">
                <a:solidFill>
                  <a:srgbClr val="1B4290"/>
                </a:solidFill>
                <a:latin typeface="Roboto Bold"/>
                <a:ea typeface="Roboto Bold"/>
                <a:cs typeface="Roboto Bold"/>
                <a:sym typeface="Roboto Bold"/>
              </a:rPr>
              <a:t>Publisher:</a:t>
            </a:r>
            <a:r>
              <a:rPr lang="en-US" sz="3000" spc="459">
                <a:solidFill>
                  <a:srgbClr val="000000"/>
                </a:solidFill>
                <a:latin typeface="Roboto"/>
                <a:ea typeface="Roboto"/>
                <a:cs typeface="Roboto"/>
                <a:sym typeface="Roboto"/>
              </a:rPr>
              <a:t> Gửi thông điệp đến một hay nhiều topic.</a:t>
            </a:r>
          </a:p>
          <a:p>
            <a:pPr algn="l" marL="647711" indent="-323856" lvl="1">
              <a:lnSpc>
                <a:spcPts val="3600"/>
              </a:lnSpc>
              <a:buAutoNum type="arabicPeriod" startAt="1"/>
            </a:pPr>
            <a:r>
              <a:rPr lang="en-US" b="true" sz="3000" spc="459">
                <a:solidFill>
                  <a:srgbClr val="1B4290"/>
                </a:solidFill>
                <a:latin typeface="Roboto Bold"/>
                <a:ea typeface="Roboto Bold"/>
                <a:cs typeface="Roboto Bold"/>
                <a:sym typeface="Roboto Bold"/>
              </a:rPr>
              <a:t>Subscriber:</a:t>
            </a:r>
            <a:r>
              <a:rPr lang="en-US" sz="3000" spc="459">
                <a:solidFill>
                  <a:srgbClr val="000000"/>
                </a:solidFill>
                <a:latin typeface="Roboto"/>
                <a:ea typeface="Roboto"/>
                <a:cs typeface="Roboto"/>
                <a:sym typeface="Roboto"/>
              </a:rPr>
              <a:t> Đăng ký để nhận thông điệp từ các topic quan tâm.</a:t>
            </a:r>
          </a:p>
          <a:p>
            <a:pPr algn="l" marL="647711" indent="-323856" lvl="1">
              <a:lnSpc>
                <a:spcPts val="3600"/>
              </a:lnSpc>
              <a:buAutoNum type="arabicPeriod" startAt="1"/>
            </a:pPr>
            <a:r>
              <a:rPr lang="en-US" b="true" sz="3000" spc="461">
                <a:solidFill>
                  <a:srgbClr val="1B4290"/>
                </a:solidFill>
                <a:latin typeface="Roboto Bold"/>
                <a:ea typeface="Roboto Bold"/>
                <a:cs typeface="Roboto Bold"/>
                <a:sym typeface="Roboto Bold"/>
              </a:rPr>
              <a:t>Broker:</a:t>
            </a:r>
            <a:r>
              <a:rPr lang="en-US" sz="3000" spc="461">
                <a:solidFill>
                  <a:srgbClr val="000000"/>
                </a:solidFill>
                <a:latin typeface="Roboto"/>
                <a:ea typeface="Roboto"/>
                <a:cs typeface="Roboto"/>
                <a:sym typeface="Roboto"/>
              </a:rPr>
              <a:t> Là trung gian nhận thông điệp từ Publisher và chuyển đến Subscriber.</a:t>
            </a:r>
          </a:p>
        </p:txBody>
      </p:sp>
      <p:sp>
        <p:nvSpPr>
          <p:cNvPr name="Freeform 8" id="8"/>
          <p:cNvSpPr/>
          <p:nvPr/>
        </p:nvSpPr>
        <p:spPr>
          <a:xfrm flipH="false" flipV="false" rot="0">
            <a:off x="14146103" y="4936582"/>
            <a:ext cx="3449572" cy="2952720"/>
          </a:xfrm>
          <a:custGeom>
            <a:avLst/>
            <a:gdLst/>
            <a:ahLst/>
            <a:cxnLst/>
            <a:rect r="r" b="b" t="t" l="l"/>
            <a:pathLst>
              <a:path h="2952720" w="3449572">
                <a:moveTo>
                  <a:pt x="0" y="0"/>
                </a:moveTo>
                <a:lnTo>
                  <a:pt x="3449571" y="0"/>
                </a:lnTo>
                <a:lnTo>
                  <a:pt x="3449571" y="2952720"/>
                </a:lnTo>
                <a:lnTo>
                  <a:pt x="0" y="2952720"/>
                </a:lnTo>
                <a:lnTo>
                  <a:pt x="0" y="0"/>
                </a:lnTo>
                <a:close/>
              </a:path>
            </a:pathLst>
          </a:custGeom>
          <a:blipFill>
            <a:blip r:embed="rId2"/>
            <a:stretch>
              <a:fillRect l="0" t="0" r="0" b="0"/>
            </a:stretch>
          </a:blipFill>
        </p:spPr>
      </p:sp>
      <p:sp>
        <p:nvSpPr>
          <p:cNvPr name="TextBox 9" id="9"/>
          <p:cNvSpPr txBox="true"/>
          <p:nvPr/>
        </p:nvSpPr>
        <p:spPr>
          <a:xfrm rot="0">
            <a:off x="15665946"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12 of 37</a:t>
            </a:r>
          </a:p>
        </p:txBody>
      </p:sp>
      <p:sp>
        <p:nvSpPr>
          <p:cNvPr name="TextBox 10" id="10"/>
          <p:cNvSpPr txBox="true"/>
          <p:nvPr/>
        </p:nvSpPr>
        <p:spPr>
          <a:xfrm rot="0">
            <a:off x="1028700" y="9283700"/>
            <a:ext cx="11993910" cy="276225"/>
          </a:xfrm>
          <a:prstGeom prst="rect">
            <a:avLst/>
          </a:prstGeom>
        </p:spPr>
        <p:txBody>
          <a:bodyPr anchor="t" rtlCol="false" tIns="0" lIns="0" bIns="0" rIns="0">
            <a:spAutoFit/>
          </a:bodyPr>
          <a:lstStyle/>
          <a:p>
            <a:pPr algn="ctr">
              <a:lnSpc>
                <a:spcPts val="2160"/>
              </a:lnSpc>
              <a:spcBef>
                <a:spcPct val="0"/>
              </a:spcBef>
            </a:pPr>
            <a:r>
              <a:rPr lang="en-US" sz="1800" spc="276">
                <a:solidFill>
                  <a:srgbClr val="000000"/>
                </a:solidFill>
                <a:latin typeface="Roboto"/>
                <a:ea typeface="Roboto"/>
                <a:cs typeface="Roboto"/>
                <a:sym typeface="Roboto"/>
              </a:rPr>
              <a:t>[MQTT2025]</a:t>
            </a:r>
            <a:r>
              <a:rPr lang="en-US" sz="1800" spc="276">
                <a:solidFill>
                  <a:srgbClr val="000000"/>
                </a:solidFill>
                <a:latin typeface="Roboto"/>
                <a:ea typeface="Roboto"/>
                <a:cs typeface="Roboto"/>
                <a:sym typeface="Roboto"/>
              </a:rPr>
              <a:t> EMQX Team (2025). Mastering mqtt: The ultimate beginner’s guide for 2025.</a:t>
            </a:r>
          </a:p>
        </p:txBody>
      </p:sp>
    </p:spTree>
  </p:cSld>
  <p:clrMapOvr>
    <a:masterClrMapping/>
  </p:clrMapOvr>
  <p:transition spd="med">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8436327" cy="1214056"/>
            <a:chOff x="0" y="0"/>
            <a:chExt cx="24581769" cy="1618742"/>
          </a:xfrm>
        </p:grpSpPr>
        <p:grpSp>
          <p:nvGrpSpPr>
            <p:cNvPr name="Group 3" id="3"/>
            <p:cNvGrpSpPr/>
            <p:nvPr/>
          </p:nvGrpSpPr>
          <p:grpSpPr>
            <a:xfrm rot="0">
              <a:off x="0" y="0"/>
              <a:ext cx="24581769" cy="1618742"/>
              <a:chOff x="0" y="0"/>
              <a:chExt cx="2875415" cy="189350"/>
            </a:xfrm>
          </p:grpSpPr>
          <p:sp>
            <p:nvSpPr>
              <p:cNvPr name="Freeform 4" id="4"/>
              <p:cNvSpPr/>
              <p:nvPr/>
            </p:nvSpPr>
            <p:spPr>
              <a:xfrm flipH="false" flipV="false" rot="0">
                <a:off x="0" y="0"/>
                <a:ext cx="2875415" cy="189350"/>
              </a:xfrm>
              <a:custGeom>
                <a:avLst/>
                <a:gdLst/>
                <a:ahLst/>
                <a:cxnLst/>
                <a:rect r="r" b="b" t="t" l="l"/>
                <a:pathLst>
                  <a:path h="189350" w="2875415">
                    <a:moveTo>
                      <a:pt x="203200" y="0"/>
                    </a:moveTo>
                    <a:lnTo>
                      <a:pt x="2875415" y="0"/>
                    </a:lnTo>
                    <a:lnTo>
                      <a:pt x="2672215" y="189350"/>
                    </a:lnTo>
                    <a:lnTo>
                      <a:pt x="0" y="189350"/>
                    </a:lnTo>
                    <a:lnTo>
                      <a:pt x="203200" y="0"/>
                    </a:lnTo>
                    <a:close/>
                  </a:path>
                </a:pathLst>
              </a:custGeom>
              <a:solidFill>
                <a:srgbClr val="002699"/>
              </a:solidFill>
            </p:spPr>
          </p:sp>
          <p:sp>
            <p:nvSpPr>
              <p:cNvPr name="TextBox 5" id="5"/>
              <p:cNvSpPr txBox="true"/>
              <p:nvPr/>
            </p:nvSpPr>
            <p:spPr>
              <a:xfrm>
                <a:off x="101600" y="-47625"/>
                <a:ext cx="2672215"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908348" y="291846"/>
              <a:ext cx="18553281"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3.3 GIỚI THIỆU CORE IOT</a:t>
              </a:r>
              <a:r>
                <a:rPr lang="en-US" b="true" sz="5000" spc="769">
                  <a:solidFill>
                    <a:srgbClr val="FFFFFF"/>
                  </a:solidFill>
                  <a:latin typeface="Roboto Bold"/>
                  <a:ea typeface="Roboto Bold"/>
                  <a:cs typeface="Roboto Bold"/>
                  <a:sym typeface="Roboto Bold"/>
                </a:rPr>
                <a:t> [TBpf2025]</a:t>
              </a:r>
            </a:p>
          </p:txBody>
        </p:sp>
      </p:grpSp>
      <p:sp>
        <p:nvSpPr>
          <p:cNvPr name="TextBox 7" id="7"/>
          <p:cNvSpPr txBox="true"/>
          <p:nvPr/>
        </p:nvSpPr>
        <p:spPr>
          <a:xfrm rot="0">
            <a:off x="1028700" y="2227564"/>
            <a:ext cx="15221511" cy="5048250"/>
          </a:xfrm>
          <a:prstGeom prst="rect">
            <a:avLst/>
          </a:prstGeom>
        </p:spPr>
        <p:txBody>
          <a:bodyPr anchor="t" rtlCol="false" tIns="0" lIns="0" bIns="0" rIns="0">
            <a:spAutoFit/>
          </a:bodyPr>
          <a:lstStyle/>
          <a:p>
            <a:pPr algn="l">
              <a:lnSpc>
                <a:spcPts val="3600"/>
              </a:lnSpc>
            </a:pPr>
            <a:r>
              <a:rPr lang="en-US" b="true" sz="3000" spc="459">
                <a:solidFill>
                  <a:srgbClr val="1B4290"/>
                </a:solidFill>
                <a:latin typeface="Roboto Bold"/>
                <a:ea typeface="Roboto Bold"/>
                <a:cs typeface="Roboto Bold"/>
                <a:sym typeface="Roboto Bold"/>
              </a:rPr>
              <a:t>Core IoT</a:t>
            </a:r>
            <a:r>
              <a:rPr lang="en-US" sz="3000" spc="459">
                <a:solidFill>
                  <a:srgbClr val="000000"/>
                </a:solidFill>
                <a:latin typeface="Roboto"/>
                <a:ea typeface="Roboto"/>
                <a:cs typeface="Roboto"/>
                <a:sym typeface="Roboto"/>
              </a:rPr>
              <a:t> là nền tảng hỗ trợ kỹ sư lập t</a:t>
            </a:r>
            <a:r>
              <a:rPr lang="en-US" sz="3000" spc="459">
                <a:solidFill>
                  <a:srgbClr val="000000"/>
                </a:solidFill>
                <a:latin typeface="Roboto"/>
                <a:ea typeface="Roboto"/>
                <a:cs typeface="Roboto"/>
                <a:sym typeface="Roboto"/>
              </a:rPr>
              <a:t>rình nhúng quản lý và giám sát cácthiết bị IoT. Dựa trên ThingsBoard – một nền tảng IoT mã nguồn mở nổi tiếng. </a:t>
            </a:r>
            <a:r>
              <a:rPr lang="en-US" sz="3000" spc="459">
                <a:solidFill>
                  <a:srgbClr val="000000"/>
                </a:solidFill>
                <a:latin typeface="Roboto"/>
                <a:ea typeface="Roboto"/>
                <a:cs typeface="Roboto"/>
                <a:sym typeface="Roboto"/>
              </a:rPr>
              <a:t>C</a:t>
            </a:r>
            <a:r>
              <a:rPr lang="en-US" sz="3000" spc="459">
                <a:solidFill>
                  <a:srgbClr val="000000"/>
                </a:solidFill>
                <a:latin typeface="Roboto"/>
                <a:ea typeface="Roboto"/>
                <a:cs typeface="Roboto"/>
                <a:sym typeface="Roboto"/>
              </a:rPr>
              <a:t>ho phép thu thập, xử lý, trực quan hóa dữ liệu và quản lý thiết bị. </a:t>
            </a:r>
            <a:r>
              <a:rPr lang="en-US" sz="3000" spc="459">
                <a:solidFill>
                  <a:srgbClr val="000000"/>
                </a:solidFill>
                <a:latin typeface="Roboto"/>
                <a:ea typeface="Roboto"/>
                <a:cs typeface="Roboto"/>
                <a:sym typeface="Roboto"/>
              </a:rPr>
              <a:t>Hỗ</a:t>
            </a:r>
            <a:r>
              <a:rPr lang="en-US" sz="3000" spc="459">
                <a:solidFill>
                  <a:srgbClr val="000000"/>
                </a:solidFill>
                <a:latin typeface="Roboto"/>
                <a:ea typeface="Roboto"/>
                <a:cs typeface="Roboto"/>
                <a:sym typeface="Roboto"/>
              </a:rPr>
              <a:t> trợ các giao thức như MQTT, CoAP và HTTP.</a:t>
            </a:r>
          </a:p>
          <a:p>
            <a:pPr algn="l">
              <a:lnSpc>
                <a:spcPts val="3600"/>
              </a:lnSpc>
              <a:spcBef>
                <a:spcPct val="0"/>
              </a:spcBef>
            </a:pPr>
          </a:p>
          <a:p>
            <a:pPr algn="l">
              <a:lnSpc>
                <a:spcPts val="3600"/>
              </a:lnSpc>
              <a:spcBef>
                <a:spcPct val="0"/>
              </a:spcBef>
            </a:pPr>
            <a:r>
              <a:rPr lang="en-US" b="true" sz="3000" spc="459">
                <a:solidFill>
                  <a:srgbClr val="1B4290"/>
                </a:solidFill>
                <a:latin typeface="Roboto Bold"/>
                <a:ea typeface="Roboto Bold"/>
                <a:cs typeface="Roboto Bold"/>
                <a:sym typeface="Roboto Bold"/>
              </a:rPr>
              <a:t>Các tính năng chính của Core IoT:</a:t>
            </a:r>
          </a:p>
          <a:p>
            <a:pPr algn="l" marL="647711" indent="-323856" lvl="1">
              <a:lnSpc>
                <a:spcPts val="3600"/>
              </a:lnSpc>
              <a:buAutoNum type="arabicPeriod" startAt="1"/>
            </a:pPr>
            <a:r>
              <a:rPr lang="en-US" sz="3000" spc="459">
                <a:solidFill>
                  <a:srgbClr val="000000"/>
                </a:solidFill>
                <a:latin typeface="Roboto"/>
                <a:ea typeface="Roboto"/>
                <a:cs typeface="Roboto"/>
                <a:sym typeface="Roboto"/>
              </a:rPr>
              <a:t>Q</a:t>
            </a:r>
            <a:r>
              <a:rPr lang="en-US" sz="3000" spc="459">
                <a:solidFill>
                  <a:srgbClr val="000000"/>
                </a:solidFill>
                <a:latin typeface="Roboto"/>
                <a:ea typeface="Roboto"/>
                <a:cs typeface="Roboto"/>
                <a:sym typeface="Roboto"/>
              </a:rPr>
              <a:t>uản lý thiết bị và tài sản</a:t>
            </a:r>
          </a:p>
          <a:p>
            <a:pPr algn="l" marL="647711" indent="-323856" lvl="1">
              <a:lnSpc>
                <a:spcPts val="3600"/>
              </a:lnSpc>
              <a:buAutoNum type="arabicPeriod" startAt="1"/>
            </a:pPr>
            <a:r>
              <a:rPr lang="en-US" sz="3000" spc="459">
                <a:solidFill>
                  <a:srgbClr val="000000"/>
                </a:solidFill>
                <a:latin typeface="Roboto"/>
                <a:ea typeface="Roboto"/>
                <a:cs typeface="Roboto"/>
                <a:sym typeface="Roboto"/>
              </a:rPr>
              <a:t>Thu thập và trực quan hóa dữ liệu</a:t>
            </a:r>
          </a:p>
          <a:p>
            <a:pPr algn="l" marL="647711" indent="-323856" lvl="1">
              <a:lnSpc>
                <a:spcPts val="3600"/>
              </a:lnSpc>
              <a:buAutoNum type="arabicPeriod" startAt="1"/>
            </a:pPr>
            <a:r>
              <a:rPr lang="en-US" sz="3000" spc="459">
                <a:solidFill>
                  <a:srgbClr val="000000"/>
                </a:solidFill>
                <a:latin typeface="Roboto"/>
                <a:ea typeface="Roboto"/>
                <a:cs typeface="Roboto"/>
                <a:sym typeface="Roboto"/>
              </a:rPr>
              <a:t>Xử lý và phản ứng</a:t>
            </a:r>
          </a:p>
          <a:p>
            <a:pPr algn="l" marL="647711" indent="-323856" lvl="1">
              <a:lnSpc>
                <a:spcPts val="3600"/>
              </a:lnSpc>
              <a:buAutoNum type="arabicPeriod" startAt="1"/>
            </a:pPr>
            <a:r>
              <a:rPr lang="en-US" sz="3000" spc="459">
                <a:solidFill>
                  <a:srgbClr val="000000"/>
                </a:solidFill>
                <a:latin typeface="Roboto"/>
                <a:ea typeface="Roboto"/>
                <a:cs typeface="Roboto"/>
                <a:sym typeface="Roboto"/>
              </a:rPr>
              <a:t>Triển khai linh hoạt</a:t>
            </a:r>
          </a:p>
          <a:p>
            <a:pPr algn="l" marL="647711" indent="-323856" lvl="1">
              <a:lnSpc>
                <a:spcPts val="3600"/>
              </a:lnSpc>
              <a:buAutoNum type="arabicPeriod" startAt="1"/>
            </a:pPr>
            <a:r>
              <a:rPr lang="en-US" sz="3000" spc="461">
                <a:solidFill>
                  <a:srgbClr val="000000"/>
                </a:solidFill>
                <a:latin typeface="Roboto"/>
                <a:ea typeface="Roboto"/>
                <a:cs typeface="Roboto"/>
                <a:sym typeface="Roboto"/>
              </a:rPr>
              <a:t>Bảo mật</a:t>
            </a:r>
          </a:p>
        </p:txBody>
      </p:sp>
      <p:sp>
        <p:nvSpPr>
          <p:cNvPr name="Freeform 8" id="8"/>
          <p:cNvSpPr/>
          <p:nvPr/>
        </p:nvSpPr>
        <p:spPr>
          <a:xfrm flipH="false" flipV="false" rot="0">
            <a:off x="12006266" y="7771119"/>
            <a:ext cx="4447948" cy="991877"/>
          </a:xfrm>
          <a:custGeom>
            <a:avLst/>
            <a:gdLst/>
            <a:ahLst/>
            <a:cxnLst/>
            <a:rect r="r" b="b" t="t" l="l"/>
            <a:pathLst>
              <a:path h="991877" w="4447948">
                <a:moveTo>
                  <a:pt x="0" y="0"/>
                </a:moveTo>
                <a:lnTo>
                  <a:pt x="4447948" y="0"/>
                </a:lnTo>
                <a:lnTo>
                  <a:pt x="4447948" y="991876"/>
                </a:lnTo>
                <a:lnTo>
                  <a:pt x="0" y="991876"/>
                </a:lnTo>
                <a:lnTo>
                  <a:pt x="0" y="0"/>
                </a:lnTo>
                <a:close/>
              </a:path>
            </a:pathLst>
          </a:custGeom>
          <a:blipFill>
            <a:blip r:embed="rId2"/>
            <a:stretch>
              <a:fillRect l="0" t="0" r="0" b="0"/>
            </a:stretch>
          </a:blipFill>
        </p:spPr>
      </p:sp>
      <p:sp>
        <p:nvSpPr>
          <p:cNvPr name="TextBox 9" id="9"/>
          <p:cNvSpPr txBox="true"/>
          <p:nvPr/>
        </p:nvSpPr>
        <p:spPr>
          <a:xfrm rot="0">
            <a:off x="15665946"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13 of 37</a:t>
            </a:r>
          </a:p>
        </p:txBody>
      </p:sp>
      <p:sp>
        <p:nvSpPr>
          <p:cNvPr name="TextBox 10" id="10"/>
          <p:cNvSpPr txBox="true"/>
          <p:nvPr/>
        </p:nvSpPr>
        <p:spPr>
          <a:xfrm rot="0">
            <a:off x="1028700" y="9283700"/>
            <a:ext cx="11993910" cy="276225"/>
          </a:xfrm>
          <a:prstGeom prst="rect">
            <a:avLst/>
          </a:prstGeom>
        </p:spPr>
        <p:txBody>
          <a:bodyPr anchor="t" rtlCol="false" tIns="0" lIns="0" bIns="0" rIns="0">
            <a:spAutoFit/>
          </a:bodyPr>
          <a:lstStyle/>
          <a:p>
            <a:pPr algn="ctr">
              <a:lnSpc>
                <a:spcPts val="2160"/>
              </a:lnSpc>
              <a:spcBef>
                <a:spcPct val="0"/>
              </a:spcBef>
            </a:pPr>
            <a:r>
              <a:rPr lang="en-US" sz="1800" spc="276">
                <a:solidFill>
                  <a:srgbClr val="000000"/>
                </a:solidFill>
                <a:latin typeface="Roboto"/>
                <a:ea typeface="Roboto"/>
                <a:cs typeface="Roboto"/>
                <a:sym typeface="Roboto"/>
              </a:rPr>
              <a:t>[MQTT2025]</a:t>
            </a:r>
            <a:r>
              <a:rPr lang="en-US" sz="1800" spc="276">
                <a:solidFill>
                  <a:srgbClr val="000000"/>
                </a:solidFill>
                <a:latin typeface="Roboto"/>
                <a:ea typeface="Roboto"/>
                <a:cs typeface="Roboto"/>
                <a:sym typeface="Roboto"/>
              </a:rPr>
              <a:t> EMQX Team (2025). Mastering mqtt: The ultimate beginner’s guide for 2025.</a:t>
            </a:r>
          </a:p>
        </p:txBody>
      </p:sp>
    </p:spTree>
  </p:cSld>
  <p:clrMapOvr>
    <a:masterClrMapping/>
  </p:clrMapOvr>
  <p:transition spd="med">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8436327" cy="1214056"/>
            <a:chOff x="0" y="0"/>
            <a:chExt cx="24581769" cy="1618742"/>
          </a:xfrm>
        </p:grpSpPr>
        <p:grpSp>
          <p:nvGrpSpPr>
            <p:cNvPr name="Group 3" id="3"/>
            <p:cNvGrpSpPr/>
            <p:nvPr/>
          </p:nvGrpSpPr>
          <p:grpSpPr>
            <a:xfrm rot="0">
              <a:off x="0" y="0"/>
              <a:ext cx="24581769" cy="1618742"/>
              <a:chOff x="0" y="0"/>
              <a:chExt cx="2875415" cy="189350"/>
            </a:xfrm>
          </p:grpSpPr>
          <p:sp>
            <p:nvSpPr>
              <p:cNvPr name="Freeform 4" id="4"/>
              <p:cNvSpPr/>
              <p:nvPr/>
            </p:nvSpPr>
            <p:spPr>
              <a:xfrm flipH="false" flipV="false" rot="0">
                <a:off x="0" y="0"/>
                <a:ext cx="2875415" cy="189350"/>
              </a:xfrm>
              <a:custGeom>
                <a:avLst/>
                <a:gdLst/>
                <a:ahLst/>
                <a:cxnLst/>
                <a:rect r="r" b="b" t="t" l="l"/>
                <a:pathLst>
                  <a:path h="189350" w="2875415">
                    <a:moveTo>
                      <a:pt x="203200" y="0"/>
                    </a:moveTo>
                    <a:lnTo>
                      <a:pt x="2875415" y="0"/>
                    </a:lnTo>
                    <a:lnTo>
                      <a:pt x="2672215" y="189350"/>
                    </a:lnTo>
                    <a:lnTo>
                      <a:pt x="0" y="189350"/>
                    </a:lnTo>
                    <a:lnTo>
                      <a:pt x="203200" y="0"/>
                    </a:lnTo>
                    <a:close/>
                  </a:path>
                </a:pathLst>
              </a:custGeom>
              <a:solidFill>
                <a:srgbClr val="002699"/>
              </a:solidFill>
            </p:spPr>
          </p:sp>
          <p:sp>
            <p:nvSpPr>
              <p:cNvPr name="TextBox 5" id="5"/>
              <p:cNvSpPr txBox="true"/>
              <p:nvPr/>
            </p:nvSpPr>
            <p:spPr>
              <a:xfrm>
                <a:off x="101600" y="-47625"/>
                <a:ext cx="2672215"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908348" y="291846"/>
              <a:ext cx="18553281"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3.3 GIAO DIỆN CORE IOT</a:t>
              </a:r>
            </a:p>
          </p:txBody>
        </p:sp>
      </p:grpSp>
      <p:sp>
        <p:nvSpPr>
          <p:cNvPr name="Freeform 7" id="7"/>
          <p:cNvSpPr/>
          <p:nvPr/>
        </p:nvSpPr>
        <p:spPr>
          <a:xfrm flipH="false" flipV="false" rot="0">
            <a:off x="1028700" y="2056844"/>
            <a:ext cx="11301259" cy="6173313"/>
          </a:xfrm>
          <a:custGeom>
            <a:avLst/>
            <a:gdLst/>
            <a:ahLst/>
            <a:cxnLst/>
            <a:rect r="r" b="b" t="t" l="l"/>
            <a:pathLst>
              <a:path h="6173313" w="11301259">
                <a:moveTo>
                  <a:pt x="0" y="0"/>
                </a:moveTo>
                <a:lnTo>
                  <a:pt x="11301259" y="0"/>
                </a:lnTo>
                <a:lnTo>
                  <a:pt x="11301259" y="6173312"/>
                </a:lnTo>
                <a:lnTo>
                  <a:pt x="0" y="6173312"/>
                </a:lnTo>
                <a:lnTo>
                  <a:pt x="0" y="0"/>
                </a:lnTo>
                <a:close/>
              </a:path>
            </a:pathLst>
          </a:custGeom>
          <a:blipFill>
            <a:blip r:embed="rId2"/>
            <a:stretch>
              <a:fillRect l="0" t="0" r="0" b="0"/>
            </a:stretch>
          </a:blipFill>
          <a:ln cap="rnd">
            <a:noFill/>
            <a:prstDash val="solid"/>
            <a:round/>
          </a:ln>
        </p:spPr>
      </p:sp>
      <p:sp>
        <p:nvSpPr>
          <p:cNvPr name="Freeform 8" id="8"/>
          <p:cNvSpPr/>
          <p:nvPr/>
        </p:nvSpPr>
        <p:spPr>
          <a:xfrm flipH="false" flipV="false" rot="0">
            <a:off x="7326696" y="7236661"/>
            <a:ext cx="9655341" cy="2172452"/>
          </a:xfrm>
          <a:custGeom>
            <a:avLst/>
            <a:gdLst/>
            <a:ahLst/>
            <a:cxnLst/>
            <a:rect r="r" b="b" t="t" l="l"/>
            <a:pathLst>
              <a:path h="2172452" w="9655341">
                <a:moveTo>
                  <a:pt x="0" y="0"/>
                </a:moveTo>
                <a:lnTo>
                  <a:pt x="9655341" y="0"/>
                </a:lnTo>
                <a:lnTo>
                  <a:pt x="9655341" y="2172451"/>
                </a:lnTo>
                <a:lnTo>
                  <a:pt x="0" y="2172451"/>
                </a:lnTo>
                <a:lnTo>
                  <a:pt x="0" y="0"/>
                </a:lnTo>
                <a:close/>
              </a:path>
            </a:pathLst>
          </a:custGeom>
          <a:blipFill>
            <a:blip r:embed="rId3"/>
            <a:stretch>
              <a:fillRect l="0" t="0" r="0" b="0"/>
            </a:stretch>
          </a:blipFill>
        </p:spPr>
      </p:sp>
      <p:sp>
        <p:nvSpPr>
          <p:cNvPr name="TextBox 9" id="9"/>
          <p:cNvSpPr txBox="true"/>
          <p:nvPr/>
        </p:nvSpPr>
        <p:spPr>
          <a:xfrm rot="0">
            <a:off x="15665946"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14 of 37</a:t>
            </a:r>
          </a:p>
        </p:txBody>
      </p:sp>
    </p:spTree>
  </p:cSld>
  <p:clrMapOvr>
    <a:masterClrMapping/>
  </p:clrMapOvr>
  <p:transition spd="med">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150317" y="0"/>
            <a:ext cx="6137684" cy="6127944"/>
            <a:chOff x="0" y="0"/>
            <a:chExt cx="8183578" cy="8170592"/>
          </a:xfrm>
        </p:grpSpPr>
        <p:sp>
          <p:nvSpPr>
            <p:cNvPr name="Freeform 3" id="3"/>
            <p:cNvSpPr/>
            <p:nvPr/>
          </p:nvSpPr>
          <p:spPr>
            <a:xfrm flipH="false" flipV="false" rot="0">
              <a:off x="0" y="0"/>
              <a:ext cx="8183626" cy="8170545"/>
            </a:xfrm>
            <a:custGeom>
              <a:avLst/>
              <a:gdLst/>
              <a:ahLst/>
              <a:cxnLst/>
              <a:rect r="r" b="b" t="t" l="l"/>
              <a:pathLst>
                <a:path h="8170545" w="8183626">
                  <a:moveTo>
                    <a:pt x="0" y="0"/>
                  </a:moveTo>
                  <a:lnTo>
                    <a:pt x="8183626" y="0"/>
                  </a:lnTo>
                  <a:lnTo>
                    <a:pt x="8183626" y="8170545"/>
                  </a:lnTo>
                  <a:lnTo>
                    <a:pt x="0" y="8170545"/>
                  </a:lnTo>
                  <a:lnTo>
                    <a:pt x="0" y="0"/>
                  </a:lnTo>
                  <a:close/>
                </a:path>
              </a:pathLst>
            </a:custGeom>
            <a:blipFill>
              <a:blip r:embed="rId2"/>
              <a:stretch>
                <a:fillRect l="0" t="-15057" r="-15172" b="0"/>
              </a:stretch>
            </a:blipFill>
          </p:spPr>
        </p:sp>
      </p:grpSp>
      <p:sp>
        <p:nvSpPr>
          <p:cNvPr name="AutoShape 4" id="4"/>
          <p:cNvSpPr/>
          <p:nvPr/>
        </p:nvSpPr>
        <p:spPr>
          <a:xfrm>
            <a:off x="1028737" y="1056473"/>
            <a:ext cx="7296656" cy="19050"/>
          </a:xfrm>
          <a:prstGeom prst="line">
            <a:avLst/>
          </a:prstGeom>
          <a:ln cap="rnd" w="28575">
            <a:solidFill>
              <a:srgbClr val="264C9A"/>
            </a:solidFill>
            <a:prstDash val="solid"/>
            <a:headEnd type="none" len="sm" w="sm"/>
            <a:tailEnd type="none" len="sm" w="sm"/>
          </a:ln>
        </p:spPr>
      </p:sp>
      <p:grpSp>
        <p:nvGrpSpPr>
          <p:cNvPr name="Group 5" id="5"/>
          <p:cNvGrpSpPr/>
          <p:nvPr/>
        </p:nvGrpSpPr>
        <p:grpSpPr>
          <a:xfrm rot="0">
            <a:off x="1028738" y="1412911"/>
            <a:ext cx="1312902" cy="131290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8" id="8"/>
          <p:cNvGrpSpPr/>
          <p:nvPr/>
        </p:nvGrpSpPr>
        <p:grpSpPr>
          <a:xfrm rot="0">
            <a:off x="1028700" y="3067464"/>
            <a:ext cx="1312902" cy="131290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1" id="11"/>
          <p:cNvGrpSpPr/>
          <p:nvPr/>
        </p:nvGrpSpPr>
        <p:grpSpPr>
          <a:xfrm rot="0">
            <a:off x="1047288" y="6548851"/>
            <a:ext cx="1312902" cy="13129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F0F4"/>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4" id="14"/>
          <p:cNvGrpSpPr/>
          <p:nvPr/>
        </p:nvGrpSpPr>
        <p:grpSpPr>
          <a:xfrm rot="0">
            <a:off x="1047288" y="8280853"/>
            <a:ext cx="1312902" cy="131290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17" id="17"/>
          <p:cNvGrpSpPr/>
          <p:nvPr/>
        </p:nvGrpSpPr>
        <p:grpSpPr>
          <a:xfrm rot="0">
            <a:off x="1047288" y="4815042"/>
            <a:ext cx="1312902" cy="131290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75A7"/>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592"/>
                </a:lnSpc>
              </a:pPr>
            </a:p>
          </p:txBody>
        </p:sp>
      </p:grpSp>
      <p:grpSp>
        <p:nvGrpSpPr>
          <p:cNvPr name="Group 20" id="20"/>
          <p:cNvGrpSpPr/>
          <p:nvPr/>
        </p:nvGrpSpPr>
        <p:grpSpPr>
          <a:xfrm rot="0">
            <a:off x="-2372187" y="6685324"/>
            <a:ext cx="3086100" cy="1039956"/>
            <a:chOff x="0" y="0"/>
            <a:chExt cx="812800" cy="273898"/>
          </a:xfrm>
        </p:grpSpPr>
        <p:sp>
          <p:nvSpPr>
            <p:cNvPr name="Freeform 21" id="21"/>
            <p:cNvSpPr/>
            <p:nvPr/>
          </p:nvSpPr>
          <p:spPr>
            <a:xfrm flipH="false" flipV="false" rot="0">
              <a:off x="0" y="0"/>
              <a:ext cx="812800" cy="273898"/>
            </a:xfrm>
            <a:custGeom>
              <a:avLst/>
              <a:gdLst/>
              <a:ahLst/>
              <a:cxnLst/>
              <a:rect r="r" b="b" t="t" l="l"/>
              <a:pathLst>
                <a:path h="273898" w="812800">
                  <a:moveTo>
                    <a:pt x="609600" y="0"/>
                  </a:moveTo>
                  <a:lnTo>
                    <a:pt x="0" y="0"/>
                  </a:lnTo>
                  <a:lnTo>
                    <a:pt x="0" y="273898"/>
                  </a:lnTo>
                  <a:lnTo>
                    <a:pt x="609600" y="273898"/>
                  </a:lnTo>
                  <a:lnTo>
                    <a:pt x="812800" y="136949"/>
                  </a:lnTo>
                  <a:lnTo>
                    <a:pt x="609600" y="0"/>
                  </a:lnTo>
                  <a:close/>
                </a:path>
              </a:pathLst>
            </a:custGeom>
            <a:solidFill>
              <a:srgbClr val="01135B"/>
            </a:solidFill>
          </p:spPr>
        </p:sp>
        <p:sp>
          <p:nvSpPr>
            <p:cNvPr name="TextBox 22" id="22"/>
            <p:cNvSpPr txBox="true"/>
            <p:nvPr/>
          </p:nvSpPr>
          <p:spPr>
            <a:xfrm>
              <a:off x="0" y="-47625"/>
              <a:ext cx="698500" cy="321523"/>
            </a:xfrm>
            <a:prstGeom prst="rect">
              <a:avLst/>
            </a:prstGeom>
          </p:spPr>
          <p:txBody>
            <a:bodyPr anchor="ctr" rtlCol="false" tIns="50800" lIns="50800" bIns="50800" rIns="50800"/>
            <a:lstStyle/>
            <a:p>
              <a:pPr algn="ctr">
                <a:lnSpc>
                  <a:spcPts val="2592"/>
                </a:lnSpc>
              </a:pPr>
            </a:p>
          </p:txBody>
        </p:sp>
      </p:grpSp>
      <p:sp>
        <p:nvSpPr>
          <p:cNvPr name="TextBox 23" id="23"/>
          <p:cNvSpPr txBox="true"/>
          <p:nvPr/>
        </p:nvSpPr>
        <p:spPr>
          <a:xfrm rot="0">
            <a:off x="1028700" y="161925"/>
            <a:ext cx="3327142" cy="866775"/>
          </a:xfrm>
          <a:prstGeom prst="rect">
            <a:avLst/>
          </a:prstGeom>
        </p:spPr>
        <p:txBody>
          <a:bodyPr anchor="t" rtlCol="false" tIns="0" lIns="0" bIns="0" rIns="0">
            <a:spAutoFit/>
          </a:bodyPr>
          <a:lstStyle/>
          <a:p>
            <a:pPr algn="just">
              <a:lnSpc>
                <a:spcPts val="6720"/>
              </a:lnSpc>
            </a:pPr>
            <a:r>
              <a:rPr lang="en-US" sz="5600" b="true">
                <a:solidFill>
                  <a:srgbClr val="081861"/>
                </a:solidFill>
                <a:latin typeface="Roboto Bold"/>
                <a:ea typeface="Roboto Bold"/>
                <a:cs typeface="Roboto Bold"/>
                <a:sym typeface="Roboto Bold"/>
              </a:rPr>
              <a:t>NỘI DUNG</a:t>
            </a:r>
          </a:p>
        </p:txBody>
      </p:sp>
      <p:sp>
        <p:nvSpPr>
          <p:cNvPr name="TextBox 24" id="24"/>
          <p:cNvSpPr txBox="true"/>
          <p:nvPr/>
        </p:nvSpPr>
        <p:spPr>
          <a:xfrm rot="0">
            <a:off x="2692271" y="1773839"/>
            <a:ext cx="5818648" cy="600075"/>
          </a:xfrm>
          <a:prstGeom prst="rect">
            <a:avLst/>
          </a:prstGeom>
        </p:spPr>
        <p:txBody>
          <a:bodyPr anchor="t" rtlCol="false" tIns="0" lIns="0" bIns="0" rIns="0">
            <a:spAutoFit/>
          </a:bodyPr>
          <a:lstStyle/>
          <a:p>
            <a:pPr algn="l">
              <a:lnSpc>
                <a:spcPts val="4799"/>
              </a:lnSpc>
            </a:pPr>
            <a:r>
              <a:rPr lang="en-US" b="true" sz="3999" spc="615">
                <a:solidFill>
                  <a:srgbClr val="081861"/>
                </a:solidFill>
                <a:latin typeface="Roboto Bold"/>
                <a:ea typeface="Roboto Bold"/>
                <a:cs typeface="Roboto Bold"/>
                <a:sym typeface="Roboto Bold"/>
              </a:rPr>
              <a:t>TỔNG QUAN ĐỀ TÀI</a:t>
            </a:r>
          </a:p>
        </p:txBody>
      </p:sp>
      <p:sp>
        <p:nvSpPr>
          <p:cNvPr name="TextBox 25" id="25"/>
          <p:cNvSpPr txBox="true"/>
          <p:nvPr/>
        </p:nvSpPr>
        <p:spPr>
          <a:xfrm rot="0">
            <a:off x="2683682" y="3469289"/>
            <a:ext cx="7601139"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TÓM TẮT NỘI DUNG ĐỀ TÀI</a:t>
            </a:r>
          </a:p>
        </p:txBody>
      </p:sp>
      <p:sp>
        <p:nvSpPr>
          <p:cNvPr name="TextBox 26" id="26"/>
          <p:cNvSpPr txBox="true"/>
          <p:nvPr/>
        </p:nvSpPr>
        <p:spPr>
          <a:xfrm rot="0">
            <a:off x="2692271" y="6905264"/>
            <a:ext cx="8857139" cy="600075"/>
          </a:xfrm>
          <a:prstGeom prst="rect">
            <a:avLst/>
          </a:prstGeom>
        </p:spPr>
        <p:txBody>
          <a:bodyPr anchor="t" rtlCol="false" tIns="0" lIns="0" bIns="0" rIns="0">
            <a:spAutoFit/>
          </a:bodyPr>
          <a:lstStyle/>
          <a:p>
            <a:pPr algn="l">
              <a:lnSpc>
                <a:spcPts val="4799"/>
              </a:lnSpc>
            </a:pPr>
            <a:r>
              <a:rPr lang="en-US" b="true" sz="3999" spc="307">
                <a:solidFill>
                  <a:srgbClr val="081861"/>
                </a:solidFill>
                <a:latin typeface="Roboto Bold"/>
                <a:ea typeface="Roboto Bold"/>
                <a:cs typeface="Roboto Bold"/>
                <a:sym typeface="Roboto Bold"/>
              </a:rPr>
              <a:t>BÁO CÁO KẾT QUẢ THỰC HIỆN</a:t>
            </a:r>
          </a:p>
        </p:txBody>
      </p:sp>
      <p:sp>
        <p:nvSpPr>
          <p:cNvPr name="TextBox 27" id="27"/>
          <p:cNvSpPr txBox="true"/>
          <p:nvPr/>
        </p:nvSpPr>
        <p:spPr>
          <a:xfrm rot="0">
            <a:off x="2782505" y="8679356"/>
            <a:ext cx="7715949" cy="600075"/>
          </a:xfrm>
          <a:prstGeom prst="rect">
            <a:avLst/>
          </a:prstGeom>
        </p:spPr>
        <p:txBody>
          <a:bodyPr anchor="t" rtlCol="false" tIns="0" lIns="0" bIns="0" rIns="0">
            <a:spAutoFit/>
          </a:bodyPr>
          <a:lstStyle/>
          <a:p>
            <a:pPr algn="l">
              <a:lnSpc>
                <a:spcPts val="4799"/>
              </a:lnSpc>
            </a:pPr>
            <a:r>
              <a:rPr lang="en-US" b="true" sz="3999" spc="470">
                <a:solidFill>
                  <a:srgbClr val="081861"/>
                </a:solidFill>
                <a:latin typeface="Roboto Bold"/>
                <a:ea typeface="Roboto Bold"/>
                <a:cs typeface="Roboto Bold"/>
                <a:sym typeface="Roboto Bold"/>
              </a:rPr>
              <a:t>ĐỊNH HƯỚNG PHÁT TRIỂN</a:t>
            </a:r>
          </a:p>
        </p:txBody>
      </p:sp>
      <p:sp>
        <p:nvSpPr>
          <p:cNvPr name="TextBox 28" id="28"/>
          <p:cNvSpPr txBox="true"/>
          <p:nvPr/>
        </p:nvSpPr>
        <p:spPr>
          <a:xfrm rot="0">
            <a:off x="1299986" y="1664302"/>
            <a:ext cx="807428"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01</a:t>
            </a:r>
          </a:p>
        </p:txBody>
      </p:sp>
      <p:sp>
        <p:nvSpPr>
          <p:cNvPr name="TextBox 29" id="29"/>
          <p:cNvSpPr txBox="true"/>
          <p:nvPr/>
        </p:nvSpPr>
        <p:spPr>
          <a:xfrm rot="0">
            <a:off x="1300018" y="3314339"/>
            <a:ext cx="807440"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02</a:t>
            </a:r>
          </a:p>
        </p:txBody>
      </p:sp>
      <p:sp>
        <p:nvSpPr>
          <p:cNvPr name="TextBox 30" id="30"/>
          <p:cNvSpPr txBox="true"/>
          <p:nvPr/>
        </p:nvSpPr>
        <p:spPr>
          <a:xfrm rot="0">
            <a:off x="1308449" y="6795727"/>
            <a:ext cx="790578" cy="819150"/>
          </a:xfrm>
          <a:prstGeom prst="rect">
            <a:avLst/>
          </a:prstGeom>
        </p:spPr>
        <p:txBody>
          <a:bodyPr anchor="t" rtlCol="false" tIns="0" lIns="0" bIns="0" rIns="0">
            <a:spAutoFit/>
          </a:bodyPr>
          <a:lstStyle/>
          <a:p>
            <a:pPr algn="l">
              <a:lnSpc>
                <a:spcPts val="6480"/>
              </a:lnSpc>
            </a:pPr>
            <a:r>
              <a:rPr lang="en-US" sz="5400" b="true">
                <a:solidFill>
                  <a:srgbClr val="1B4290"/>
                </a:solidFill>
                <a:latin typeface="Roboto Bold"/>
                <a:ea typeface="Roboto Bold"/>
                <a:cs typeface="Roboto Bold"/>
                <a:sym typeface="Roboto Bold"/>
              </a:rPr>
              <a:t>04</a:t>
            </a:r>
          </a:p>
        </p:txBody>
      </p:sp>
      <p:sp>
        <p:nvSpPr>
          <p:cNvPr name="TextBox 31" id="31"/>
          <p:cNvSpPr txBox="true"/>
          <p:nvPr/>
        </p:nvSpPr>
        <p:spPr>
          <a:xfrm rot="0">
            <a:off x="1295175" y="8536252"/>
            <a:ext cx="817050"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05</a:t>
            </a:r>
          </a:p>
        </p:txBody>
      </p:sp>
      <p:sp>
        <p:nvSpPr>
          <p:cNvPr name="TextBox 32" id="32"/>
          <p:cNvSpPr txBox="true"/>
          <p:nvPr/>
        </p:nvSpPr>
        <p:spPr>
          <a:xfrm rot="0">
            <a:off x="2692271" y="5164739"/>
            <a:ext cx="5341342" cy="600075"/>
          </a:xfrm>
          <a:prstGeom prst="rect">
            <a:avLst/>
          </a:prstGeom>
        </p:spPr>
        <p:txBody>
          <a:bodyPr anchor="t" rtlCol="false" tIns="0" lIns="0" bIns="0" rIns="0">
            <a:spAutoFit/>
          </a:bodyPr>
          <a:lstStyle/>
          <a:p>
            <a:pPr algn="l">
              <a:lnSpc>
                <a:spcPts val="4799"/>
              </a:lnSpc>
            </a:pPr>
            <a:r>
              <a:rPr lang="en-US" b="true" sz="3999" spc="421">
                <a:solidFill>
                  <a:srgbClr val="081861"/>
                </a:solidFill>
                <a:latin typeface="Roboto Bold"/>
                <a:ea typeface="Roboto Bold"/>
                <a:cs typeface="Roboto Bold"/>
                <a:sym typeface="Roboto Bold"/>
              </a:rPr>
              <a:t>CƠ SỞ LÝ THUYẾT</a:t>
            </a:r>
          </a:p>
        </p:txBody>
      </p:sp>
      <p:sp>
        <p:nvSpPr>
          <p:cNvPr name="TextBox 33" id="33"/>
          <p:cNvSpPr txBox="true"/>
          <p:nvPr/>
        </p:nvSpPr>
        <p:spPr>
          <a:xfrm rot="0">
            <a:off x="1300607" y="5055202"/>
            <a:ext cx="806264" cy="819150"/>
          </a:xfrm>
          <a:prstGeom prst="rect">
            <a:avLst/>
          </a:prstGeom>
        </p:spPr>
        <p:txBody>
          <a:bodyPr anchor="t" rtlCol="false" tIns="0" lIns="0" bIns="0" rIns="0">
            <a:spAutoFit/>
          </a:bodyPr>
          <a:lstStyle/>
          <a:p>
            <a:pPr algn="l">
              <a:lnSpc>
                <a:spcPts val="6480"/>
              </a:lnSpc>
            </a:pPr>
            <a:r>
              <a:rPr lang="en-US" sz="5400" b="true">
                <a:solidFill>
                  <a:srgbClr val="FFFFFF"/>
                </a:solidFill>
                <a:latin typeface="Roboto Bold"/>
                <a:ea typeface="Roboto Bold"/>
                <a:cs typeface="Roboto Bold"/>
                <a:sym typeface="Roboto Bold"/>
              </a:rPr>
              <a:t>03</a:t>
            </a:r>
          </a:p>
        </p:txBody>
      </p:sp>
    </p:spTree>
  </p:cSld>
  <p:clrMapOvr>
    <a:masterClrMapping/>
  </p:clrMapOvr>
  <p:transition spd="med">
    <p:push dir="l"/>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5563539" cy="1214056"/>
            <a:chOff x="0" y="0"/>
            <a:chExt cx="20751385" cy="1618742"/>
          </a:xfrm>
        </p:grpSpPr>
        <p:grpSp>
          <p:nvGrpSpPr>
            <p:cNvPr name="Group 3" id="3"/>
            <p:cNvGrpSpPr/>
            <p:nvPr/>
          </p:nvGrpSpPr>
          <p:grpSpPr>
            <a:xfrm rot="0">
              <a:off x="0" y="0"/>
              <a:ext cx="20751385" cy="1618742"/>
              <a:chOff x="0" y="0"/>
              <a:chExt cx="2427362" cy="189350"/>
            </a:xfrm>
          </p:grpSpPr>
          <p:sp>
            <p:nvSpPr>
              <p:cNvPr name="Freeform 4" id="4"/>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5" id="5"/>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4.1 </a:t>
              </a:r>
              <a:r>
                <a:rPr lang="en-US" b="true" sz="5000" spc="769">
                  <a:solidFill>
                    <a:srgbClr val="FFFFFF"/>
                  </a:solidFill>
                  <a:latin typeface="Roboto Bold"/>
                  <a:ea typeface="Roboto Bold"/>
                  <a:cs typeface="Roboto Bold"/>
                  <a:sym typeface="Roboto Bold"/>
                </a:rPr>
                <a:t>KIẾN TRÚC HỆ THỐNG</a:t>
              </a:r>
            </a:p>
          </p:txBody>
        </p:sp>
      </p:grpSp>
      <p:sp>
        <p:nvSpPr>
          <p:cNvPr name="Freeform 7" id="7"/>
          <p:cNvSpPr/>
          <p:nvPr/>
        </p:nvSpPr>
        <p:spPr>
          <a:xfrm flipH="false" flipV="false" rot="0">
            <a:off x="410749" y="1873995"/>
            <a:ext cx="17466502" cy="7619761"/>
          </a:xfrm>
          <a:custGeom>
            <a:avLst/>
            <a:gdLst/>
            <a:ahLst/>
            <a:cxnLst/>
            <a:rect r="r" b="b" t="t" l="l"/>
            <a:pathLst>
              <a:path h="7619761" w="17466502">
                <a:moveTo>
                  <a:pt x="0" y="0"/>
                </a:moveTo>
                <a:lnTo>
                  <a:pt x="17466502" y="0"/>
                </a:lnTo>
                <a:lnTo>
                  <a:pt x="17466502" y="7619761"/>
                </a:lnTo>
                <a:lnTo>
                  <a:pt x="0" y="7619761"/>
                </a:lnTo>
                <a:lnTo>
                  <a:pt x="0" y="0"/>
                </a:lnTo>
                <a:close/>
              </a:path>
            </a:pathLst>
          </a:custGeom>
          <a:blipFill>
            <a:blip r:embed="rId2"/>
            <a:stretch>
              <a:fillRect l="0" t="0" r="0" b="0"/>
            </a:stretch>
          </a:blipFill>
        </p:spPr>
      </p:sp>
      <p:sp>
        <p:nvSpPr>
          <p:cNvPr name="TextBox 8" id="8"/>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16 of 37</a:t>
            </a:r>
          </a:p>
        </p:txBody>
      </p:sp>
    </p:spTree>
  </p:cSld>
  <p:clrMapOvr>
    <a:masterClrMapping/>
  </p:clrMapOvr>
  <p:transition spd="med">
    <p:push dir="l"/>
  </p:transition>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5563539" cy="1214056"/>
            <a:chOff x="0" y="0"/>
            <a:chExt cx="20751385" cy="1618742"/>
          </a:xfrm>
        </p:grpSpPr>
        <p:grpSp>
          <p:nvGrpSpPr>
            <p:cNvPr name="Group 3" id="3"/>
            <p:cNvGrpSpPr/>
            <p:nvPr/>
          </p:nvGrpSpPr>
          <p:grpSpPr>
            <a:xfrm rot="0">
              <a:off x="0" y="0"/>
              <a:ext cx="20751385" cy="1618742"/>
              <a:chOff x="0" y="0"/>
              <a:chExt cx="2427362" cy="189350"/>
            </a:xfrm>
          </p:grpSpPr>
          <p:sp>
            <p:nvSpPr>
              <p:cNvPr name="Freeform 4" id="4"/>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5" id="5"/>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4.2 CÁC THÔNG SỐ NỘI SUY</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17 of 37</a:t>
            </a:r>
          </a:p>
        </p:txBody>
      </p:sp>
      <p:sp>
        <p:nvSpPr>
          <p:cNvPr name="TextBox 8" id="8"/>
          <p:cNvSpPr txBox="true"/>
          <p:nvPr/>
        </p:nvSpPr>
        <p:spPr>
          <a:xfrm rot="0">
            <a:off x="1028700" y="1744675"/>
            <a:ext cx="11938620" cy="8138160"/>
          </a:xfrm>
          <a:prstGeom prst="rect">
            <a:avLst/>
          </a:prstGeom>
        </p:spPr>
        <p:txBody>
          <a:bodyPr anchor="t" rtlCol="false" tIns="0" lIns="0" bIns="0" rIns="0">
            <a:spAutoFit/>
          </a:bodyPr>
          <a:lstStyle/>
          <a:p>
            <a:pPr algn="l">
              <a:lnSpc>
                <a:spcPts val="4320"/>
              </a:lnSpc>
            </a:pPr>
            <a:r>
              <a:rPr lang="en-US" sz="3000" b="true">
                <a:solidFill>
                  <a:srgbClr val="1B4290"/>
                </a:solidFill>
                <a:latin typeface="Roboto Bold"/>
                <a:ea typeface="Roboto Bold"/>
                <a:cs typeface="Roboto Bold"/>
                <a:sym typeface="Roboto Bold"/>
              </a:rPr>
              <a:t>BMI (B</a:t>
            </a:r>
            <a:r>
              <a:rPr lang="en-US" b="true" sz="3000">
                <a:solidFill>
                  <a:srgbClr val="1B4290"/>
                </a:solidFill>
                <a:latin typeface="Roboto Bold"/>
                <a:ea typeface="Roboto Bold"/>
                <a:cs typeface="Roboto Bold"/>
                <a:sym typeface="Roboto Bold"/>
              </a:rPr>
              <a:t>ody Mass Index)</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Công thức:</a:t>
            </a:r>
            <a:r>
              <a:rPr lang="en-US" sz="3000">
                <a:solidFill>
                  <a:srgbClr val="000000"/>
                </a:solidFill>
                <a:latin typeface="Roboto"/>
                <a:ea typeface="Roboto"/>
                <a:cs typeface="Roboto"/>
                <a:sym typeface="Roboto"/>
              </a:rPr>
              <a:t> BMI = W / H²</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Phương pháp: </a:t>
            </a:r>
            <a:r>
              <a:rPr lang="en-US" sz="3000">
                <a:solidFill>
                  <a:srgbClr val="000000"/>
                </a:solidFill>
                <a:latin typeface="Roboto"/>
                <a:ea typeface="Roboto"/>
                <a:cs typeface="Roboto"/>
                <a:sym typeface="Roboto"/>
              </a:rPr>
              <a:t>Tính toán trực tiếp từ cân nặng và chiều cao</a:t>
            </a:r>
          </a:p>
          <a:p>
            <a:pPr algn="l">
              <a:lnSpc>
                <a:spcPts val="4320"/>
              </a:lnSpc>
            </a:pPr>
            <a:r>
              <a:rPr lang="en-US" b="true" sz="3000">
                <a:solidFill>
                  <a:srgbClr val="1B4290"/>
                </a:solidFill>
                <a:latin typeface="Roboto Bold"/>
                <a:ea typeface="Roboto Bold"/>
                <a:cs typeface="Roboto Bold"/>
                <a:sym typeface="Roboto Bold"/>
              </a:rPr>
              <a:t>BMR (Basal Metabolic Rate)</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Công thức Mifflin-St Jeor:</a:t>
            </a:r>
          </a:p>
          <a:p>
            <a:pPr algn="l" marL="1295400" indent="-431800" lvl="2">
              <a:lnSpc>
                <a:spcPts val="4320"/>
              </a:lnSpc>
              <a:buFont typeface="Arial"/>
              <a:buChar char="⚬"/>
            </a:pPr>
            <a:r>
              <a:rPr lang="en-US" b="true" sz="3000">
                <a:solidFill>
                  <a:srgbClr val="000000"/>
                </a:solidFill>
                <a:latin typeface="Roboto Bold"/>
                <a:ea typeface="Roboto Bold"/>
                <a:cs typeface="Roboto Bold"/>
                <a:sym typeface="Roboto Bold"/>
              </a:rPr>
              <a:t>Nam:</a:t>
            </a:r>
            <a:r>
              <a:rPr lang="en-US" sz="3000">
                <a:solidFill>
                  <a:srgbClr val="000000"/>
                </a:solidFill>
                <a:latin typeface="Roboto"/>
                <a:ea typeface="Roboto"/>
                <a:cs typeface="Roboto"/>
                <a:sym typeface="Roboto"/>
              </a:rPr>
              <a:t> BMR = 88.362 + (13.397 × W) + (4.799 × H) - (5.677 × A)</a:t>
            </a:r>
          </a:p>
          <a:p>
            <a:pPr algn="l" marL="1295400" indent="-431800" lvl="2">
              <a:lnSpc>
                <a:spcPts val="4320"/>
              </a:lnSpc>
              <a:buFont typeface="Arial"/>
              <a:buChar char="⚬"/>
            </a:pPr>
            <a:r>
              <a:rPr lang="en-US" b="true" sz="3000">
                <a:solidFill>
                  <a:srgbClr val="000000"/>
                </a:solidFill>
                <a:latin typeface="Roboto Bold"/>
                <a:ea typeface="Roboto Bold"/>
                <a:cs typeface="Roboto Bold"/>
                <a:sym typeface="Roboto Bold"/>
              </a:rPr>
              <a:t>Nữ:</a:t>
            </a:r>
            <a:r>
              <a:rPr lang="en-US" sz="3000">
                <a:solidFill>
                  <a:srgbClr val="000000"/>
                </a:solidFill>
                <a:latin typeface="Roboto"/>
                <a:ea typeface="Roboto"/>
                <a:cs typeface="Roboto"/>
                <a:sym typeface="Roboto"/>
              </a:rPr>
              <a:t> BMR = 447.593 + (9.247 × W) + (3.098 × H) - (4.330 × A)</a:t>
            </a:r>
          </a:p>
          <a:p>
            <a:pPr algn="l">
              <a:lnSpc>
                <a:spcPts val="4320"/>
              </a:lnSpc>
            </a:pPr>
            <a:r>
              <a:rPr lang="en-US" b="true" sz="3000">
                <a:solidFill>
                  <a:srgbClr val="1B4290"/>
                </a:solidFill>
                <a:latin typeface="Roboto Bold"/>
                <a:ea typeface="Roboto Bold"/>
                <a:cs typeface="Roboto Bold"/>
                <a:sym typeface="Roboto Bold"/>
              </a:rPr>
              <a:t>TDEE (Total Daily Energy Expenditure)</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Công thức:</a:t>
            </a:r>
            <a:r>
              <a:rPr lang="en-US" sz="3000">
                <a:solidFill>
                  <a:srgbClr val="000000"/>
                </a:solidFill>
                <a:latin typeface="Roboto"/>
                <a:ea typeface="Roboto"/>
                <a:cs typeface="Roboto"/>
                <a:sym typeface="Roboto"/>
              </a:rPr>
              <a:t> TDEE = BMR × Activity_Factor</a:t>
            </a:r>
          </a:p>
          <a:p>
            <a:pPr algn="l">
              <a:lnSpc>
                <a:spcPts val="4320"/>
              </a:lnSpc>
            </a:pPr>
            <a:r>
              <a:rPr lang="en-US" b="true" sz="3000">
                <a:solidFill>
                  <a:srgbClr val="1B4290"/>
                </a:solidFill>
                <a:latin typeface="Roboto Bold"/>
                <a:ea typeface="Roboto Bold"/>
                <a:cs typeface="Roboto Bold"/>
                <a:sym typeface="Roboto Bold"/>
              </a:rPr>
              <a:t>LBM (Lean Body Mass)</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Nam:</a:t>
            </a:r>
            <a:r>
              <a:rPr lang="en-US" sz="3000">
                <a:solidFill>
                  <a:srgbClr val="000000"/>
                </a:solidFill>
                <a:latin typeface="Roboto"/>
                <a:ea typeface="Roboto"/>
                <a:cs typeface="Roboto"/>
                <a:sym typeface="Roboto"/>
              </a:rPr>
              <a:t> LBM = (0.32810 × W) + (0.33929 × H) - 29.5336</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Nữ:</a:t>
            </a:r>
            <a:r>
              <a:rPr lang="en-US" sz="3000">
                <a:solidFill>
                  <a:srgbClr val="000000"/>
                </a:solidFill>
                <a:latin typeface="Roboto"/>
                <a:ea typeface="Roboto"/>
                <a:cs typeface="Roboto"/>
                <a:sym typeface="Roboto"/>
              </a:rPr>
              <a:t> LBM = (0.29569 × W) + (0.41813 × H) - 43.2933</a:t>
            </a:r>
          </a:p>
          <a:p>
            <a:pPr algn="l">
              <a:lnSpc>
                <a:spcPts val="4320"/>
              </a:lnSpc>
            </a:pPr>
            <a:r>
              <a:rPr lang="en-US" b="true" sz="3000">
                <a:solidFill>
                  <a:srgbClr val="1B4290"/>
                </a:solidFill>
                <a:latin typeface="Roboto Bold"/>
                <a:ea typeface="Roboto Bold"/>
                <a:cs typeface="Roboto Bold"/>
                <a:sym typeface="Roboto Bold"/>
              </a:rPr>
              <a:t>Tỷ lệ nước cơ thể (Water Percentage)</a:t>
            </a:r>
          </a:p>
          <a:p>
            <a:pPr algn="l" marL="647700" indent="-323850" lvl="1">
              <a:lnSpc>
                <a:spcPts val="4320"/>
              </a:lnSpc>
              <a:buFont typeface="Arial"/>
              <a:buChar char="•"/>
            </a:pPr>
            <a:r>
              <a:rPr lang="en-US" b="true" sz="3000">
                <a:solidFill>
                  <a:srgbClr val="000000"/>
                </a:solidFill>
                <a:latin typeface="Roboto Bold"/>
                <a:ea typeface="Roboto Bold"/>
                <a:cs typeface="Roboto Bold"/>
                <a:sym typeface="Roboto Bold"/>
              </a:rPr>
              <a:t>Công thức:</a:t>
            </a:r>
            <a:r>
              <a:rPr lang="en-US" sz="3000">
                <a:solidFill>
                  <a:srgbClr val="000000"/>
                </a:solidFill>
                <a:latin typeface="Roboto"/>
                <a:ea typeface="Roboto"/>
                <a:cs typeface="Roboto"/>
                <a:sym typeface="Roboto"/>
              </a:rPr>
              <a:t> Water% = (100 - Fat%) × 0.7</a:t>
            </a:r>
          </a:p>
          <a:p>
            <a:pPr algn="l" marL="647700" indent="-323850" lvl="1">
              <a:lnSpc>
                <a:spcPts val="4320"/>
              </a:lnSpc>
              <a:spcBef>
                <a:spcPct val="0"/>
              </a:spcBef>
              <a:buFont typeface="Arial"/>
              <a:buChar char="•"/>
            </a:pPr>
            <a:r>
              <a:rPr lang="en-US" b="true" sz="3000">
                <a:solidFill>
                  <a:srgbClr val="000000"/>
                </a:solidFill>
                <a:latin typeface="Roboto Bold"/>
                <a:ea typeface="Roboto Bold"/>
                <a:cs typeface="Roboto Bold"/>
                <a:sym typeface="Roboto Bold"/>
              </a:rPr>
              <a:t>Điều chỉnh:</a:t>
            </a:r>
            <a:r>
              <a:rPr lang="en-US" sz="3000">
                <a:solidFill>
                  <a:srgbClr val="000000"/>
                </a:solidFill>
                <a:latin typeface="Roboto"/>
                <a:ea typeface="Roboto"/>
                <a:cs typeface="Roboto"/>
                <a:sym typeface="Roboto"/>
              </a:rPr>
              <a:t> Hệ số 1.02 hoặc 0.98 tùy theo giá trị</a:t>
            </a:r>
          </a:p>
        </p:txBody>
      </p:sp>
    </p:spTree>
  </p:cSld>
  <p:clrMapOvr>
    <a:masterClrMapping/>
  </p:clrMapOvr>
  <p:transition spd="med">
    <p:push dir="l"/>
  </p:transition>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5563539" cy="1214056"/>
            <a:chOff x="0" y="0"/>
            <a:chExt cx="20751385" cy="1618742"/>
          </a:xfrm>
        </p:grpSpPr>
        <p:grpSp>
          <p:nvGrpSpPr>
            <p:cNvPr name="Group 3" id="3"/>
            <p:cNvGrpSpPr/>
            <p:nvPr/>
          </p:nvGrpSpPr>
          <p:grpSpPr>
            <a:xfrm rot="0">
              <a:off x="0" y="0"/>
              <a:ext cx="20751385" cy="1618742"/>
              <a:chOff x="0" y="0"/>
              <a:chExt cx="2427362" cy="189350"/>
            </a:xfrm>
          </p:grpSpPr>
          <p:sp>
            <p:nvSpPr>
              <p:cNvPr name="Freeform 4" id="4"/>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5" id="5"/>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4.2 CÁC THÔNG SỐ NỘI SUY</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18 of 37</a:t>
            </a:r>
          </a:p>
        </p:txBody>
      </p:sp>
      <p:sp>
        <p:nvSpPr>
          <p:cNvPr name="TextBox 8" id="8"/>
          <p:cNvSpPr txBox="true"/>
          <p:nvPr/>
        </p:nvSpPr>
        <p:spPr>
          <a:xfrm rot="0">
            <a:off x="1028700" y="1654441"/>
            <a:ext cx="11938620" cy="8077581"/>
          </a:xfrm>
          <a:prstGeom prst="rect">
            <a:avLst/>
          </a:prstGeom>
        </p:spPr>
        <p:txBody>
          <a:bodyPr anchor="t" rtlCol="false" tIns="0" lIns="0" bIns="0" rIns="0">
            <a:spAutoFit/>
          </a:bodyPr>
          <a:lstStyle/>
          <a:p>
            <a:pPr algn="l">
              <a:lnSpc>
                <a:spcPts val="4032"/>
              </a:lnSpc>
            </a:pPr>
            <a:r>
              <a:rPr lang="en-US" sz="2800" b="true">
                <a:solidFill>
                  <a:srgbClr val="1B4290"/>
                </a:solidFill>
                <a:latin typeface="Roboto Bold"/>
                <a:ea typeface="Roboto Bold"/>
                <a:cs typeface="Roboto Bold"/>
                <a:sym typeface="Roboto Bold"/>
              </a:rPr>
              <a:t>Khối lượng xương (B</a:t>
            </a:r>
            <a:r>
              <a:rPr lang="en-US" b="true" sz="2800">
                <a:solidFill>
                  <a:srgbClr val="1B4290"/>
                </a:solidFill>
                <a:latin typeface="Roboto Bold"/>
                <a:ea typeface="Roboto Bold"/>
                <a:cs typeface="Roboto Bold"/>
                <a:sym typeface="Roboto Bold"/>
              </a:rPr>
              <a:t>one Mass)</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Công thức:</a:t>
            </a:r>
            <a:r>
              <a:rPr lang="en-US" sz="2800">
                <a:solidFill>
                  <a:srgbClr val="000000"/>
                </a:solidFill>
                <a:latin typeface="Roboto"/>
                <a:ea typeface="Roboto"/>
                <a:cs typeface="Roboto"/>
                <a:sym typeface="Roboto"/>
              </a:rPr>
              <a:t> Bone_Mass = (base - (LBM × 0.05158)) × (-1)</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Hệ số cơ sở:</a:t>
            </a:r>
            <a:r>
              <a:rPr lang="en-US" sz="2800">
                <a:solidFill>
                  <a:srgbClr val="000000"/>
                </a:solidFill>
                <a:latin typeface="Roboto"/>
                <a:ea typeface="Roboto"/>
                <a:cs typeface="Roboto"/>
                <a:sym typeface="Roboto"/>
              </a:rPr>
              <a:t> Nam: 0.18016894, Nữ: 0.245691014</a:t>
            </a:r>
          </a:p>
          <a:p>
            <a:pPr algn="l">
              <a:lnSpc>
                <a:spcPts val="4032"/>
              </a:lnSpc>
            </a:pPr>
            <a:r>
              <a:rPr lang="en-US" b="true" sz="2800">
                <a:solidFill>
                  <a:srgbClr val="1B4290"/>
                </a:solidFill>
                <a:latin typeface="Roboto Bold"/>
                <a:ea typeface="Roboto Bold"/>
                <a:cs typeface="Roboto Bold"/>
                <a:sym typeface="Roboto Bold"/>
              </a:rPr>
              <a:t>Khối lượng</a:t>
            </a:r>
            <a:r>
              <a:rPr lang="en-US" b="true" sz="2800">
                <a:solidFill>
                  <a:srgbClr val="1B4290"/>
                </a:solidFill>
                <a:latin typeface="Roboto Bold"/>
                <a:ea typeface="Roboto Bold"/>
                <a:cs typeface="Roboto Bold"/>
                <a:sym typeface="Roboto Bold"/>
              </a:rPr>
              <a:t> cơ (Muscle Mass)</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Công thức: </a:t>
            </a:r>
            <a:r>
              <a:rPr lang="en-US" sz="2800">
                <a:solidFill>
                  <a:srgbClr val="000000"/>
                </a:solidFill>
                <a:latin typeface="Roboto"/>
                <a:ea typeface="Roboto"/>
                <a:cs typeface="Roboto"/>
                <a:sym typeface="Roboto"/>
              </a:rPr>
              <a:t>Muscle_Mass = W - ((Fat% × 0.01) × W) - Bone_Mass</a:t>
            </a:r>
          </a:p>
          <a:p>
            <a:pPr algn="l">
              <a:lnSpc>
                <a:spcPts val="4032"/>
              </a:lnSpc>
            </a:pPr>
            <a:r>
              <a:rPr lang="en-US" b="true" sz="2800">
                <a:solidFill>
                  <a:srgbClr val="1B4290"/>
                </a:solidFill>
                <a:latin typeface="Roboto Bold"/>
                <a:ea typeface="Roboto Bold"/>
                <a:cs typeface="Roboto Bold"/>
                <a:sym typeface="Roboto Bold"/>
              </a:rPr>
              <a:t>Tỷ lệ protein (Protein Percentage)</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Công thức:</a:t>
            </a:r>
            <a:r>
              <a:rPr lang="en-US" sz="2800">
                <a:solidFill>
                  <a:srgbClr val="000000"/>
                </a:solidFill>
                <a:latin typeface="Roboto"/>
                <a:ea typeface="Roboto"/>
                <a:cs typeface="Roboto"/>
                <a:sym typeface="Roboto"/>
              </a:rPr>
              <a:t> Protein% = (Muscle_Mass / W) × 100 - Water%</a:t>
            </a:r>
          </a:p>
          <a:p>
            <a:pPr algn="l">
              <a:lnSpc>
                <a:spcPts val="4032"/>
              </a:lnSpc>
            </a:pPr>
            <a:r>
              <a:rPr lang="en-US" b="true" sz="2800">
                <a:solidFill>
                  <a:srgbClr val="1B4290"/>
                </a:solidFill>
                <a:latin typeface="Roboto Bold"/>
                <a:ea typeface="Roboto Bold"/>
                <a:cs typeface="Roboto Bold"/>
                <a:sym typeface="Roboto Bold"/>
              </a:rPr>
              <a:t>Mỡ nội tạng (Visceral Fat)</a:t>
            </a:r>
          </a:p>
          <a:p>
            <a:pPr algn="l" marL="604521" indent="-302261" lvl="1">
              <a:lnSpc>
                <a:spcPts val="4032"/>
              </a:lnSpc>
              <a:buFont typeface="Arial"/>
              <a:buChar char="•"/>
            </a:pPr>
            <a:r>
              <a:rPr lang="en-US" sz="2800">
                <a:solidFill>
                  <a:srgbClr val="000000"/>
                </a:solidFill>
                <a:latin typeface="Roboto"/>
                <a:ea typeface="Roboto"/>
                <a:cs typeface="Roboto"/>
                <a:sym typeface="Roboto"/>
              </a:rPr>
              <a:t>Công thức phức tạp dự</a:t>
            </a:r>
            <a:r>
              <a:rPr lang="en-US" sz="2800">
                <a:solidFill>
                  <a:srgbClr val="000000"/>
                </a:solidFill>
                <a:latin typeface="Roboto"/>
                <a:ea typeface="Roboto"/>
                <a:cs typeface="Roboto"/>
                <a:sym typeface="Roboto"/>
              </a:rPr>
              <a:t>a trên tỷ lệ chiều cao/cân nặng và tuổi</a:t>
            </a:r>
          </a:p>
          <a:p>
            <a:pPr algn="l" marL="604521" indent="-302261" lvl="1">
              <a:lnSpc>
                <a:spcPts val="4032"/>
              </a:lnSpc>
              <a:buFont typeface="Arial"/>
              <a:buChar char="•"/>
            </a:pPr>
            <a:r>
              <a:rPr lang="en-US" sz="2800">
                <a:solidFill>
                  <a:srgbClr val="000000"/>
                </a:solidFill>
                <a:latin typeface="Roboto"/>
                <a:ea typeface="Roboto"/>
                <a:cs typeface="Roboto"/>
                <a:sym typeface="Roboto"/>
              </a:rPr>
              <a:t>2 trường hợp: H &lt; W × 1.6 và H ≥ W × 1.6</a:t>
            </a:r>
          </a:p>
          <a:p>
            <a:pPr algn="l">
              <a:lnSpc>
                <a:spcPts val="4032"/>
              </a:lnSpc>
            </a:pPr>
            <a:r>
              <a:rPr lang="en-US" b="true" sz="2800">
                <a:solidFill>
                  <a:srgbClr val="1B4290"/>
                </a:solidFill>
                <a:latin typeface="Roboto Bold"/>
                <a:ea typeface="Roboto Bold"/>
                <a:cs typeface="Roboto Bold"/>
                <a:sym typeface="Roboto Bold"/>
              </a:rPr>
              <a:t>Cân nặng lý tưởng</a:t>
            </a:r>
            <a:r>
              <a:rPr lang="en-US" b="true" sz="2800">
                <a:solidFill>
                  <a:srgbClr val="1B4290"/>
                </a:solidFill>
                <a:latin typeface="Roboto Bold"/>
                <a:ea typeface="Roboto Bold"/>
                <a:cs typeface="Roboto Bold"/>
                <a:sym typeface="Roboto Bold"/>
              </a:rPr>
              <a:t> (Ideal Weight)</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Phương pháp 1: </a:t>
            </a:r>
            <a:r>
              <a:rPr lang="en-US" sz="2800">
                <a:solidFill>
                  <a:srgbClr val="000000"/>
                </a:solidFill>
                <a:latin typeface="Roboto"/>
                <a:ea typeface="Roboto"/>
                <a:cs typeface="Roboto"/>
                <a:sym typeface="Roboto"/>
              </a:rPr>
              <a:t>Dựa trên chiều cao</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Phươ</a:t>
            </a:r>
            <a:r>
              <a:rPr lang="en-US" b="true" sz="2800">
                <a:solidFill>
                  <a:srgbClr val="000000"/>
                </a:solidFill>
                <a:latin typeface="Roboto Bold"/>
                <a:ea typeface="Roboto Bold"/>
                <a:cs typeface="Roboto Bold"/>
                <a:sym typeface="Roboto Bold"/>
              </a:rPr>
              <a:t>ng pháp 2: </a:t>
            </a:r>
            <a:r>
              <a:rPr lang="en-US" sz="2800">
                <a:solidFill>
                  <a:srgbClr val="000000"/>
                </a:solidFill>
                <a:latin typeface="Roboto"/>
                <a:ea typeface="Roboto"/>
                <a:cs typeface="Roboto"/>
                <a:sym typeface="Roboto"/>
              </a:rPr>
              <a:t>Ideal_Weight = (22 × H) × H / 10000</a:t>
            </a:r>
          </a:p>
          <a:p>
            <a:pPr algn="l">
              <a:lnSpc>
                <a:spcPts val="4032"/>
              </a:lnSpc>
            </a:pPr>
            <a:r>
              <a:rPr lang="en-US" b="true" sz="2800">
                <a:solidFill>
                  <a:srgbClr val="1B4290"/>
                </a:solidFill>
                <a:latin typeface="Roboto Bold"/>
                <a:ea typeface="Roboto Bold"/>
                <a:cs typeface="Roboto Bold"/>
                <a:sym typeface="Roboto Bold"/>
              </a:rPr>
              <a:t>Thời gian thăng bằng (One Leg Stand)</a:t>
            </a:r>
          </a:p>
          <a:p>
            <a:pPr algn="l" marL="604521" indent="-302261" lvl="1">
              <a:lnSpc>
                <a:spcPts val="4032"/>
              </a:lnSpc>
              <a:buFont typeface="Arial"/>
              <a:buChar char="•"/>
            </a:pPr>
            <a:r>
              <a:rPr lang="en-US" b="true" sz="2800">
                <a:solidFill>
                  <a:srgbClr val="000000"/>
                </a:solidFill>
                <a:latin typeface="Roboto Bold"/>
                <a:ea typeface="Roboto Bold"/>
                <a:cs typeface="Roboto Bold"/>
                <a:sym typeface="Roboto Bold"/>
              </a:rPr>
              <a:t>Phương pháp: </a:t>
            </a:r>
            <a:r>
              <a:rPr lang="en-US" sz="2800">
                <a:solidFill>
                  <a:srgbClr val="000000"/>
                </a:solidFill>
                <a:latin typeface="Roboto"/>
                <a:ea typeface="Roboto"/>
                <a:cs typeface="Roboto"/>
                <a:sym typeface="Roboto"/>
              </a:rPr>
              <a:t>Sử dụng camera và MediaPipe Pose</a:t>
            </a:r>
          </a:p>
          <a:p>
            <a:pPr algn="l" marL="604521" indent="-302261" lvl="1">
              <a:lnSpc>
                <a:spcPts val="4032"/>
              </a:lnSpc>
              <a:spcBef>
                <a:spcPct val="0"/>
              </a:spcBef>
              <a:buFont typeface="Arial"/>
              <a:buChar char="•"/>
            </a:pPr>
            <a:r>
              <a:rPr lang="en-US" b="true" sz="2800">
                <a:solidFill>
                  <a:srgbClr val="000000"/>
                </a:solidFill>
                <a:latin typeface="Roboto Bold"/>
                <a:ea typeface="Roboto Bold"/>
                <a:cs typeface="Roboto Bold"/>
                <a:sym typeface="Roboto Bold"/>
              </a:rPr>
              <a:t>Thuật toán: </a:t>
            </a:r>
            <a:r>
              <a:rPr lang="en-US" sz="2800">
                <a:solidFill>
                  <a:srgbClr val="000000"/>
                </a:solidFill>
                <a:latin typeface="Roboto"/>
                <a:ea typeface="Roboto"/>
                <a:cs typeface="Roboto"/>
                <a:sym typeface="Roboto"/>
              </a:rPr>
              <a:t>Cosine similarity giữa tư thế đứng 1 chân và 2 chân</a:t>
            </a:r>
          </a:p>
        </p:txBody>
      </p:sp>
    </p:spTree>
  </p:cSld>
  <p:clrMapOvr>
    <a:masterClrMapping/>
  </p:clrMapOvr>
  <p:transition spd="med">
    <p:push dir="l"/>
  </p:transition>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4.3 THÔNG SỐ SỬ DỤNG MACHINE LEARNING ĐỂ DỰ ĐOÁN</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19 of 37</a:t>
            </a:r>
          </a:p>
        </p:txBody>
      </p:sp>
      <p:sp>
        <p:nvSpPr>
          <p:cNvPr name="TextBox 8" id="8"/>
          <p:cNvSpPr txBox="true"/>
          <p:nvPr/>
        </p:nvSpPr>
        <p:spPr>
          <a:xfrm rot="0">
            <a:off x="1028700" y="2660332"/>
            <a:ext cx="14011713" cy="5423536"/>
          </a:xfrm>
          <a:prstGeom prst="rect">
            <a:avLst/>
          </a:prstGeom>
        </p:spPr>
        <p:txBody>
          <a:bodyPr anchor="t" rtlCol="false" tIns="0" lIns="0" bIns="0" rIns="0">
            <a:spAutoFit/>
          </a:bodyPr>
          <a:lstStyle/>
          <a:p>
            <a:pPr algn="l">
              <a:lnSpc>
                <a:spcPts val="4319"/>
              </a:lnSpc>
            </a:pPr>
            <a:r>
              <a:rPr lang="en-US" sz="2999" b="true">
                <a:solidFill>
                  <a:srgbClr val="000000"/>
                </a:solidFill>
                <a:latin typeface="Roboto Bold"/>
                <a:ea typeface="Roboto Bold"/>
                <a:cs typeface="Roboto Bold"/>
                <a:sym typeface="Roboto Bold"/>
              </a:rPr>
              <a:t>Thông số: </a:t>
            </a:r>
            <a:r>
              <a:rPr lang="en-US" sz="2999">
                <a:solidFill>
                  <a:srgbClr val="000000"/>
                </a:solidFill>
                <a:latin typeface="Roboto"/>
                <a:ea typeface="Roboto"/>
                <a:cs typeface="Roboto"/>
                <a:sym typeface="Roboto"/>
              </a:rPr>
              <a:t>Tỷ lệ phần trăm mỡ cơ thể</a:t>
            </a:r>
          </a:p>
          <a:p>
            <a:pPr algn="l">
              <a:lnSpc>
                <a:spcPts val="4319"/>
              </a:lnSpc>
            </a:pPr>
            <a:r>
              <a:rPr lang="en-US" sz="2999" b="true">
                <a:solidFill>
                  <a:srgbClr val="000000"/>
                </a:solidFill>
                <a:latin typeface="Roboto Bold"/>
                <a:ea typeface="Roboto Bold"/>
                <a:cs typeface="Roboto Bold"/>
                <a:sym typeface="Roboto Bold"/>
              </a:rPr>
              <a:t>Mục tiêu: </a:t>
            </a:r>
            <a:r>
              <a:rPr lang="en-US" sz="2999">
                <a:solidFill>
                  <a:srgbClr val="000000"/>
                </a:solidFill>
                <a:latin typeface="Roboto"/>
                <a:ea typeface="Roboto"/>
                <a:cs typeface="Roboto"/>
                <a:sym typeface="Roboto"/>
              </a:rPr>
              <a:t>Dùng machine learning để ước tính tỷ lệ mỡ, giảm chi phí lắp cảm biến.</a:t>
            </a:r>
          </a:p>
          <a:p>
            <a:pPr algn="l">
              <a:lnSpc>
                <a:spcPts val="4319"/>
              </a:lnSpc>
            </a:pPr>
            <a:r>
              <a:rPr lang="en-US" sz="2999" b="true">
                <a:solidFill>
                  <a:srgbClr val="000000"/>
                </a:solidFill>
                <a:latin typeface="Roboto Bold"/>
                <a:ea typeface="Roboto Bold"/>
                <a:cs typeface="Roboto Bold"/>
                <a:sym typeface="Roboto Bold"/>
              </a:rPr>
              <a:t>Mô hình sử dụng:</a:t>
            </a:r>
            <a:r>
              <a:rPr lang="en-US" sz="2999">
                <a:solidFill>
                  <a:srgbClr val="000000"/>
                </a:solidFill>
                <a:latin typeface="Roboto"/>
                <a:ea typeface="Roboto"/>
                <a:cs typeface="Roboto"/>
                <a:sym typeface="Roboto"/>
              </a:rPr>
              <a:t> </a:t>
            </a:r>
            <a:r>
              <a:rPr lang="en-US" sz="2999" u="sng" b="true">
                <a:solidFill>
                  <a:srgbClr val="1B4290"/>
                </a:solidFill>
                <a:latin typeface="Roboto Bold"/>
                <a:ea typeface="Roboto Bold"/>
                <a:cs typeface="Roboto Bold"/>
                <a:sym typeface="Roboto Bold"/>
              </a:rPr>
              <a:t>Support Vector Regressor</a:t>
            </a:r>
          </a:p>
          <a:p>
            <a:pPr algn="l">
              <a:lnSpc>
                <a:spcPts val="4319"/>
              </a:lnSpc>
              <a:spcBef>
                <a:spcPct val="0"/>
              </a:spcBef>
            </a:pPr>
            <a:r>
              <a:rPr lang="en-US" b="true" sz="2999">
                <a:solidFill>
                  <a:srgbClr val="000000"/>
                </a:solidFill>
                <a:latin typeface="Roboto Bold"/>
                <a:ea typeface="Roboto Bold"/>
                <a:cs typeface="Roboto Bold"/>
                <a:sym typeface="Roboto Bold"/>
              </a:rPr>
              <a:t>Đầu và</a:t>
            </a:r>
            <a:r>
              <a:rPr lang="en-US" b="true" sz="2999">
                <a:solidFill>
                  <a:srgbClr val="000000"/>
                </a:solidFill>
                <a:latin typeface="Roboto Bold"/>
                <a:ea typeface="Roboto Bold"/>
                <a:cs typeface="Roboto Bold"/>
                <a:sym typeface="Roboto Bold"/>
              </a:rPr>
              <a:t>o chính:</a:t>
            </a:r>
            <a:r>
              <a:rPr lang="en-US" sz="2999">
                <a:solidFill>
                  <a:srgbClr val="000000"/>
                </a:solidFill>
                <a:latin typeface="Roboto"/>
                <a:ea typeface="Roboto"/>
                <a:cs typeface="Roboto"/>
                <a:sym typeface="Roboto"/>
              </a:rPr>
              <a:t> độ tuổi, giới tính, chiều cao, cân nặng.</a:t>
            </a:r>
          </a:p>
          <a:p>
            <a:pPr algn="l">
              <a:lnSpc>
                <a:spcPts val="4319"/>
              </a:lnSpc>
              <a:spcBef>
                <a:spcPct val="0"/>
              </a:spcBef>
            </a:pPr>
            <a:r>
              <a:rPr lang="en-US" sz="2999">
                <a:solidFill>
                  <a:srgbClr val="000000"/>
                </a:solidFill>
                <a:latin typeface="Roboto"/>
                <a:ea typeface="Roboto"/>
                <a:cs typeface="Roboto"/>
                <a:sym typeface="Roboto"/>
              </a:rPr>
              <a:t>Học từ tập dữ liệu 13.400 bản ghi gồm các thuộc tính:</a:t>
            </a:r>
          </a:p>
          <a:p>
            <a:pPr algn="l" marL="647694" indent="-323847" lvl="1">
              <a:lnSpc>
                <a:spcPts val="4319"/>
              </a:lnSpc>
              <a:buFont typeface="Arial"/>
              <a:buChar char="•"/>
            </a:pPr>
            <a:r>
              <a:rPr lang="en-US" sz="2999">
                <a:solidFill>
                  <a:srgbClr val="000000"/>
                </a:solidFill>
                <a:latin typeface="Roboto"/>
                <a:ea typeface="Roboto"/>
                <a:cs typeface="Roboto"/>
                <a:sym typeface="Roboto"/>
              </a:rPr>
              <a:t>Tuổi (age), Giới tính (gender)</a:t>
            </a:r>
          </a:p>
          <a:p>
            <a:pPr algn="l" marL="647694" indent="-323847" lvl="1">
              <a:lnSpc>
                <a:spcPts val="4319"/>
              </a:lnSpc>
              <a:buFont typeface="Arial"/>
              <a:buChar char="•"/>
            </a:pPr>
            <a:r>
              <a:rPr lang="en-US" sz="2999">
                <a:solidFill>
                  <a:srgbClr val="000000"/>
                </a:solidFill>
                <a:latin typeface="Roboto"/>
                <a:ea typeface="Roboto"/>
                <a:cs typeface="Roboto"/>
                <a:sym typeface="Roboto"/>
              </a:rPr>
              <a:t>Chiều cao (height_cm), Cân nặng (weight_kg)</a:t>
            </a:r>
          </a:p>
          <a:p>
            <a:pPr algn="l" marL="647694" indent="-323847" lvl="1">
              <a:lnSpc>
                <a:spcPts val="4319"/>
              </a:lnSpc>
              <a:buFont typeface="Arial"/>
              <a:buChar char="•"/>
            </a:pPr>
            <a:r>
              <a:rPr lang="en-US" sz="2999">
                <a:solidFill>
                  <a:srgbClr val="000000"/>
                </a:solidFill>
                <a:latin typeface="Roboto"/>
                <a:ea typeface="Roboto"/>
                <a:cs typeface="Roboto"/>
                <a:sym typeface="Roboto"/>
              </a:rPr>
              <a:t>Tỷ lệ mỡ cơ thể (body_fat)</a:t>
            </a:r>
          </a:p>
          <a:p>
            <a:pPr algn="l" marL="647694" indent="-323847" lvl="1">
              <a:lnSpc>
                <a:spcPts val="4319"/>
              </a:lnSpc>
              <a:buFont typeface="Arial"/>
              <a:buChar char="•"/>
            </a:pPr>
            <a:r>
              <a:rPr lang="en-US" sz="2999">
                <a:solidFill>
                  <a:srgbClr val="000000"/>
                </a:solidFill>
                <a:latin typeface="Roboto"/>
                <a:ea typeface="Roboto"/>
                <a:cs typeface="Roboto"/>
                <a:sym typeface="Roboto"/>
              </a:rPr>
              <a:t>Một số chỉ số sức khỏe khác (huyết áp, lực tay, gập người, gập bụng, nhảy xa, nhóm đối tượng)</a:t>
            </a:r>
          </a:p>
        </p:txBody>
      </p:sp>
    </p:spTree>
  </p:cSld>
  <p:clrMapOvr>
    <a:masterClrMapping/>
  </p:clrMapOvr>
  <p:transition spd="med">
    <p:push dir="l"/>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4.3 THÔNG SỐ SỬ DỤNG MACHINE LEARNING ĐỂ DỰ ĐOÁN</a:t>
              </a:r>
            </a:p>
          </p:txBody>
        </p:sp>
      </p:grpSp>
      <p:graphicFrame>
        <p:nvGraphicFramePr>
          <p:cNvPr name="Object 7" id="7"/>
          <p:cNvGraphicFramePr/>
          <p:nvPr/>
        </p:nvGraphicFramePr>
        <p:xfrm>
          <a:off x="1028700" y="2769451"/>
          <a:ext cx="13201650" cy="4400550"/>
        </p:xfrm>
        <a:graphic>
          <a:graphicData uri="http://schemas.openxmlformats.org/presentationml/2006/ole">
            <p:oleObj imgW="15836900" imgH="7035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8" id="8"/>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20 of 37</a:t>
            </a:r>
          </a:p>
        </p:txBody>
      </p:sp>
    </p:spTree>
  </p:cSld>
  <p:clrMapOvr>
    <a:masterClrMapping/>
  </p:clrMapOvr>
  <p:transition spd="med">
    <p:push dir="l"/>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4.3 THÔNG SỐ SỬ DỤNG MACHINE LEARNING ĐỂ DỰ ĐOÁN</a:t>
              </a:r>
            </a:p>
          </p:txBody>
        </p:sp>
      </p:grpSp>
      <p:sp>
        <p:nvSpPr>
          <p:cNvPr name="Freeform 7" id="7"/>
          <p:cNvSpPr/>
          <p:nvPr/>
        </p:nvSpPr>
        <p:spPr>
          <a:xfrm flipH="false" flipV="false" rot="0">
            <a:off x="9208875" y="2886152"/>
            <a:ext cx="8385104" cy="5502725"/>
          </a:xfrm>
          <a:custGeom>
            <a:avLst/>
            <a:gdLst/>
            <a:ahLst/>
            <a:cxnLst/>
            <a:rect r="r" b="b" t="t" l="l"/>
            <a:pathLst>
              <a:path h="5502725" w="8385104">
                <a:moveTo>
                  <a:pt x="0" y="0"/>
                </a:moveTo>
                <a:lnTo>
                  <a:pt x="8385104" y="0"/>
                </a:lnTo>
                <a:lnTo>
                  <a:pt x="8385104" y="5502724"/>
                </a:lnTo>
                <a:lnTo>
                  <a:pt x="0" y="5502724"/>
                </a:lnTo>
                <a:lnTo>
                  <a:pt x="0" y="0"/>
                </a:lnTo>
                <a:close/>
              </a:path>
            </a:pathLst>
          </a:custGeom>
          <a:blipFill>
            <a:blip r:embed="rId2"/>
            <a:stretch>
              <a:fillRect l="0" t="0" r="0" b="0"/>
            </a:stretch>
          </a:blipFill>
        </p:spPr>
      </p:sp>
      <p:sp>
        <p:nvSpPr>
          <p:cNvPr name="Freeform 8" id="8"/>
          <p:cNvSpPr/>
          <p:nvPr/>
        </p:nvSpPr>
        <p:spPr>
          <a:xfrm flipH="false" flipV="false" rot="0">
            <a:off x="694021" y="2886152"/>
            <a:ext cx="8514854" cy="5502725"/>
          </a:xfrm>
          <a:custGeom>
            <a:avLst/>
            <a:gdLst/>
            <a:ahLst/>
            <a:cxnLst/>
            <a:rect r="r" b="b" t="t" l="l"/>
            <a:pathLst>
              <a:path h="5502725" w="8514854">
                <a:moveTo>
                  <a:pt x="0" y="0"/>
                </a:moveTo>
                <a:lnTo>
                  <a:pt x="8514854" y="0"/>
                </a:lnTo>
                <a:lnTo>
                  <a:pt x="8514854" y="5502724"/>
                </a:lnTo>
                <a:lnTo>
                  <a:pt x="0" y="5502724"/>
                </a:lnTo>
                <a:lnTo>
                  <a:pt x="0" y="0"/>
                </a:lnTo>
                <a:close/>
              </a:path>
            </a:pathLst>
          </a:custGeom>
          <a:blipFill>
            <a:blip r:embed="rId3"/>
            <a:stretch>
              <a:fillRect l="0" t="0" r="0" b="0"/>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21 of 37</a:t>
            </a:r>
          </a:p>
        </p:txBody>
      </p:sp>
      <p:sp>
        <p:nvSpPr>
          <p:cNvPr name="TextBox 10" id="10"/>
          <p:cNvSpPr txBox="true"/>
          <p:nvPr/>
        </p:nvSpPr>
        <p:spPr>
          <a:xfrm rot="0">
            <a:off x="3786570" y="8550801"/>
            <a:ext cx="2329755" cy="212731"/>
          </a:xfrm>
          <a:prstGeom prst="rect">
            <a:avLst/>
          </a:prstGeom>
        </p:spPr>
        <p:txBody>
          <a:bodyPr anchor="t" rtlCol="false" tIns="0" lIns="0" bIns="0" rIns="0">
            <a:spAutoFit/>
          </a:bodyPr>
          <a:lstStyle/>
          <a:p>
            <a:pPr algn="ctr">
              <a:lnSpc>
                <a:spcPts val="1250"/>
              </a:lnSpc>
            </a:pPr>
            <a:r>
              <a:rPr lang="en-US" sz="2500" b="true">
                <a:solidFill>
                  <a:srgbClr val="000000"/>
                </a:solidFill>
                <a:latin typeface="Roboto Bold"/>
                <a:ea typeface="Roboto Bold"/>
                <a:cs typeface="Roboto Bold"/>
                <a:sym typeface="Roboto Bold"/>
              </a:rPr>
              <a:t>Biểu đồ phần dư</a:t>
            </a:r>
          </a:p>
        </p:txBody>
      </p:sp>
      <p:sp>
        <p:nvSpPr>
          <p:cNvPr name="TextBox 11" id="11"/>
          <p:cNvSpPr txBox="true"/>
          <p:nvPr/>
        </p:nvSpPr>
        <p:spPr>
          <a:xfrm rot="0">
            <a:off x="12195175" y="8550801"/>
            <a:ext cx="2412504" cy="212731"/>
          </a:xfrm>
          <a:prstGeom prst="rect">
            <a:avLst/>
          </a:prstGeom>
        </p:spPr>
        <p:txBody>
          <a:bodyPr anchor="t" rtlCol="false" tIns="0" lIns="0" bIns="0" rIns="0">
            <a:spAutoFit/>
          </a:bodyPr>
          <a:lstStyle/>
          <a:p>
            <a:pPr algn="ctr">
              <a:lnSpc>
                <a:spcPts val="1250"/>
              </a:lnSpc>
            </a:pPr>
            <a:r>
              <a:rPr lang="en-US" sz="2500" b="true">
                <a:solidFill>
                  <a:srgbClr val="000000"/>
                </a:solidFill>
                <a:latin typeface="Roboto Bold"/>
                <a:ea typeface="Roboto Bold"/>
                <a:cs typeface="Roboto Bold"/>
                <a:sym typeface="Roboto Bold"/>
              </a:rPr>
              <a:t>Biểu đồ phân tán</a:t>
            </a:r>
          </a:p>
        </p:txBody>
      </p:sp>
    </p:spTree>
  </p:cSld>
  <p:clrMapOvr>
    <a:masterClrMapping/>
  </p:clrMapOvr>
  <p:transition spd="med">
    <p:push dir="l"/>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4.3 THÔNG SỐ SỬ DỤNG MACHINE LEARNING ĐỂ DỰ ĐOÁN</a:t>
              </a:r>
            </a:p>
          </p:txBody>
        </p:sp>
      </p:grpSp>
      <p:sp>
        <p:nvSpPr>
          <p:cNvPr name="Freeform 7" id="7"/>
          <p:cNvSpPr/>
          <p:nvPr/>
        </p:nvSpPr>
        <p:spPr>
          <a:xfrm flipH="false" flipV="false" rot="0">
            <a:off x="787477" y="2971837"/>
            <a:ext cx="8233753" cy="5331355"/>
          </a:xfrm>
          <a:custGeom>
            <a:avLst/>
            <a:gdLst/>
            <a:ahLst/>
            <a:cxnLst/>
            <a:rect r="r" b="b" t="t" l="l"/>
            <a:pathLst>
              <a:path h="5331355" w="8233753">
                <a:moveTo>
                  <a:pt x="0" y="0"/>
                </a:moveTo>
                <a:lnTo>
                  <a:pt x="8233753" y="0"/>
                </a:lnTo>
                <a:lnTo>
                  <a:pt x="8233753" y="5331355"/>
                </a:lnTo>
                <a:lnTo>
                  <a:pt x="0" y="5331355"/>
                </a:lnTo>
                <a:lnTo>
                  <a:pt x="0" y="0"/>
                </a:lnTo>
                <a:close/>
              </a:path>
            </a:pathLst>
          </a:custGeom>
          <a:blipFill>
            <a:blip r:embed="rId2"/>
            <a:stretch>
              <a:fillRect l="0" t="0" r="0" b="0"/>
            </a:stretch>
          </a:blipFill>
        </p:spPr>
      </p:sp>
      <p:sp>
        <p:nvSpPr>
          <p:cNvPr name="Freeform 8" id="8"/>
          <p:cNvSpPr/>
          <p:nvPr/>
        </p:nvSpPr>
        <p:spPr>
          <a:xfrm flipH="false" flipV="false" rot="0">
            <a:off x="9021230" y="2971837"/>
            <a:ext cx="8479292" cy="5331355"/>
          </a:xfrm>
          <a:custGeom>
            <a:avLst/>
            <a:gdLst/>
            <a:ahLst/>
            <a:cxnLst/>
            <a:rect r="r" b="b" t="t" l="l"/>
            <a:pathLst>
              <a:path h="5331355" w="8479292">
                <a:moveTo>
                  <a:pt x="0" y="0"/>
                </a:moveTo>
                <a:lnTo>
                  <a:pt x="8479293" y="0"/>
                </a:lnTo>
                <a:lnTo>
                  <a:pt x="8479293" y="5331355"/>
                </a:lnTo>
                <a:lnTo>
                  <a:pt x="0" y="5331355"/>
                </a:lnTo>
                <a:lnTo>
                  <a:pt x="0" y="0"/>
                </a:lnTo>
                <a:close/>
              </a:path>
            </a:pathLst>
          </a:custGeom>
          <a:blipFill>
            <a:blip r:embed="rId3"/>
            <a:stretch>
              <a:fillRect l="0" t="0" r="0" b="0"/>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22 of 37</a:t>
            </a:r>
          </a:p>
        </p:txBody>
      </p:sp>
      <p:sp>
        <p:nvSpPr>
          <p:cNvPr name="TextBox 10" id="10"/>
          <p:cNvSpPr txBox="true"/>
          <p:nvPr/>
        </p:nvSpPr>
        <p:spPr>
          <a:xfrm rot="0">
            <a:off x="2701995" y="8465117"/>
            <a:ext cx="4404717" cy="212731"/>
          </a:xfrm>
          <a:prstGeom prst="rect">
            <a:avLst/>
          </a:prstGeom>
        </p:spPr>
        <p:txBody>
          <a:bodyPr anchor="t" rtlCol="false" tIns="0" lIns="0" bIns="0" rIns="0">
            <a:spAutoFit/>
          </a:bodyPr>
          <a:lstStyle/>
          <a:p>
            <a:pPr algn="ctr">
              <a:lnSpc>
                <a:spcPts val="1250"/>
              </a:lnSpc>
            </a:pPr>
            <a:r>
              <a:rPr lang="en-US" sz="2500" b="true">
                <a:solidFill>
                  <a:srgbClr val="000000"/>
                </a:solidFill>
                <a:latin typeface="Roboto Bold"/>
                <a:ea typeface="Roboto Bold"/>
                <a:cs typeface="Roboto Bold"/>
                <a:sym typeface="Roboto Bold"/>
              </a:rPr>
              <a:t>Biểu đồ phân phối của phần dư</a:t>
            </a:r>
          </a:p>
        </p:txBody>
      </p:sp>
      <p:sp>
        <p:nvSpPr>
          <p:cNvPr name="TextBox 11" id="11"/>
          <p:cNvSpPr txBox="true"/>
          <p:nvPr/>
        </p:nvSpPr>
        <p:spPr>
          <a:xfrm rot="0">
            <a:off x="11024139" y="8465117"/>
            <a:ext cx="4473476" cy="212731"/>
          </a:xfrm>
          <a:prstGeom prst="rect">
            <a:avLst/>
          </a:prstGeom>
        </p:spPr>
        <p:txBody>
          <a:bodyPr anchor="t" rtlCol="false" tIns="0" lIns="0" bIns="0" rIns="0">
            <a:spAutoFit/>
          </a:bodyPr>
          <a:lstStyle/>
          <a:p>
            <a:pPr algn="ctr">
              <a:lnSpc>
                <a:spcPts val="1250"/>
              </a:lnSpc>
            </a:pPr>
            <a:r>
              <a:rPr lang="en-US" sz="2500" b="true">
                <a:solidFill>
                  <a:srgbClr val="000000"/>
                </a:solidFill>
                <a:latin typeface="Roboto Bold"/>
                <a:ea typeface="Roboto Bold"/>
                <a:cs typeface="Roboto Bold"/>
                <a:sym typeface="Roboto Bold"/>
              </a:rPr>
              <a:t>Biểu đồ phân bối của các giá trị</a:t>
            </a:r>
          </a:p>
        </p:txBody>
      </p:sp>
    </p:spTree>
  </p:cSld>
  <p:clrMapOvr>
    <a:masterClrMapping/>
  </p:clrMapOvr>
  <p:transition spd="med">
    <p:push dir="l"/>
  </p:transition>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4.3 THÔNG SỐ SỬ DỤNG MACHINE LEARNING ĐỂ DỰ ĐOÁN</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23 of 37</a:t>
            </a:r>
          </a:p>
        </p:txBody>
      </p:sp>
      <p:sp>
        <p:nvSpPr>
          <p:cNvPr name="TextBox 8" id="8"/>
          <p:cNvSpPr txBox="true"/>
          <p:nvPr/>
        </p:nvSpPr>
        <p:spPr>
          <a:xfrm rot="0">
            <a:off x="1443206" y="3759825"/>
            <a:ext cx="15401587" cy="4133850"/>
          </a:xfrm>
          <a:prstGeom prst="rect">
            <a:avLst/>
          </a:prstGeom>
        </p:spPr>
        <p:txBody>
          <a:bodyPr anchor="t" rtlCol="false" tIns="0" lIns="0" bIns="0" rIns="0">
            <a:spAutoFit/>
          </a:bodyPr>
          <a:lstStyle/>
          <a:p>
            <a:pPr algn="l" marL="647700" indent="-323850" lvl="1">
              <a:lnSpc>
                <a:spcPts val="3600"/>
              </a:lnSpc>
              <a:buFont typeface="Arial"/>
              <a:buChar char="•"/>
            </a:pPr>
            <a:r>
              <a:rPr lang="en-US" sz="3000" spc="459">
                <a:solidFill>
                  <a:srgbClr val="000000"/>
                </a:solidFill>
                <a:latin typeface="Roboto"/>
                <a:ea typeface="Roboto"/>
                <a:cs typeface="Roboto"/>
                <a:sym typeface="Roboto"/>
              </a:rPr>
              <a:t>Nhìn chung, mô</a:t>
            </a:r>
            <a:r>
              <a:rPr lang="en-US" sz="3000" spc="459">
                <a:solidFill>
                  <a:srgbClr val="000000"/>
                </a:solidFill>
                <a:latin typeface="Roboto"/>
                <a:ea typeface="Roboto"/>
                <a:cs typeface="Roboto"/>
                <a:sym typeface="Roboto"/>
              </a:rPr>
              <a:t> hình </a:t>
            </a:r>
            <a:r>
              <a:rPr lang="en-US" b="true" sz="3000" spc="459">
                <a:solidFill>
                  <a:srgbClr val="000000"/>
                </a:solidFill>
                <a:latin typeface="Roboto Bold"/>
                <a:ea typeface="Roboto Bold"/>
                <a:cs typeface="Roboto Bold"/>
                <a:sym typeface="Roboto Bold"/>
              </a:rPr>
              <a:t>hoạt động ổn định và đáng tin cậy</a:t>
            </a:r>
            <a:r>
              <a:rPr lang="en-US" sz="3000" spc="459">
                <a:solidFill>
                  <a:srgbClr val="000000"/>
                </a:solidFill>
                <a:latin typeface="Roboto"/>
                <a:ea typeface="Roboto"/>
                <a:cs typeface="Roboto"/>
                <a:sym typeface="Roboto"/>
              </a:rPr>
              <a:t>, với mức sai số thấp và độ chênh lệch không đáng kể giữa tập huấn luyện và kiểm thử.</a:t>
            </a:r>
          </a:p>
          <a:p>
            <a:pPr algn="l" marL="647700" indent="-323850" lvl="1">
              <a:lnSpc>
                <a:spcPts val="3600"/>
              </a:lnSpc>
              <a:buFont typeface="Arial"/>
              <a:buChar char="•"/>
            </a:pPr>
            <a:r>
              <a:rPr lang="en-US" sz="3000" spc="459">
                <a:solidFill>
                  <a:srgbClr val="000000"/>
                </a:solidFill>
                <a:latin typeface="Roboto"/>
                <a:ea typeface="Roboto"/>
                <a:cs typeface="Roboto"/>
                <a:sym typeface="Roboto"/>
              </a:rPr>
              <a:t>Sai số trung bình chỉ ở mức </a:t>
            </a:r>
            <a:r>
              <a:rPr lang="en-US" b="true" sz="3000" spc="459" u="none">
                <a:solidFill>
                  <a:srgbClr val="000000"/>
                </a:solidFill>
                <a:latin typeface="Roboto Bold"/>
                <a:ea typeface="Roboto Bold"/>
                <a:cs typeface="Roboto Bold"/>
                <a:sym typeface="Roboto Bold"/>
              </a:rPr>
              <a:t>3–4%</a:t>
            </a:r>
            <a:r>
              <a:rPr lang="en-US" sz="3000" spc="459">
                <a:solidFill>
                  <a:srgbClr val="000000"/>
                </a:solidFill>
                <a:latin typeface="Roboto"/>
                <a:ea typeface="Roboto"/>
                <a:cs typeface="Roboto"/>
                <a:sym typeface="Roboto"/>
              </a:rPr>
              <a:t>,</a:t>
            </a:r>
            <a:r>
              <a:rPr lang="en-US" sz="3000" spc="459">
                <a:solidFill>
                  <a:srgbClr val="000000"/>
                </a:solidFill>
                <a:latin typeface="Roboto"/>
                <a:ea typeface="Roboto"/>
                <a:cs typeface="Roboto"/>
                <a:sym typeface="Roboto"/>
              </a:rPr>
              <a:t> được xem là </a:t>
            </a:r>
            <a:r>
              <a:rPr lang="en-US" b="true" sz="3000" spc="459">
                <a:solidFill>
                  <a:srgbClr val="000000"/>
                </a:solidFill>
                <a:latin typeface="Roboto Bold"/>
                <a:ea typeface="Roboto Bold"/>
                <a:cs typeface="Roboto Bold"/>
                <a:sym typeface="Roboto Bold"/>
              </a:rPr>
              <a:t>khá tốt</a:t>
            </a:r>
            <a:r>
              <a:rPr lang="en-US" sz="3000" spc="459">
                <a:solidFill>
                  <a:srgbClr val="000000"/>
                </a:solidFill>
                <a:latin typeface="Roboto"/>
                <a:ea typeface="Roboto"/>
                <a:cs typeface="Roboto"/>
                <a:sym typeface="Roboto"/>
              </a:rPr>
              <a:t> trong bối cảnh dự đoán các chỉ số sinh học như tỷ lệ mỡ cơ thể, vốn chịu ảnh hưởng của nhiều yếu tố sinh lý tự nhiên.</a:t>
            </a:r>
          </a:p>
          <a:p>
            <a:pPr algn="l" marL="647700" indent="-323850" lvl="1">
              <a:lnSpc>
                <a:spcPts val="3600"/>
              </a:lnSpc>
              <a:buFont typeface="Arial"/>
              <a:buChar char="•"/>
            </a:pPr>
            <a:r>
              <a:rPr lang="en-US" sz="3000" spc="459">
                <a:solidFill>
                  <a:srgbClr val="000000"/>
                </a:solidFill>
                <a:latin typeface="Roboto"/>
                <a:ea typeface="Roboto"/>
                <a:cs typeface="Roboto"/>
                <a:sym typeface="Roboto"/>
              </a:rPr>
              <a:t>Trong tương lai, để cải thiện thêm độ chính xác, có thể xem xét </a:t>
            </a:r>
            <a:r>
              <a:rPr lang="en-US" b="true" sz="3000" spc="459">
                <a:solidFill>
                  <a:srgbClr val="000000"/>
                </a:solidFill>
                <a:latin typeface="Roboto Bold"/>
                <a:ea typeface="Roboto Bold"/>
                <a:cs typeface="Roboto Bold"/>
                <a:sym typeface="Roboto Bold"/>
              </a:rPr>
              <a:t>mở rộng tập dữ liệu, bổ sung thêm đặc trưng đầu vào</a:t>
            </a:r>
            <a:r>
              <a:rPr lang="en-US" sz="3000" spc="459">
                <a:solidFill>
                  <a:srgbClr val="000000"/>
                </a:solidFill>
                <a:latin typeface="Roboto"/>
                <a:ea typeface="Roboto"/>
                <a:cs typeface="Roboto"/>
                <a:sym typeface="Roboto"/>
              </a:rPr>
              <a:t> hoặc </a:t>
            </a:r>
            <a:r>
              <a:rPr lang="en-US" b="true" sz="3000" spc="459">
                <a:solidFill>
                  <a:srgbClr val="000000"/>
                </a:solidFill>
                <a:latin typeface="Roboto Bold"/>
                <a:ea typeface="Roboto Bold"/>
                <a:cs typeface="Roboto Bold"/>
                <a:sym typeface="Roboto Bold"/>
              </a:rPr>
              <a:t>thử nghiệm các mô hình học máy nâng cao hơn.</a:t>
            </a:r>
          </a:p>
        </p:txBody>
      </p:sp>
    </p:spTree>
  </p:cSld>
  <p:clrMapOvr>
    <a:masterClrMapping/>
  </p:clrMapOvr>
  <p:transition spd="med">
    <p:push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4.4 SO SÁNH VỚI CHỈ SỐ VỚI THIẾT BỊ THỰC TẾ</a:t>
              </a:r>
            </a:p>
          </p:txBody>
        </p:sp>
      </p:grpSp>
      <p:graphicFrame>
        <p:nvGraphicFramePr>
          <p:cNvPr name="Object 7" id="7"/>
          <p:cNvGraphicFramePr/>
          <p:nvPr/>
        </p:nvGraphicFramePr>
        <p:xfrm>
          <a:off x="1453342" y="2566448"/>
          <a:ext cx="9429750" cy="8172450"/>
        </p:xfrm>
        <a:graphic>
          <a:graphicData uri="http://schemas.openxmlformats.org/presentationml/2006/ole">
            <p:oleObj imgW="11315700" imgH="100584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8" id="8"/>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24 of 37</a:t>
            </a:r>
          </a:p>
        </p:txBody>
      </p:sp>
    </p:spTree>
  </p:cSld>
  <p:clrMapOvr>
    <a:masterClrMapping/>
  </p:clrMapOvr>
  <p:transition spd="med">
    <p:push dir="l"/>
  </p:transition>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4.4 BÀI KIỂM TRA THĂNG BẰNG ĐỨNG MỘT CHÂN (SLS TEST) [SLS]</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25 of 37</a:t>
            </a:r>
          </a:p>
        </p:txBody>
      </p:sp>
      <p:sp>
        <p:nvSpPr>
          <p:cNvPr name="TextBox 8" id="8"/>
          <p:cNvSpPr txBox="true"/>
          <p:nvPr/>
        </p:nvSpPr>
        <p:spPr>
          <a:xfrm rot="0">
            <a:off x="1028700" y="2776537"/>
            <a:ext cx="12680671" cy="4686301"/>
          </a:xfrm>
          <a:prstGeom prst="rect">
            <a:avLst/>
          </a:prstGeom>
        </p:spPr>
        <p:txBody>
          <a:bodyPr anchor="t" rtlCol="false" tIns="0" lIns="0" bIns="0" rIns="0">
            <a:spAutoFit/>
          </a:bodyPr>
          <a:lstStyle/>
          <a:p>
            <a:pPr algn="l">
              <a:lnSpc>
                <a:spcPts val="4199"/>
              </a:lnSpc>
              <a:spcBef>
                <a:spcPct val="0"/>
              </a:spcBef>
            </a:pPr>
            <a:r>
              <a:rPr lang="en-US" b="true" sz="2999">
                <a:solidFill>
                  <a:srgbClr val="1B4290"/>
                </a:solidFill>
                <a:latin typeface="Canva Sans Bold"/>
                <a:ea typeface="Canva Sans Bold"/>
                <a:cs typeface="Canva Sans Bold"/>
                <a:sym typeface="Canva Sans Bold"/>
              </a:rPr>
              <a:t>Mục đích:</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Đánh giá khả năng giữ thăng bằng và kiểm soát tư thế.</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Theo dõi các rối loạn thần kinh, cơ xương.</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Phát hiện nguy cơ té ngã.</a:t>
            </a:r>
          </a:p>
          <a:p>
            <a:pPr algn="l">
              <a:lnSpc>
                <a:spcPts val="4199"/>
              </a:lnSpc>
              <a:spcBef>
                <a:spcPct val="0"/>
              </a:spcBef>
            </a:pPr>
            <a:r>
              <a:rPr lang="en-US" b="true" sz="2999">
                <a:solidFill>
                  <a:srgbClr val="1B4290"/>
                </a:solidFill>
                <a:latin typeface="Canva Sans Bold"/>
                <a:ea typeface="Canva Sans Bold"/>
                <a:cs typeface="Canva Sans Bold"/>
                <a:sym typeface="Canva Sans Bold"/>
              </a:rPr>
              <a:t>Cách thực hiện:</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Mở mắt, tay chống hông.</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Đứng một chân không hỗ trợ.</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Bắt đầu tính giờ khi chân kia rời đất.</a:t>
            </a:r>
          </a:p>
          <a:p>
            <a:pPr algn="l" marL="647695" indent="-323848" lvl="1">
              <a:lnSpc>
                <a:spcPts val="4199"/>
              </a:lnSpc>
              <a:buFont typeface="Arial"/>
              <a:buChar char="•"/>
            </a:pPr>
            <a:r>
              <a:rPr lang="en-US" sz="2999">
                <a:solidFill>
                  <a:srgbClr val="000000"/>
                </a:solidFill>
                <a:latin typeface="Canva Sans"/>
                <a:ea typeface="Canva Sans"/>
                <a:cs typeface="Canva Sans"/>
                <a:sym typeface="Canva Sans"/>
              </a:rPr>
              <a:t>Dừng khi chân chạm đất hoặc tay rời hông </a:t>
            </a:r>
          </a:p>
        </p:txBody>
      </p:sp>
      <p:sp>
        <p:nvSpPr>
          <p:cNvPr name="TextBox 9" id="9"/>
          <p:cNvSpPr txBox="true"/>
          <p:nvPr/>
        </p:nvSpPr>
        <p:spPr>
          <a:xfrm rot="0">
            <a:off x="1028700" y="8961120"/>
            <a:ext cx="4642693" cy="297180"/>
          </a:xfrm>
          <a:prstGeom prst="rect">
            <a:avLst/>
          </a:prstGeom>
        </p:spPr>
        <p:txBody>
          <a:bodyPr anchor="t" rtlCol="false" tIns="0" lIns="0" bIns="0" rIns="0">
            <a:spAutoFit/>
          </a:bodyPr>
          <a:lstStyle/>
          <a:p>
            <a:pPr algn="ctr">
              <a:lnSpc>
                <a:spcPts val="2520"/>
              </a:lnSpc>
              <a:spcBef>
                <a:spcPct val="0"/>
              </a:spcBef>
            </a:pPr>
            <a:r>
              <a:rPr lang="en-US" sz="1800">
                <a:solidFill>
                  <a:srgbClr val="000000"/>
                </a:solidFill>
                <a:latin typeface="Canva Sans"/>
                <a:ea typeface="Canva Sans"/>
                <a:cs typeface="Canva Sans"/>
                <a:sym typeface="Canva Sans"/>
              </a:rPr>
              <a:t> [SLS] Physiopedia. Single Leg Stance Test </a:t>
            </a:r>
          </a:p>
        </p:txBody>
      </p:sp>
    </p:spTree>
  </p:cSld>
  <p:clrMapOvr>
    <a:masterClrMapping/>
  </p:clrMapOvr>
  <p:transition spd="med">
    <p:push dir="l"/>
  </p:transition>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9430638" cy="1976056"/>
            <a:chOff x="0" y="0"/>
            <a:chExt cx="25907518" cy="2634742"/>
          </a:xfrm>
        </p:grpSpPr>
        <p:grpSp>
          <p:nvGrpSpPr>
            <p:cNvPr name="Group 3" id="3"/>
            <p:cNvGrpSpPr/>
            <p:nvPr/>
          </p:nvGrpSpPr>
          <p:grpSpPr>
            <a:xfrm rot="0">
              <a:off x="0" y="0"/>
              <a:ext cx="25907518" cy="2634742"/>
              <a:chOff x="0" y="0"/>
              <a:chExt cx="3030493" cy="308195"/>
            </a:xfrm>
          </p:grpSpPr>
          <p:sp>
            <p:nvSpPr>
              <p:cNvPr name="Freeform 4" id="4"/>
              <p:cNvSpPr/>
              <p:nvPr/>
            </p:nvSpPr>
            <p:spPr>
              <a:xfrm flipH="false" flipV="false" rot="0">
                <a:off x="0" y="0"/>
                <a:ext cx="3030493" cy="308195"/>
              </a:xfrm>
              <a:custGeom>
                <a:avLst/>
                <a:gdLst/>
                <a:ahLst/>
                <a:cxnLst/>
                <a:rect r="r" b="b" t="t" l="l"/>
                <a:pathLst>
                  <a:path h="308195" w="3030493">
                    <a:moveTo>
                      <a:pt x="203200" y="0"/>
                    </a:moveTo>
                    <a:lnTo>
                      <a:pt x="3030493" y="0"/>
                    </a:lnTo>
                    <a:lnTo>
                      <a:pt x="2827293" y="308195"/>
                    </a:lnTo>
                    <a:lnTo>
                      <a:pt x="0" y="308195"/>
                    </a:lnTo>
                    <a:lnTo>
                      <a:pt x="203200" y="0"/>
                    </a:lnTo>
                    <a:close/>
                  </a:path>
                </a:pathLst>
              </a:custGeom>
              <a:solidFill>
                <a:srgbClr val="002699"/>
              </a:solidFill>
            </p:spPr>
          </p:sp>
          <p:sp>
            <p:nvSpPr>
              <p:cNvPr name="TextBox 5" id="5"/>
              <p:cNvSpPr txBox="true"/>
              <p:nvPr/>
            </p:nvSpPr>
            <p:spPr>
              <a:xfrm>
                <a:off x="101600" y="-47625"/>
                <a:ext cx="2827293" cy="355820"/>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2041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4.4 BÀI KIỂM TRA THĂNG BẰNG ĐỨNG MỘT CHÂN (SLS TEST) [SLS]</a:t>
              </a:r>
            </a:p>
          </p:txBody>
        </p:sp>
      </p:grpSp>
      <p:sp>
        <p:nvSpPr>
          <p:cNvPr name="TextBox 7" id="7"/>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26 of 37</a:t>
            </a:r>
          </a:p>
        </p:txBody>
      </p:sp>
      <p:sp>
        <p:nvSpPr>
          <p:cNvPr name="TextBox 8" id="8"/>
          <p:cNvSpPr txBox="true"/>
          <p:nvPr/>
        </p:nvSpPr>
        <p:spPr>
          <a:xfrm rot="0">
            <a:off x="1028700" y="2724150"/>
            <a:ext cx="15492710" cy="4781550"/>
          </a:xfrm>
          <a:prstGeom prst="rect">
            <a:avLst/>
          </a:prstGeom>
        </p:spPr>
        <p:txBody>
          <a:bodyPr anchor="t" rtlCol="false" tIns="0" lIns="0" bIns="0" rIns="0">
            <a:spAutoFit/>
          </a:bodyPr>
          <a:lstStyle/>
          <a:p>
            <a:pPr algn="just">
              <a:lnSpc>
                <a:spcPts val="4200"/>
              </a:lnSpc>
              <a:spcBef>
                <a:spcPct val="0"/>
              </a:spcBef>
            </a:pPr>
            <a:r>
              <a:rPr lang="en-US" b="true" sz="3000">
                <a:solidFill>
                  <a:srgbClr val="1B4290"/>
                </a:solidFill>
                <a:latin typeface="Canva Sans Bold"/>
                <a:ea typeface="Canva Sans Bold"/>
                <a:cs typeface="Canva Sans Bold"/>
                <a:sym typeface="Canva Sans Bold"/>
              </a:rPr>
              <a:t>Kiến trúc và luồng hoạt động</a:t>
            </a:r>
          </a:p>
          <a:p>
            <a:pPr algn="just" marL="647700" indent="-323850" lvl="1">
              <a:lnSpc>
                <a:spcPts val="4200"/>
              </a:lnSpc>
              <a:buFont typeface="Arial"/>
              <a:buChar char="•"/>
            </a:pPr>
            <a:r>
              <a:rPr lang="en-US" b="true" sz="3000">
                <a:solidFill>
                  <a:srgbClr val="1B4290"/>
                </a:solidFill>
                <a:latin typeface="Canva Sans Bold"/>
                <a:ea typeface="Canva Sans Bold"/>
                <a:cs typeface="Canva Sans Bold"/>
                <a:sym typeface="Canva Sans Bold"/>
              </a:rPr>
              <a:t>Giai đoạn thu thập mẫu chuẩn:</a:t>
            </a:r>
            <a:r>
              <a:rPr lang="en-US" sz="3000">
                <a:solidFill>
                  <a:srgbClr val="000000"/>
                </a:solidFill>
                <a:latin typeface="Canva Sans"/>
                <a:ea typeface="Canva Sans"/>
                <a:cs typeface="Canva Sans"/>
                <a:sym typeface="Canva Sans"/>
              </a:rPr>
              <a:t> Người dùng đứng hai chân để thu thập mẫu two_legs_samples, sau đó đứng một chân để thu thập mẫu one_leg_samples. Mỗi mẫu là một vector tọa độ landmarks.</a:t>
            </a:r>
          </a:p>
          <a:p>
            <a:pPr algn="just" marL="647700" indent="-323850" lvl="1">
              <a:lnSpc>
                <a:spcPts val="4200"/>
              </a:lnSpc>
              <a:buFont typeface="Arial"/>
              <a:buChar char="•"/>
            </a:pPr>
            <a:r>
              <a:rPr lang="en-US" b="true" sz="3000">
                <a:solidFill>
                  <a:srgbClr val="1B4290"/>
                </a:solidFill>
                <a:latin typeface="Canva Sans Bold"/>
                <a:ea typeface="Canva Sans Bold"/>
                <a:cs typeface="Canva Sans Bold"/>
                <a:sym typeface="Canva Sans Bold"/>
              </a:rPr>
              <a:t>Giai đoạn đo đạc chính:</a:t>
            </a:r>
            <a:r>
              <a:rPr lang="en-US" sz="3000">
                <a:solidFill>
                  <a:srgbClr val="000000"/>
                </a:solidFill>
                <a:latin typeface="Canva Sans"/>
                <a:ea typeface="Canva Sans"/>
                <a:cs typeface="Canva Sans"/>
                <a:sym typeface="Canva Sans"/>
              </a:rPr>
              <a:t> Xử lý video liên tục, xác định tư thế hiện tại qua cosine similarity giữa vector hiện tại và hai bộ mẫu. Khi phát hiện tư thế một chân, ghi nhận thời gian và độ lệch COM.</a:t>
            </a:r>
          </a:p>
          <a:p>
            <a:pPr algn="just" marL="647700" indent="-323850" lvl="1">
              <a:lnSpc>
                <a:spcPts val="4200"/>
              </a:lnSpc>
              <a:buFont typeface="Arial"/>
              <a:buChar char="•"/>
            </a:pPr>
            <a:r>
              <a:rPr lang="en-US" b="true" sz="3000">
                <a:solidFill>
                  <a:srgbClr val="1B4290"/>
                </a:solidFill>
                <a:latin typeface="Canva Sans Bold"/>
                <a:ea typeface="Canva Sans Bold"/>
                <a:cs typeface="Canva Sans Bold"/>
                <a:sym typeface="Canva Sans Bold"/>
              </a:rPr>
              <a:t>Giai đoạn kết thúc:</a:t>
            </a:r>
            <a:r>
              <a:rPr lang="en-US" sz="3000">
                <a:solidFill>
                  <a:srgbClr val="000000"/>
                </a:solidFill>
                <a:latin typeface="Canva Sans"/>
                <a:ea typeface="Canva Sans"/>
                <a:cs typeface="Canva Sans"/>
                <a:sym typeface="Canva Sans"/>
              </a:rPr>
              <a:t> Khi người dùng trở về tư thế hai chân, tính tổng thời gian đứng một chân và độ lệch trung bình, trả về kết quả. </a:t>
            </a:r>
          </a:p>
        </p:txBody>
      </p:sp>
    </p:spTree>
  </p:cSld>
  <p:clrMapOvr>
    <a:masterClrMapping/>
  </p:clrMapOvr>
  <p:transition spd="med">
    <p:push dir="l"/>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1028700" y="1814208"/>
            <a:ext cx="7693202" cy="7917814"/>
          </a:xfrm>
          <a:custGeom>
            <a:avLst/>
            <a:gdLst/>
            <a:ahLst/>
            <a:cxnLst/>
            <a:rect r="r" b="b" t="t" l="l"/>
            <a:pathLst>
              <a:path h="7917814" w="7693202">
                <a:moveTo>
                  <a:pt x="0" y="0"/>
                </a:moveTo>
                <a:lnTo>
                  <a:pt x="7693202" y="0"/>
                </a:lnTo>
                <a:lnTo>
                  <a:pt x="7693202" y="7917814"/>
                </a:lnTo>
                <a:lnTo>
                  <a:pt x="0" y="7917814"/>
                </a:lnTo>
                <a:lnTo>
                  <a:pt x="0" y="0"/>
                </a:lnTo>
                <a:close/>
              </a:path>
            </a:pathLst>
          </a:custGeom>
          <a:blipFill>
            <a:blip r:embed="rId2"/>
            <a:stretch>
              <a:fillRect l="-51346" t="-6899" r="-52985" b="-4776"/>
            </a:stretch>
          </a:blipFill>
        </p:spPr>
      </p:sp>
      <p:sp>
        <p:nvSpPr>
          <p:cNvPr name="Freeform 8" id="8"/>
          <p:cNvSpPr/>
          <p:nvPr/>
        </p:nvSpPr>
        <p:spPr>
          <a:xfrm flipH="false" flipV="false" rot="0">
            <a:off x="9637674" y="1814208"/>
            <a:ext cx="7621626" cy="7917814"/>
          </a:xfrm>
          <a:custGeom>
            <a:avLst/>
            <a:gdLst/>
            <a:ahLst/>
            <a:cxnLst/>
            <a:rect r="r" b="b" t="t" l="l"/>
            <a:pathLst>
              <a:path h="7917814" w="7621626">
                <a:moveTo>
                  <a:pt x="0" y="0"/>
                </a:moveTo>
                <a:lnTo>
                  <a:pt x="7621626" y="0"/>
                </a:lnTo>
                <a:lnTo>
                  <a:pt x="7621626" y="7917814"/>
                </a:lnTo>
                <a:lnTo>
                  <a:pt x="0" y="7917814"/>
                </a:lnTo>
                <a:lnTo>
                  <a:pt x="0" y="0"/>
                </a:lnTo>
                <a:close/>
              </a:path>
            </a:pathLst>
          </a:custGeom>
          <a:blipFill>
            <a:blip r:embed="rId3"/>
            <a:stretch>
              <a:fillRect l="-52582" t="-6458" r="-52309" b="-4481"/>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27 of 37</a:t>
            </a:r>
          </a:p>
        </p:txBody>
      </p:sp>
    </p:spTree>
  </p:cSld>
  <p:clrMapOvr>
    <a:masterClrMapping/>
  </p:clrMapOvr>
  <p:transition spd="med">
    <p:push dir="l"/>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2370774" y="2537704"/>
            <a:ext cx="5780542" cy="6304780"/>
          </a:xfrm>
          <a:custGeom>
            <a:avLst/>
            <a:gdLst/>
            <a:ahLst/>
            <a:cxnLst/>
            <a:rect r="r" b="b" t="t" l="l"/>
            <a:pathLst>
              <a:path h="6304780" w="5780542">
                <a:moveTo>
                  <a:pt x="0" y="0"/>
                </a:moveTo>
                <a:lnTo>
                  <a:pt x="5780542" y="0"/>
                </a:lnTo>
                <a:lnTo>
                  <a:pt x="5780542" y="6304780"/>
                </a:lnTo>
                <a:lnTo>
                  <a:pt x="0" y="6304780"/>
                </a:lnTo>
                <a:lnTo>
                  <a:pt x="0" y="0"/>
                </a:lnTo>
                <a:close/>
              </a:path>
            </a:pathLst>
          </a:custGeom>
          <a:blipFill>
            <a:blip r:embed="rId2"/>
            <a:stretch>
              <a:fillRect l="-114404" t="-13664" r="-113527" b="-55460"/>
            </a:stretch>
          </a:blipFill>
        </p:spPr>
      </p:sp>
      <p:sp>
        <p:nvSpPr>
          <p:cNvPr name="Freeform 8" id="8"/>
          <p:cNvSpPr/>
          <p:nvPr/>
        </p:nvSpPr>
        <p:spPr>
          <a:xfrm flipH="false" flipV="false" rot="0">
            <a:off x="8723676" y="2537704"/>
            <a:ext cx="7193550" cy="6304780"/>
          </a:xfrm>
          <a:custGeom>
            <a:avLst/>
            <a:gdLst/>
            <a:ahLst/>
            <a:cxnLst/>
            <a:rect r="r" b="b" t="t" l="l"/>
            <a:pathLst>
              <a:path h="6304780" w="7193550">
                <a:moveTo>
                  <a:pt x="0" y="0"/>
                </a:moveTo>
                <a:lnTo>
                  <a:pt x="7193550" y="0"/>
                </a:lnTo>
                <a:lnTo>
                  <a:pt x="7193550" y="6304780"/>
                </a:lnTo>
                <a:lnTo>
                  <a:pt x="0" y="6304780"/>
                </a:lnTo>
                <a:lnTo>
                  <a:pt x="0" y="0"/>
                </a:lnTo>
                <a:close/>
              </a:path>
            </a:pathLst>
          </a:custGeom>
          <a:blipFill>
            <a:blip r:embed="rId3"/>
            <a:stretch>
              <a:fillRect l="-113468" t="-16432" r="-113032" b="-93114"/>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28 of 37</a:t>
            </a:r>
          </a:p>
        </p:txBody>
      </p:sp>
    </p:spTree>
  </p:cSld>
  <p:clrMapOvr>
    <a:masterClrMapping/>
  </p:clrMapOvr>
  <p:transition spd="med">
    <p:push dir="l"/>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598023" y="3219101"/>
            <a:ext cx="5493773" cy="3848798"/>
          </a:xfrm>
          <a:custGeom>
            <a:avLst/>
            <a:gdLst/>
            <a:ahLst/>
            <a:cxnLst/>
            <a:rect r="r" b="b" t="t" l="l"/>
            <a:pathLst>
              <a:path h="3848798" w="5493773">
                <a:moveTo>
                  <a:pt x="0" y="0"/>
                </a:moveTo>
                <a:lnTo>
                  <a:pt x="5493773" y="0"/>
                </a:lnTo>
                <a:lnTo>
                  <a:pt x="5493773" y="3848798"/>
                </a:lnTo>
                <a:lnTo>
                  <a:pt x="0" y="3848798"/>
                </a:lnTo>
                <a:lnTo>
                  <a:pt x="0" y="0"/>
                </a:lnTo>
                <a:close/>
              </a:path>
            </a:pathLst>
          </a:custGeom>
          <a:blipFill>
            <a:blip r:embed="rId2"/>
            <a:stretch>
              <a:fillRect l="-113966" t="-20647" r="-113966" b="-142653"/>
            </a:stretch>
          </a:blipFill>
        </p:spPr>
      </p:sp>
      <p:sp>
        <p:nvSpPr>
          <p:cNvPr name="Freeform 8" id="8"/>
          <p:cNvSpPr/>
          <p:nvPr/>
        </p:nvSpPr>
        <p:spPr>
          <a:xfrm flipH="false" flipV="false" rot="0">
            <a:off x="6537041" y="3219101"/>
            <a:ext cx="5587777" cy="3848798"/>
          </a:xfrm>
          <a:custGeom>
            <a:avLst/>
            <a:gdLst/>
            <a:ahLst/>
            <a:cxnLst/>
            <a:rect r="r" b="b" t="t" l="l"/>
            <a:pathLst>
              <a:path h="3848798" w="5587777">
                <a:moveTo>
                  <a:pt x="0" y="0"/>
                </a:moveTo>
                <a:lnTo>
                  <a:pt x="5587776" y="0"/>
                </a:lnTo>
                <a:lnTo>
                  <a:pt x="5587776" y="3848798"/>
                </a:lnTo>
                <a:lnTo>
                  <a:pt x="0" y="3848798"/>
                </a:lnTo>
                <a:lnTo>
                  <a:pt x="0" y="0"/>
                </a:lnTo>
                <a:close/>
              </a:path>
            </a:pathLst>
          </a:custGeom>
          <a:blipFill>
            <a:blip r:embed="rId3"/>
            <a:stretch>
              <a:fillRect l="-113032" t="-20908" r="-113468" b="-145728"/>
            </a:stretch>
          </a:blipFill>
        </p:spPr>
      </p:sp>
      <p:sp>
        <p:nvSpPr>
          <p:cNvPr name="Freeform 9" id="9"/>
          <p:cNvSpPr/>
          <p:nvPr/>
        </p:nvSpPr>
        <p:spPr>
          <a:xfrm flipH="false" flipV="false" rot="0">
            <a:off x="12572492" y="3219101"/>
            <a:ext cx="5117485" cy="3848798"/>
          </a:xfrm>
          <a:custGeom>
            <a:avLst/>
            <a:gdLst/>
            <a:ahLst/>
            <a:cxnLst/>
            <a:rect r="r" b="b" t="t" l="l"/>
            <a:pathLst>
              <a:path h="3848798" w="5117485">
                <a:moveTo>
                  <a:pt x="0" y="0"/>
                </a:moveTo>
                <a:lnTo>
                  <a:pt x="5117485" y="0"/>
                </a:lnTo>
                <a:lnTo>
                  <a:pt x="5117485" y="3848798"/>
                </a:lnTo>
                <a:lnTo>
                  <a:pt x="0" y="3848798"/>
                </a:lnTo>
                <a:lnTo>
                  <a:pt x="0" y="0"/>
                </a:lnTo>
                <a:close/>
              </a:path>
            </a:pathLst>
          </a:custGeom>
          <a:blipFill>
            <a:blip r:embed="rId4"/>
            <a:stretch>
              <a:fillRect l="-114908" t="-19317" r="-114468" b="-127028"/>
            </a:stretch>
          </a:blipFill>
        </p:spPr>
      </p:sp>
      <p:sp>
        <p:nvSpPr>
          <p:cNvPr name="TextBox 10" id="10"/>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29 of 37</a:t>
            </a:r>
          </a:p>
        </p:txBody>
      </p:sp>
    </p:spTree>
  </p:cSld>
  <p:clrMapOvr>
    <a:masterClrMapping/>
  </p:clrMapOvr>
  <p:transition spd="med">
    <p:push dir="l"/>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2345387" y="2001351"/>
            <a:ext cx="5778423" cy="7575934"/>
          </a:xfrm>
          <a:custGeom>
            <a:avLst/>
            <a:gdLst/>
            <a:ahLst/>
            <a:cxnLst/>
            <a:rect r="r" b="b" t="t" l="l"/>
            <a:pathLst>
              <a:path h="7575934" w="5778423">
                <a:moveTo>
                  <a:pt x="0" y="0"/>
                </a:moveTo>
                <a:lnTo>
                  <a:pt x="5778423" y="0"/>
                </a:lnTo>
                <a:lnTo>
                  <a:pt x="5778423" y="7575934"/>
                </a:lnTo>
                <a:lnTo>
                  <a:pt x="0" y="7575934"/>
                </a:lnTo>
                <a:lnTo>
                  <a:pt x="0" y="0"/>
                </a:lnTo>
                <a:close/>
              </a:path>
            </a:pathLst>
          </a:custGeom>
          <a:blipFill>
            <a:blip r:embed="rId2"/>
            <a:stretch>
              <a:fillRect l="-112054" t="-10559" r="-111621" b="-28309"/>
            </a:stretch>
          </a:blipFill>
        </p:spPr>
      </p:sp>
      <p:sp>
        <p:nvSpPr>
          <p:cNvPr name="Freeform 8" id="8"/>
          <p:cNvSpPr/>
          <p:nvPr/>
        </p:nvSpPr>
        <p:spPr>
          <a:xfrm flipH="false" flipV="false" rot="0">
            <a:off x="10117309" y="2013286"/>
            <a:ext cx="5825304" cy="7563999"/>
          </a:xfrm>
          <a:custGeom>
            <a:avLst/>
            <a:gdLst/>
            <a:ahLst/>
            <a:cxnLst/>
            <a:rect r="r" b="b" t="t" l="l"/>
            <a:pathLst>
              <a:path h="7563999" w="5825304">
                <a:moveTo>
                  <a:pt x="0" y="0"/>
                </a:moveTo>
                <a:lnTo>
                  <a:pt x="5825304" y="0"/>
                </a:lnTo>
                <a:lnTo>
                  <a:pt x="5825304" y="7563999"/>
                </a:lnTo>
                <a:lnTo>
                  <a:pt x="0" y="7563999"/>
                </a:lnTo>
                <a:lnTo>
                  <a:pt x="0" y="0"/>
                </a:lnTo>
                <a:close/>
              </a:path>
            </a:pathLst>
          </a:custGeom>
          <a:blipFill>
            <a:blip r:embed="rId3"/>
            <a:stretch>
              <a:fillRect l="-112541" t="-10708" r="-112541" b="-30117"/>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30 of 37</a:t>
            </a:r>
          </a:p>
        </p:txBody>
      </p:sp>
    </p:spTree>
  </p:cSld>
  <p:clrMapOvr>
    <a:masterClrMapping/>
  </p:clrMapOvr>
  <p:transition spd="med">
    <p:push dir="l"/>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2675052" y="1923793"/>
            <a:ext cx="5441137" cy="7334507"/>
          </a:xfrm>
          <a:custGeom>
            <a:avLst/>
            <a:gdLst/>
            <a:ahLst/>
            <a:cxnLst/>
            <a:rect r="r" b="b" t="t" l="l"/>
            <a:pathLst>
              <a:path h="7334507" w="5441137">
                <a:moveTo>
                  <a:pt x="0" y="0"/>
                </a:moveTo>
                <a:lnTo>
                  <a:pt x="5441137" y="0"/>
                </a:lnTo>
                <a:lnTo>
                  <a:pt x="5441137" y="7334507"/>
                </a:lnTo>
                <a:lnTo>
                  <a:pt x="0" y="7334507"/>
                </a:lnTo>
                <a:lnTo>
                  <a:pt x="0" y="0"/>
                </a:lnTo>
                <a:close/>
              </a:path>
            </a:pathLst>
          </a:custGeom>
          <a:blipFill>
            <a:blip r:embed="rId2"/>
            <a:stretch>
              <a:fillRect l="-115858" t="-10825" r="-114974" b="-27228"/>
            </a:stretch>
          </a:blipFill>
        </p:spPr>
      </p:sp>
      <p:sp>
        <p:nvSpPr>
          <p:cNvPr name="Freeform 8" id="8"/>
          <p:cNvSpPr/>
          <p:nvPr/>
        </p:nvSpPr>
        <p:spPr>
          <a:xfrm flipH="false" flipV="false" rot="0">
            <a:off x="10007686" y="1923793"/>
            <a:ext cx="5605262" cy="7334507"/>
          </a:xfrm>
          <a:custGeom>
            <a:avLst/>
            <a:gdLst/>
            <a:ahLst/>
            <a:cxnLst/>
            <a:rect r="r" b="b" t="t" l="l"/>
            <a:pathLst>
              <a:path h="7334507" w="5605262">
                <a:moveTo>
                  <a:pt x="0" y="0"/>
                </a:moveTo>
                <a:lnTo>
                  <a:pt x="5605262" y="0"/>
                </a:lnTo>
                <a:lnTo>
                  <a:pt x="5605262" y="7334507"/>
                </a:lnTo>
                <a:lnTo>
                  <a:pt x="0" y="7334507"/>
                </a:lnTo>
                <a:lnTo>
                  <a:pt x="0" y="0"/>
                </a:lnTo>
                <a:close/>
              </a:path>
            </a:pathLst>
          </a:custGeom>
          <a:blipFill>
            <a:blip r:embed="rId3"/>
            <a:stretch>
              <a:fillRect l="-113032" t="-10672" r="-113468" b="-29683"/>
            </a:stretch>
          </a:blipFill>
        </p:spPr>
      </p:sp>
      <p:sp>
        <p:nvSpPr>
          <p:cNvPr name="TextBox 9" id="9"/>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31 of 37</a:t>
            </a:r>
          </a:p>
        </p:txBody>
      </p:sp>
    </p:spTree>
  </p:cSld>
  <p:clrMapOvr>
    <a:masterClrMapping/>
  </p:clrMapOvr>
  <p:transition spd="med">
    <p:push dir="l"/>
  </p:transition>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1028700" y="2556799"/>
            <a:ext cx="5059477" cy="6701501"/>
          </a:xfrm>
          <a:custGeom>
            <a:avLst/>
            <a:gdLst/>
            <a:ahLst/>
            <a:cxnLst/>
            <a:rect r="r" b="b" t="t" l="l"/>
            <a:pathLst>
              <a:path h="6701501" w="5059477">
                <a:moveTo>
                  <a:pt x="0" y="0"/>
                </a:moveTo>
                <a:lnTo>
                  <a:pt x="5059477" y="0"/>
                </a:lnTo>
                <a:lnTo>
                  <a:pt x="5059477" y="6701501"/>
                </a:lnTo>
                <a:lnTo>
                  <a:pt x="0" y="6701501"/>
                </a:lnTo>
                <a:lnTo>
                  <a:pt x="0" y="0"/>
                </a:lnTo>
                <a:close/>
              </a:path>
            </a:pathLst>
          </a:custGeom>
          <a:blipFill>
            <a:blip r:embed="rId2"/>
            <a:stretch>
              <a:fillRect l="-112541" t="-10497" r="-112541" b="-27556"/>
            </a:stretch>
          </a:blipFill>
        </p:spPr>
      </p:sp>
      <p:sp>
        <p:nvSpPr>
          <p:cNvPr name="Freeform 8" id="8"/>
          <p:cNvSpPr/>
          <p:nvPr/>
        </p:nvSpPr>
        <p:spPr>
          <a:xfrm flipH="false" flipV="false" rot="0">
            <a:off x="6367308" y="2556799"/>
            <a:ext cx="5048339" cy="6701501"/>
          </a:xfrm>
          <a:custGeom>
            <a:avLst/>
            <a:gdLst/>
            <a:ahLst/>
            <a:cxnLst/>
            <a:rect r="r" b="b" t="t" l="l"/>
            <a:pathLst>
              <a:path h="6701501" w="5048339">
                <a:moveTo>
                  <a:pt x="0" y="0"/>
                </a:moveTo>
                <a:lnTo>
                  <a:pt x="5048339" y="0"/>
                </a:lnTo>
                <a:lnTo>
                  <a:pt x="5048339" y="6701501"/>
                </a:lnTo>
                <a:lnTo>
                  <a:pt x="0" y="6701501"/>
                </a:lnTo>
                <a:lnTo>
                  <a:pt x="0" y="0"/>
                </a:lnTo>
                <a:close/>
              </a:path>
            </a:pathLst>
          </a:custGeom>
          <a:blipFill>
            <a:blip r:embed="rId3"/>
            <a:stretch>
              <a:fillRect l="-112054" t="-10103" r="-111621" b="-27051"/>
            </a:stretch>
          </a:blipFill>
        </p:spPr>
      </p:sp>
      <p:sp>
        <p:nvSpPr>
          <p:cNvPr name="Freeform 9" id="9"/>
          <p:cNvSpPr/>
          <p:nvPr/>
        </p:nvSpPr>
        <p:spPr>
          <a:xfrm flipH="false" flipV="false" rot="0">
            <a:off x="11691872" y="3863295"/>
            <a:ext cx="5564522" cy="4088510"/>
          </a:xfrm>
          <a:custGeom>
            <a:avLst/>
            <a:gdLst/>
            <a:ahLst/>
            <a:cxnLst/>
            <a:rect r="r" b="b" t="t" l="l"/>
            <a:pathLst>
              <a:path h="4088510" w="5564522">
                <a:moveTo>
                  <a:pt x="0" y="0"/>
                </a:moveTo>
                <a:lnTo>
                  <a:pt x="5564522" y="0"/>
                </a:lnTo>
                <a:lnTo>
                  <a:pt x="5564522" y="4088509"/>
                </a:lnTo>
                <a:lnTo>
                  <a:pt x="0" y="4088509"/>
                </a:lnTo>
                <a:lnTo>
                  <a:pt x="0" y="0"/>
                </a:lnTo>
                <a:close/>
              </a:path>
            </a:pathLst>
          </a:custGeom>
          <a:blipFill>
            <a:blip r:embed="rId4"/>
            <a:stretch>
              <a:fillRect l="-111621" t="-18842" r="-112054" b="-128954"/>
            </a:stretch>
          </a:blipFill>
        </p:spPr>
      </p:sp>
      <p:sp>
        <p:nvSpPr>
          <p:cNvPr name="TextBox 10" id="10"/>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32 of 37</a:t>
            </a:r>
          </a:p>
        </p:txBody>
      </p:sp>
    </p:spTree>
  </p:cSld>
  <p:clrMapOvr>
    <a:masterClrMapping/>
  </p:clrMapOvr>
  <p:transition spd="med">
    <p:push dir="l"/>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GIAO DIỆN WEBAPP</a:t>
              </a:r>
            </a:p>
          </p:txBody>
        </p:sp>
      </p:grpSp>
      <p:sp>
        <p:nvSpPr>
          <p:cNvPr name="Freeform 7" id="7"/>
          <p:cNvSpPr/>
          <p:nvPr/>
        </p:nvSpPr>
        <p:spPr>
          <a:xfrm flipH="false" flipV="false" rot="0">
            <a:off x="707109" y="2792407"/>
            <a:ext cx="5621457" cy="5782936"/>
          </a:xfrm>
          <a:custGeom>
            <a:avLst/>
            <a:gdLst/>
            <a:ahLst/>
            <a:cxnLst/>
            <a:rect r="r" b="b" t="t" l="l"/>
            <a:pathLst>
              <a:path h="5782936" w="5621457">
                <a:moveTo>
                  <a:pt x="0" y="0"/>
                </a:moveTo>
                <a:lnTo>
                  <a:pt x="5621457" y="0"/>
                </a:lnTo>
                <a:lnTo>
                  <a:pt x="5621457" y="5782936"/>
                </a:lnTo>
                <a:lnTo>
                  <a:pt x="0" y="5782936"/>
                </a:lnTo>
                <a:lnTo>
                  <a:pt x="0" y="0"/>
                </a:lnTo>
                <a:close/>
              </a:path>
            </a:pathLst>
          </a:custGeom>
          <a:blipFill>
            <a:blip r:embed="rId2"/>
            <a:stretch>
              <a:fillRect l="-49712" t="-5746" r="-51325" b="-4179"/>
            </a:stretch>
          </a:blipFill>
        </p:spPr>
      </p:sp>
      <p:sp>
        <p:nvSpPr>
          <p:cNvPr name="Freeform 8" id="8"/>
          <p:cNvSpPr/>
          <p:nvPr/>
        </p:nvSpPr>
        <p:spPr>
          <a:xfrm flipH="false" flipV="false" rot="0">
            <a:off x="6328566" y="2792407"/>
            <a:ext cx="5633439" cy="5782936"/>
          </a:xfrm>
          <a:custGeom>
            <a:avLst/>
            <a:gdLst/>
            <a:ahLst/>
            <a:cxnLst/>
            <a:rect r="r" b="b" t="t" l="l"/>
            <a:pathLst>
              <a:path h="5782936" w="5633439">
                <a:moveTo>
                  <a:pt x="0" y="0"/>
                </a:moveTo>
                <a:lnTo>
                  <a:pt x="5633439" y="0"/>
                </a:lnTo>
                <a:lnTo>
                  <a:pt x="5633439" y="5782936"/>
                </a:lnTo>
                <a:lnTo>
                  <a:pt x="0" y="5782936"/>
                </a:lnTo>
                <a:lnTo>
                  <a:pt x="0" y="0"/>
                </a:lnTo>
                <a:close/>
              </a:path>
            </a:pathLst>
          </a:custGeom>
          <a:blipFill>
            <a:blip r:embed="rId3"/>
            <a:stretch>
              <a:fillRect l="-52309" t="-7203" r="-52582" b="-5069"/>
            </a:stretch>
          </a:blipFill>
        </p:spPr>
      </p:sp>
      <p:sp>
        <p:nvSpPr>
          <p:cNvPr name="Freeform 9" id="9"/>
          <p:cNvSpPr/>
          <p:nvPr/>
        </p:nvSpPr>
        <p:spPr>
          <a:xfrm flipH="false" flipV="false" rot="0">
            <a:off x="11962005" y="2792407"/>
            <a:ext cx="5618886" cy="5782936"/>
          </a:xfrm>
          <a:custGeom>
            <a:avLst/>
            <a:gdLst/>
            <a:ahLst/>
            <a:cxnLst/>
            <a:rect r="r" b="b" t="t" l="l"/>
            <a:pathLst>
              <a:path h="5782936" w="5618886">
                <a:moveTo>
                  <a:pt x="0" y="0"/>
                </a:moveTo>
                <a:lnTo>
                  <a:pt x="5618886" y="0"/>
                </a:lnTo>
                <a:lnTo>
                  <a:pt x="5618886" y="5782936"/>
                </a:lnTo>
                <a:lnTo>
                  <a:pt x="0" y="5782936"/>
                </a:lnTo>
                <a:lnTo>
                  <a:pt x="0" y="0"/>
                </a:lnTo>
                <a:close/>
              </a:path>
            </a:pathLst>
          </a:custGeom>
          <a:blipFill>
            <a:blip r:embed="rId4"/>
            <a:stretch>
              <a:fillRect l="-52166" t="-6634" r="-52166" b="-5042"/>
            </a:stretch>
          </a:blipFill>
        </p:spPr>
      </p:sp>
      <p:sp>
        <p:nvSpPr>
          <p:cNvPr name="TextBox 10" id="10"/>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33 of 37</a:t>
            </a:r>
          </a:p>
        </p:txBody>
      </p:sp>
    </p:spTree>
  </p:cSld>
  <p:clrMapOvr>
    <a:masterClrMapping/>
  </p:clrMapOvr>
  <p:transition spd="med">
    <p:push dir="l"/>
  </p:transition>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51891" y="421672"/>
            <a:ext cx="19430638" cy="1214056"/>
            <a:chOff x="0" y="0"/>
            <a:chExt cx="25907518" cy="1618742"/>
          </a:xfrm>
        </p:grpSpPr>
        <p:grpSp>
          <p:nvGrpSpPr>
            <p:cNvPr name="Group 3" id="3"/>
            <p:cNvGrpSpPr/>
            <p:nvPr/>
          </p:nvGrpSpPr>
          <p:grpSpPr>
            <a:xfrm rot="0">
              <a:off x="0" y="0"/>
              <a:ext cx="25907518" cy="1618742"/>
              <a:chOff x="0" y="0"/>
              <a:chExt cx="3030493" cy="189350"/>
            </a:xfrm>
          </p:grpSpPr>
          <p:sp>
            <p:nvSpPr>
              <p:cNvPr name="Freeform 4" id="4"/>
              <p:cNvSpPr/>
              <p:nvPr/>
            </p:nvSpPr>
            <p:spPr>
              <a:xfrm flipH="false" flipV="false" rot="0">
                <a:off x="0" y="0"/>
                <a:ext cx="3030493" cy="189350"/>
              </a:xfrm>
              <a:custGeom>
                <a:avLst/>
                <a:gdLst/>
                <a:ahLst/>
                <a:cxnLst/>
                <a:rect r="r" b="b" t="t" l="l"/>
                <a:pathLst>
                  <a:path h="189350" w="3030493">
                    <a:moveTo>
                      <a:pt x="203200" y="0"/>
                    </a:moveTo>
                    <a:lnTo>
                      <a:pt x="3030493" y="0"/>
                    </a:lnTo>
                    <a:lnTo>
                      <a:pt x="2827293" y="189350"/>
                    </a:lnTo>
                    <a:lnTo>
                      <a:pt x="0" y="189350"/>
                    </a:lnTo>
                    <a:lnTo>
                      <a:pt x="203200" y="0"/>
                    </a:lnTo>
                    <a:close/>
                  </a:path>
                </a:pathLst>
              </a:custGeom>
              <a:solidFill>
                <a:srgbClr val="002699"/>
              </a:solidFill>
            </p:spPr>
          </p:sp>
          <p:sp>
            <p:nvSpPr>
              <p:cNvPr name="TextBox 5" id="5"/>
              <p:cNvSpPr txBox="true"/>
              <p:nvPr/>
            </p:nvSpPr>
            <p:spPr>
              <a:xfrm>
                <a:off x="101600" y="-47625"/>
                <a:ext cx="2827293"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4119133" y="291846"/>
              <a:ext cx="19553900"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4.6 DỮ LIỆU TRÊN CORE IOT</a:t>
              </a:r>
            </a:p>
          </p:txBody>
        </p:sp>
      </p:grpSp>
      <p:sp>
        <p:nvSpPr>
          <p:cNvPr name="Freeform 7" id="7"/>
          <p:cNvSpPr/>
          <p:nvPr/>
        </p:nvSpPr>
        <p:spPr>
          <a:xfrm flipH="false" flipV="false" rot="0">
            <a:off x="2450656" y="1833734"/>
            <a:ext cx="13386688" cy="7898288"/>
          </a:xfrm>
          <a:custGeom>
            <a:avLst/>
            <a:gdLst/>
            <a:ahLst/>
            <a:cxnLst/>
            <a:rect r="r" b="b" t="t" l="l"/>
            <a:pathLst>
              <a:path h="7898288" w="13386688">
                <a:moveTo>
                  <a:pt x="0" y="0"/>
                </a:moveTo>
                <a:lnTo>
                  <a:pt x="13386688" y="0"/>
                </a:lnTo>
                <a:lnTo>
                  <a:pt x="13386688" y="7898288"/>
                </a:lnTo>
                <a:lnTo>
                  <a:pt x="0" y="7898288"/>
                </a:lnTo>
                <a:lnTo>
                  <a:pt x="0" y="0"/>
                </a:lnTo>
                <a:close/>
              </a:path>
            </a:pathLst>
          </a:custGeom>
          <a:blipFill>
            <a:blip r:embed="rId2"/>
            <a:stretch>
              <a:fillRect l="-12795" t="-16771" r="-14842" b="-4915"/>
            </a:stretch>
          </a:blipFill>
        </p:spPr>
      </p:sp>
      <p:sp>
        <p:nvSpPr>
          <p:cNvPr name="TextBox 8" id="8"/>
          <p:cNvSpPr txBox="true"/>
          <p:nvPr/>
        </p:nvSpPr>
        <p:spPr>
          <a:xfrm rot="0">
            <a:off x="16521410" y="968439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34 of 37</a:t>
            </a:r>
          </a:p>
        </p:txBody>
      </p:sp>
    </p:spTree>
  </p:cSld>
  <p:clrMapOvr>
    <a:masterClrMapping/>
  </p:clrMapOvr>
  <p:transition spd="med">
    <p:push dir="l"/>
  </p:transition>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91467" y="421672"/>
            <a:ext cx="15563539" cy="1214056"/>
            <a:chOff x="0" y="0"/>
            <a:chExt cx="20751385" cy="1618742"/>
          </a:xfrm>
        </p:grpSpPr>
        <p:grpSp>
          <p:nvGrpSpPr>
            <p:cNvPr name="Group 3" id="3"/>
            <p:cNvGrpSpPr/>
            <p:nvPr/>
          </p:nvGrpSpPr>
          <p:grpSpPr>
            <a:xfrm rot="0">
              <a:off x="0" y="0"/>
              <a:ext cx="20751385" cy="1618742"/>
              <a:chOff x="0" y="0"/>
              <a:chExt cx="2427362" cy="189350"/>
            </a:xfrm>
          </p:grpSpPr>
          <p:sp>
            <p:nvSpPr>
              <p:cNvPr name="Freeform 4" id="4"/>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5" id="5"/>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VIDEO DEMO</a:t>
              </a:r>
            </a:p>
          </p:txBody>
        </p:sp>
      </p:grpSp>
      <p:sp>
        <p:nvSpPr>
          <p:cNvPr name="TextBox 7" id="7"/>
          <p:cNvSpPr txBox="true"/>
          <p:nvPr/>
        </p:nvSpPr>
        <p:spPr>
          <a:xfrm rot="0">
            <a:off x="16447591" y="9637489"/>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35 of 37</a:t>
            </a:r>
          </a:p>
        </p:txBody>
      </p:sp>
      <p:pic>
        <p:nvPicPr>
          <p:cNvPr name="Picture 8" id="8"/>
          <p:cNvPicPr>
            <a:picLocks noChangeAspect="true"/>
          </p:cNvPicPr>
          <p:nvPr>
            <a:videoFile r:link="rId3"/>
          </p:nvPr>
        </p:nvPicPr>
        <p:blipFill>
          <a:blip r:embed="rId2"/>
          <a:stretch>
            <a:fillRect/>
          </a:stretch>
        </p:blipFill>
        <p:spPr>
          <a:xfrm rot="0">
            <a:off x="1639835" y="1663878"/>
            <a:ext cx="14807756" cy="8322861"/>
          </a:xfrm>
          <a:prstGeom prst="rect">
            <a:avLst/>
          </a:prstGeom>
        </p:spPr>
      </p:pic>
    </p:spTree>
  </p:cSld>
  <p:clrMapOvr>
    <a:masterClrMapping/>
  </p:clrMapOvr>
  <p:transition spd="med">
    <p:push dir="l"/>
  </p:transition>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891467" y="421672"/>
            <a:ext cx="15563539" cy="1214056"/>
            <a:chOff x="0" y="0"/>
            <a:chExt cx="20751385" cy="1618742"/>
          </a:xfrm>
        </p:grpSpPr>
        <p:grpSp>
          <p:nvGrpSpPr>
            <p:cNvPr name="Group 3" id="3"/>
            <p:cNvGrpSpPr/>
            <p:nvPr/>
          </p:nvGrpSpPr>
          <p:grpSpPr>
            <a:xfrm rot="0">
              <a:off x="0" y="0"/>
              <a:ext cx="20751385" cy="1618742"/>
              <a:chOff x="0" y="0"/>
              <a:chExt cx="2427362" cy="189350"/>
            </a:xfrm>
          </p:grpSpPr>
          <p:sp>
            <p:nvSpPr>
              <p:cNvPr name="Freeform 4" id="4"/>
              <p:cNvSpPr/>
              <p:nvPr/>
            </p:nvSpPr>
            <p:spPr>
              <a:xfrm flipH="false" flipV="false" rot="0">
                <a:off x="0" y="0"/>
                <a:ext cx="2427362" cy="189350"/>
              </a:xfrm>
              <a:custGeom>
                <a:avLst/>
                <a:gdLst/>
                <a:ahLst/>
                <a:cxnLst/>
                <a:rect r="r" b="b" t="t" l="l"/>
                <a:pathLst>
                  <a:path h="189350" w="2427362">
                    <a:moveTo>
                      <a:pt x="203200" y="0"/>
                    </a:moveTo>
                    <a:lnTo>
                      <a:pt x="2427362" y="0"/>
                    </a:lnTo>
                    <a:lnTo>
                      <a:pt x="2224162" y="189350"/>
                    </a:lnTo>
                    <a:lnTo>
                      <a:pt x="0" y="189350"/>
                    </a:lnTo>
                    <a:lnTo>
                      <a:pt x="203200" y="0"/>
                    </a:lnTo>
                    <a:close/>
                  </a:path>
                </a:pathLst>
              </a:custGeom>
              <a:solidFill>
                <a:srgbClr val="002699"/>
              </a:solidFill>
            </p:spPr>
          </p:sp>
          <p:sp>
            <p:nvSpPr>
              <p:cNvPr name="TextBox 5" id="5"/>
              <p:cNvSpPr txBox="true"/>
              <p:nvPr/>
            </p:nvSpPr>
            <p:spPr>
              <a:xfrm>
                <a:off x="101600" y="-47625"/>
                <a:ext cx="2224162" cy="236975"/>
              </a:xfrm>
              <a:prstGeom prst="rect">
                <a:avLst/>
              </a:prstGeom>
            </p:spPr>
            <p:txBody>
              <a:bodyPr anchor="ctr" rtlCol="false" tIns="50800" lIns="50800" bIns="50800" rIns="50800"/>
              <a:lstStyle/>
              <a:p>
                <a:pPr algn="ctr">
                  <a:lnSpc>
                    <a:spcPts val="2592"/>
                  </a:lnSpc>
                </a:pPr>
              </a:p>
            </p:txBody>
          </p:sp>
        </p:grpSp>
        <p:sp>
          <p:nvSpPr>
            <p:cNvPr name="TextBox 6" id="6"/>
            <p:cNvSpPr txBox="true"/>
            <p:nvPr/>
          </p:nvSpPr>
          <p:spPr>
            <a:xfrm rot="0">
              <a:off x="3299341" y="291846"/>
              <a:ext cx="15662269" cy="1025525"/>
            </a:xfrm>
            <a:prstGeom prst="rect">
              <a:avLst/>
            </a:prstGeom>
          </p:spPr>
          <p:txBody>
            <a:bodyPr anchor="t" rtlCol="false" tIns="0" lIns="0" bIns="0" rIns="0">
              <a:spAutoFit/>
            </a:bodyPr>
            <a:lstStyle/>
            <a:p>
              <a:pPr algn="l">
                <a:lnSpc>
                  <a:spcPts val="6000"/>
                </a:lnSpc>
              </a:pPr>
              <a:r>
                <a:rPr lang="en-US" b="true" sz="5000" spc="769">
                  <a:solidFill>
                    <a:srgbClr val="FFFFFF"/>
                  </a:solidFill>
                  <a:latin typeface="Roboto Bold"/>
                  <a:ea typeface="Roboto Bold"/>
                  <a:cs typeface="Roboto Bold"/>
                  <a:sym typeface="Roboto Bold"/>
                </a:rPr>
                <a:t>TÀI LIỆU THAM KHẢO</a:t>
              </a:r>
            </a:p>
          </p:txBody>
        </p:sp>
      </p:grpSp>
      <p:sp>
        <p:nvSpPr>
          <p:cNvPr name="TextBox 7" id="7"/>
          <p:cNvSpPr txBox="true"/>
          <p:nvPr/>
        </p:nvSpPr>
        <p:spPr>
          <a:xfrm rot="0">
            <a:off x="838262" y="3238500"/>
            <a:ext cx="16611477" cy="3733800"/>
          </a:xfrm>
          <a:prstGeom prst="rect">
            <a:avLst/>
          </a:prstGeom>
        </p:spPr>
        <p:txBody>
          <a:bodyPr anchor="t" rtlCol="false" tIns="0" lIns="0" bIns="0" rIns="0">
            <a:spAutoFit/>
          </a:bodyPr>
          <a:lstStyle/>
          <a:p>
            <a:pPr algn="l" marL="647700" indent="-323850" lvl="1">
              <a:lnSpc>
                <a:spcPts val="4200"/>
              </a:lnSpc>
              <a:buAutoNum type="arabicPeriod" startAt="1"/>
            </a:pPr>
            <a:r>
              <a:rPr lang="en-US" sz="3000">
                <a:solidFill>
                  <a:srgbClr val="000000"/>
                </a:solidFill>
                <a:latin typeface="Roboto"/>
                <a:ea typeface="Roboto"/>
                <a:cs typeface="Roboto"/>
                <a:sym typeface="Roboto"/>
              </a:rPr>
              <a:t>Đ.</a:t>
            </a:r>
            <a:r>
              <a:rPr lang="en-US" sz="3000">
                <a:solidFill>
                  <a:srgbClr val="000000"/>
                </a:solidFill>
                <a:latin typeface="Roboto"/>
                <a:ea typeface="Roboto"/>
                <a:cs typeface="Roboto"/>
                <a:sym typeface="Roboto"/>
              </a:rPr>
              <a:t> H. Lan (2024). Chuyển đổi số y tế gia tăng lợi ích cho người dân trong bảo vệ và chăm sóc sức khỏe toàn</a:t>
            </a:r>
            <a:r>
              <a:rPr lang="en-US" sz="3000">
                <a:solidFill>
                  <a:srgbClr val="000000"/>
                </a:solidFill>
                <a:latin typeface="Roboto"/>
                <a:ea typeface="Roboto"/>
                <a:cs typeface="Roboto"/>
                <a:sym typeface="Roboto"/>
              </a:rPr>
              <a:t> diện.</a:t>
            </a:r>
          </a:p>
          <a:p>
            <a:pPr algn="l" marL="647700" indent="-323850" lvl="1">
              <a:lnSpc>
                <a:spcPts val="4200"/>
              </a:lnSpc>
              <a:buAutoNum type="arabicPeriod" startAt="1"/>
            </a:pPr>
            <a:r>
              <a:rPr lang="en-US" sz="3000">
                <a:solidFill>
                  <a:srgbClr val="000000"/>
                </a:solidFill>
                <a:latin typeface="Roboto"/>
                <a:ea typeface="Roboto"/>
                <a:cs typeface="Roboto"/>
                <a:sym typeface="Roboto"/>
              </a:rPr>
              <a:t>Bluetooth SIG Proprietary (2024). GATT Specification Supplement.</a:t>
            </a:r>
          </a:p>
          <a:p>
            <a:pPr algn="l" marL="647700" indent="-323850" lvl="1">
              <a:lnSpc>
                <a:spcPts val="4200"/>
              </a:lnSpc>
              <a:buAutoNum type="arabicPeriod" startAt="1"/>
            </a:pPr>
            <a:r>
              <a:rPr lang="en-US" sz="3000">
                <a:solidFill>
                  <a:srgbClr val="000000"/>
                </a:solidFill>
                <a:latin typeface="Roboto"/>
                <a:ea typeface="Roboto"/>
                <a:cs typeface="Roboto"/>
                <a:sym typeface="Roboto"/>
              </a:rPr>
              <a:t>EMQX Team. Mastering mqtt (2025): The ultimate beginner’s guide for 2025.</a:t>
            </a:r>
          </a:p>
          <a:p>
            <a:pPr algn="l" marL="647700" indent="-323850" lvl="1">
              <a:lnSpc>
                <a:spcPts val="4200"/>
              </a:lnSpc>
              <a:buAutoNum type="arabicPeriod" startAt="1"/>
            </a:pPr>
            <a:r>
              <a:rPr lang="en-US" sz="3000">
                <a:solidFill>
                  <a:srgbClr val="000000"/>
                </a:solidFill>
                <a:latin typeface="Roboto"/>
                <a:ea typeface="Roboto"/>
                <a:cs typeface="Roboto"/>
                <a:sym typeface="Roboto"/>
              </a:rPr>
              <a:t>ThingsBoard (2025). Thingsboard - open-source iot platform.</a:t>
            </a:r>
          </a:p>
          <a:p>
            <a:pPr algn="l" marL="647700" indent="-323850" lvl="1">
              <a:lnSpc>
                <a:spcPts val="4200"/>
              </a:lnSpc>
              <a:buAutoNum type="arabicPeriod" startAt="1"/>
            </a:pPr>
            <a:r>
              <a:rPr lang="en-US" sz="3000">
                <a:solidFill>
                  <a:srgbClr val="000000"/>
                </a:solidFill>
                <a:latin typeface="Roboto"/>
                <a:ea typeface="Roboto"/>
                <a:cs typeface="Roboto"/>
                <a:sym typeface="Roboto"/>
              </a:rPr>
              <a:t>ThingsBoard (2025). Thingsboard documentation.</a:t>
            </a:r>
          </a:p>
          <a:p>
            <a:pPr algn="l" marL="647700" indent="-323850" lvl="1">
              <a:lnSpc>
                <a:spcPts val="4200"/>
              </a:lnSpc>
              <a:buAutoNum type="arabicPeriod" startAt="1"/>
            </a:pPr>
            <a:r>
              <a:rPr lang="en-US" sz="3000">
                <a:solidFill>
                  <a:srgbClr val="000000"/>
                </a:solidFill>
                <a:latin typeface="Roboto"/>
                <a:ea typeface="Roboto"/>
                <a:cs typeface="Roboto"/>
                <a:sym typeface="Roboto"/>
              </a:rPr>
              <a:t>Physiopedia. Single Leg Stance Test</a:t>
            </a:r>
          </a:p>
        </p:txBody>
      </p:sp>
      <p:sp>
        <p:nvSpPr>
          <p:cNvPr name="TextBox 8" id="8"/>
          <p:cNvSpPr txBox="true"/>
          <p:nvPr/>
        </p:nvSpPr>
        <p:spPr>
          <a:xfrm rot="0">
            <a:off x="15936813"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81861"/>
                </a:solidFill>
                <a:latin typeface="Canva Sans"/>
                <a:ea typeface="Canva Sans"/>
                <a:cs typeface="Canva Sans"/>
                <a:sym typeface="Canva Sans"/>
              </a:rPr>
              <a:t>Page 36 of 37</a:t>
            </a:r>
          </a:p>
        </p:txBody>
      </p:sp>
    </p:spTree>
  </p:cSld>
  <p:clrMapOvr>
    <a:masterClrMapping/>
  </p:clrMapOvr>
  <p:transition spd="med">
    <p:push dir="l"/>
  </p:transition>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803887" y="785296"/>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57531" y="8583246"/>
            <a:ext cx="1796730" cy="1753563"/>
          </a:xfrm>
          <a:custGeom>
            <a:avLst/>
            <a:gdLst/>
            <a:ahLst/>
            <a:cxnLst/>
            <a:rect r="r" b="b" t="t" l="l"/>
            <a:pathLst>
              <a:path h="1753563" w="1796730">
                <a:moveTo>
                  <a:pt x="0" y="0"/>
                </a:moveTo>
                <a:lnTo>
                  <a:pt x="1796729" y="0"/>
                </a:lnTo>
                <a:lnTo>
                  <a:pt x="1796729" y="1753563"/>
                </a:lnTo>
                <a:lnTo>
                  <a:pt x="0" y="17535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552053" y="4279264"/>
            <a:ext cx="1753563" cy="1796730"/>
          </a:xfrm>
          <a:custGeom>
            <a:avLst/>
            <a:gdLst/>
            <a:ahLst/>
            <a:cxnLst/>
            <a:rect r="r" b="b" t="t" l="l"/>
            <a:pathLst>
              <a:path h="1796730" w="1753563">
                <a:moveTo>
                  <a:pt x="0" y="0"/>
                </a:moveTo>
                <a:lnTo>
                  <a:pt x="1753563" y="0"/>
                </a:lnTo>
                <a:lnTo>
                  <a:pt x="1753563" y="1796731"/>
                </a:lnTo>
                <a:lnTo>
                  <a:pt x="0" y="17967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5400000">
            <a:off x="-1246453" y="7268188"/>
            <a:ext cx="1753563" cy="898365"/>
            <a:chOff x="0" y="0"/>
            <a:chExt cx="2338084" cy="1197820"/>
          </a:xfrm>
        </p:grpSpPr>
        <p:sp>
          <p:nvSpPr>
            <p:cNvPr name="Freeform 6" id="6"/>
            <p:cNvSpPr/>
            <p:nvPr/>
          </p:nvSpPr>
          <p:spPr>
            <a:xfrm flipH="false" flipV="false" rot="0">
              <a:off x="0" y="0"/>
              <a:ext cx="2338070" cy="1197864"/>
            </a:xfrm>
            <a:custGeom>
              <a:avLst/>
              <a:gdLst/>
              <a:ahLst/>
              <a:cxnLst/>
              <a:rect r="r" b="b" t="t" l="l"/>
              <a:pathLst>
                <a:path h="1197864" w="2338070">
                  <a:moveTo>
                    <a:pt x="2338070" y="1197864"/>
                  </a:moveTo>
                  <a:lnTo>
                    <a:pt x="1169035" y="0"/>
                  </a:lnTo>
                  <a:lnTo>
                    <a:pt x="0" y="1197864"/>
                  </a:lnTo>
                  <a:close/>
                </a:path>
              </a:pathLst>
            </a:custGeom>
            <a:solidFill>
              <a:srgbClr val="264B9C"/>
            </a:solidFill>
          </p:spPr>
        </p:sp>
      </p:grpSp>
      <p:sp>
        <p:nvSpPr>
          <p:cNvPr name="Freeform 7" id="7"/>
          <p:cNvSpPr/>
          <p:nvPr/>
        </p:nvSpPr>
        <p:spPr>
          <a:xfrm flipH="false" flipV="false" rot="0">
            <a:off x="3521627" y="8580105"/>
            <a:ext cx="1796730" cy="1753563"/>
          </a:xfrm>
          <a:custGeom>
            <a:avLst/>
            <a:gdLst/>
            <a:ahLst/>
            <a:cxnLst/>
            <a:rect r="r" b="b" t="t" l="l"/>
            <a:pathLst>
              <a:path h="1753563" w="1796730">
                <a:moveTo>
                  <a:pt x="0" y="0"/>
                </a:moveTo>
                <a:lnTo>
                  <a:pt x="1796729" y="0"/>
                </a:lnTo>
                <a:lnTo>
                  <a:pt x="1796729" y="1753563"/>
                </a:lnTo>
                <a:lnTo>
                  <a:pt x="0" y="17535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5400000">
            <a:off x="-1239917" y="9010844"/>
            <a:ext cx="1753563" cy="898365"/>
            <a:chOff x="0" y="0"/>
            <a:chExt cx="2338084" cy="1197820"/>
          </a:xfrm>
        </p:grpSpPr>
        <p:sp>
          <p:nvSpPr>
            <p:cNvPr name="Freeform 9" id="9"/>
            <p:cNvSpPr/>
            <p:nvPr/>
          </p:nvSpPr>
          <p:spPr>
            <a:xfrm flipH="false" flipV="false" rot="0">
              <a:off x="0" y="0"/>
              <a:ext cx="2338070" cy="1197864"/>
            </a:xfrm>
            <a:custGeom>
              <a:avLst/>
              <a:gdLst/>
              <a:ahLst/>
              <a:cxnLst/>
              <a:rect r="r" b="b" t="t" l="l"/>
              <a:pathLst>
                <a:path h="1197864" w="2338070">
                  <a:moveTo>
                    <a:pt x="2338070" y="1197864"/>
                  </a:moveTo>
                  <a:lnTo>
                    <a:pt x="1169035" y="0"/>
                  </a:lnTo>
                  <a:lnTo>
                    <a:pt x="0" y="1197864"/>
                  </a:lnTo>
                  <a:close/>
                </a:path>
              </a:pathLst>
            </a:custGeom>
            <a:solidFill>
              <a:srgbClr val="0975A7"/>
            </a:solidFill>
          </p:spPr>
        </p:sp>
      </p:grpSp>
      <p:sp>
        <p:nvSpPr>
          <p:cNvPr name="Freeform 10" id="10"/>
          <p:cNvSpPr/>
          <p:nvPr/>
        </p:nvSpPr>
        <p:spPr>
          <a:xfrm flipH="false" flipV="false" rot="0">
            <a:off x="-818854" y="7678725"/>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5551" y="6801304"/>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36344" y="8554869"/>
            <a:ext cx="1753563" cy="1796730"/>
          </a:xfrm>
          <a:custGeom>
            <a:avLst/>
            <a:gdLst/>
            <a:ahLst/>
            <a:cxnLst/>
            <a:rect r="r" b="b" t="t" l="l"/>
            <a:pathLst>
              <a:path h="1796730" w="1753563">
                <a:moveTo>
                  <a:pt x="0" y="0"/>
                </a:moveTo>
                <a:lnTo>
                  <a:pt x="1753562" y="0"/>
                </a:lnTo>
                <a:lnTo>
                  <a:pt x="1753562" y="1796730"/>
                </a:lnTo>
                <a:lnTo>
                  <a:pt x="0" y="17967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880749" y="7692276"/>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872814" y="5942224"/>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778067" y="6808698"/>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6" id="16"/>
          <p:cNvGrpSpPr/>
          <p:nvPr/>
        </p:nvGrpSpPr>
        <p:grpSpPr>
          <a:xfrm rot="0">
            <a:off x="908870" y="9435303"/>
            <a:ext cx="1753563" cy="898365"/>
            <a:chOff x="0" y="0"/>
            <a:chExt cx="2338084" cy="1197820"/>
          </a:xfrm>
        </p:grpSpPr>
        <p:sp>
          <p:nvSpPr>
            <p:cNvPr name="Freeform 17" id="17"/>
            <p:cNvSpPr/>
            <p:nvPr/>
          </p:nvSpPr>
          <p:spPr>
            <a:xfrm flipH="false" flipV="false" rot="0">
              <a:off x="0" y="0"/>
              <a:ext cx="2338070" cy="1197864"/>
            </a:xfrm>
            <a:custGeom>
              <a:avLst/>
              <a:gdLst/>
              <a:ahLst/>
              <a:cxnLst/>
              <a:rect r="r" b="b" t="t" l="l"/>
              <a:pathLst>
                <a:path h="1197864" w="2338070">
                  <a:moveTo>
                    <a:pt x="0" y="1197864"/>
                  </a:moveTo>
                  <a:lnTo>
                    <a:pt x="1169035" y="0"/>
                  </a:lnTo>
                  <a:lnTo>
                    <a:pt x="2338070" y="1197864"/>
                  </a:lnTo>
                  <a:close/>
                </a:path>
              </a:pathLst>
            </a:custGeom>
            <a:solidFill>
              <a:srgbClr val="01135B"/>
            </a:solidFill>
          </p:spPr>
        </p:sp>
      </p:grpSp>
      <p:grpSp>
        <p:nvGrpSpPr>
          <p:cNvPr name="Group 18" id="18"/>
          <p:cNvGrpSpPr/>
          <p:nvPr/>
        </p:nvGrpSpPr>
        <p:grpSpPr>
          <a:xfrm rot="0">
            <a:off x="-841226" y="9435717"/>
            <a:ext cx="1753563" cy="898365"/>
            <a:chOff x="0" y="0"/>
            <a:chExt cx="2338084" cy="1197820"/>
          </a:xfrm>
        </p:grpSpPr>
        <p:sp>
          <p:nvSpPr>
            <p:cNvPr name="Freeform 19" id="19"/>
            <p:cNvSpPr/>
            <p:nvPr/>
          </p:nvSpPr>
          <p:spPr>
            <a:xfrm flipH="false" flipV="false" rot="0">
              <a:off x="0" y="0"/>
              <a:ext cx="2338070" cy="1197864"/>
            </a:xfrm>
            <a:custGeom>
              <a:avLst/>
              <a:gdLst/>
              <a:ahLst/>
              <a:cxnLst/>
              <a:rect r="r" b="b" t="t" l="l"/>
              <a:pathLst>
                <a:path h="1197864" w="2338070">
                  <a:moveTo>
                    <a:pt x="0" y="1197864"/>
                  </a:moveTo>
                  <a:lnTo>
                    <a:pt x="1169035" y="0"/>
                  </a:lnTo>
                  <a:lnTo>
                    <a:pt x="2338070" y="1197864"/>
                  </a:lnTo>
                  <a:close/>
                </a:path>
              </a:pathLst>
            </a:custGeom>
            <a:solidFill>
              <a:srgbClr val="289DC0"/>
            </a:solidFill>
          </p:spPr>
        </p:sp>
      </p:grpSp>
      <p:grpSp>
        <p:nvGrpSpPr>
          <p:cNvPr name="Group 20" id="20"/>
          <p:cNvGrpSpPr/>
          <p:nvPr/>
        </p:nvGrpSpPr>
        <p:grpSpPr>
          <a:xfrm rot="0">
            <a:off x="2667476" y="9435303"/>
            <a:ext cx="1753563" cy="898365"/>
            <a:chOff x="0" y="0"/>
            <a:chExt cx="2338084" cy="1197820"/>
          </a:xfrm>
        </p:grpSpPr>
        <p:sp>
          <p:nvSpPr>
            <p:cNvPr name="Freeform 21" id="21"/>
            <p:cNvSpPr/>
            <p:nvPr/>
          </p:nvSpPr>
          <p:spPr>
            <a:xfrm flipH="false" flipV="false" rot="0">
              <a:off x="0" y="0"/>
              <a:ext cx="2338070" cy="1197864"/>
            </a:xfrm>
            <a:custGeom>
              <a:avLst/>
              <a:gdLst/>
              <a:ahLst/>
              <a:cxnLst/>
              <a:rect r="r" b="b" t="t" l="l"/>
              <a:pathLst>
                <a:path h="1197864" w="2338070">
                  <a:moveTo>
                    <a:pt x="0" y="1197864"/>
                  </a:moveTo>
                  <a:lnTo>
                    <a:pt x="1169035" y="0"/>
                  </a:lnTo>
                  <a:lnTo>
                    <a:pt x="2338070" y="1197864"/>
                  </a:lnTo>
                  <a:close/>
                </a:path>
              </a:pathLst>
            </a:custGeom>
            <a:solidFill>
              <a:srgbClr val="0868A0"/>
            </a:solidFill>
          </p:spPr>
        </p:sp>
      </p:grpSp>
      <p:grpSp>
        <p:nvGrpSpPr>
          <p:cNvPr name="Group 22" id="22"/>
          <p:cNvGrpSpPr/>
          <p:nvPr/>
        </p:nvGrpSpPr>
        <p:grpSpPr>
          <a:xfrm rot="0">
            <a:off x="4425254" y="9432162"/>
            <a:ext cx="1753563" cy="898365"/>
            <a:chOff x="0" y="0"/>
            <a:chExt cx="2338084" cy="1197820"/>
          </a:xfrm>
        </p:grpSpPr>
        <p:sp>
          <p:nvSpPr>
            <p:cNvPr name="Freeform 23" id="23"/>
            <p:cNvSpPr/>
            <p:nvPr/>
          </p:nvSpPr>
          <p:spPr>
            <a:xfrm flipH="false" flipV="false" rot="0">
              <a:off x="0" y="0"/>
              <a:ext cx="2338070" cy="1197864"/>
            </a:xfrm>
            <a:custGeom>
              <a:avLst/>
              <a:gdLst/>
              <a:ahLst/>
              <a:cxnLst/>
              <a:rect r="r" b="b" t="t" l="l"/>
              <a:pathLst>
                <a:path h="1197864" w="2338070">
                  <a:moveTo>
                    <a:pt x="0" y="1197864"/>
                  </a:moveTo>
                  <a:lnTo>
                    <a:pt x="1169035" y="0"/>
                  </a:lnTo>
                  <a:lnTo>
                    <a:pt x="2338070" y="1197864"/>
                  </a:lnTo>
                  <a:close/>
                </a:path>
              </a:pathLst>
            </a:custGeom>
            <a:solidFill>
              <a:srgbClr val="289DC0"/>
            </a:solidFill>
          </p:spPr>
        </p:sp>
      </p:grpSp>
      <p:sp>
        <p:nvSpPr>
          <p:cNvPr name="Freeform 24" id="24"/>
          <p:cNvSpPr/>
          <p:nvPr/>
        </p:nvSpPr>
        <p:spPr>
          <a:xfrm flipH="false" flipV="false" rot="0">
            <a:off x="-884393" y="4195477"/>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5" id="25"/>
          <p:cNvSpPr/>
          <p:nvPr/>
        </p:nvSpPr>
        <p:spPr>
          <a:xfrm flipH="false" flipV="false" rot="0">
            <a:off x="13972" y="3311301"/>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26" id="26"/>
          <p:cNvGrpSpPr/>
          <p:nvPr/>
        </p:nvGrpSpPr>
        <p:grpSpPr>
          <a:xfrm rot="5400000">
            <a:off x="17812479" y="1213370"/>
            <a:ext cx="1753563" cy="898365"/>
            <a:chOff x="0" y="0"/>
            <a:chExt cx="2338084" cy="1197820"/>
          </a:xfrm>
        </p:grpSpPr>
        <p:sp>
          <p:nvSpPr>
            <p:cNvPr name="Freeform 27" id="27"/>
            <p:cNvSpPr/>
            <p:nvPr/>
          </p:nvSpPr>
          <p:spPr>
            <a:xfrm flipH="false" flipV="false" rot="0">
              <a:off x="0" y="0"/>
              <a:ext cx="2338070" cy="1197864"/>
            </a:xfrm>
            <a:custGeom>
              <a:avLst/>
              <a:gdLst/>
              <a:ahLst/>
              <a:cxnLst/>
              <a:rect r="r" b="b" t="t" l="l"/>
              <a:pathLst>
                <a:path h="1197864" w="2338070">
                  <a:moveTo>
                    <a:pt x="0" y="0"/>
                  </a:moveTo>
                  <a:lnTo>
                    <a:pt x="1169035" y="1197864"/>
                  </a:lnTo>
                  <a:lnTo>
                    <a:pt x="2338070" y="0"/>
                  </a:lnTo>
                  <a:close/>
                </a:path>
              </a:pathLst>
            </a:custGeom>
            <a:solidFill>
              <a:srgbClr val="264B9C"/>
            </a:solidFill>
          </p:spPr>
        </p:sp>
      </p:grpSp>
      <p:sp>
        <p:nvSpPr>
          <p:cNvPr name="Freeform 28" id="28"/>
          <p:cNvSpPr/>
          <p:nvPr/>
        </p:nvSpPr>
        <p:spPr>
          <a:xfrm flipH="false" flipV="false" rot="0">
            <a:off x="13001232" y="-953745"/>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29" id="29"/>
          <p:cNvGrpSpPr/>
          <p:nvPr/>
        </p:nvGrpSpPr>
        <p:grpSpPr>
          <a:xfrm rot="5400000">
            <a:off x="17805942" y="-529285"/>
            <a:ext cx="1753563" cy="898365"/>
            <a:chOff x="0" y="0"/>
            <a:chExt cx="2338084" cy="1197820"/>
          </a:xfrm>
        </p:grpSpPr>
        <p:sp>
          <p:nvSpPr>
            <p:cNvPr name="Freeform 30" id="30"/>
            <p:cNvSpPr/>
            <p:nvPr/>
          </p:nvSpPr>
          <p:spPr>
            <a:xfrm flipH="false" flipV="false" rot="0">
              <a:off x="0" y="0"/>
              <a:ext cx="2338070" cy="1197864"/>
            </a:xfrm>
            <a:custGeom>
              <a:avLst/>
              <a:gdLst/>
              <a:ahLst/>
              <a:cxnLst/>
              <a:rect r="r" b="b" t="t" l="l"/>
              <a:pathLst>
                <a:path h="1197864" w="2338070">
                  <a:moveTo>
                    <a:pt x="0" y="0"/>
                  </a:moveTo>
                  <a:lnTo>
                    <a:pt x="1169035" y="1197864"/>
                  </a:lnTo>
                  <a:lnTo>
                    <a:pt x="2338070" y="0"/>
                  </a:lnTo>
                  <a:close/>
                </a:path>
              </a:pathLst>
            </a:custGeom>
            <a:solidFill>
              <a:srgbClr val="0975A7"/>
            </a:solidFill>
          </p:spPr>
        </p:sp>
      </p:grpSp>
      <p:sp>
        <p:nvSpPr>
          <p:cNvPr name="Freeform 31" id="31"/>
          <p:cNvSpPr/>
          <p:nvPr/>
        </p:nvSpPr>
        <p:spPr>
          <a:xfrm flipH="false" flipV="false" rot="0">
            <a:off x="17384880" y="-95532"/>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2" id="32"/>
          <p:cNvSpPr/>
          <p:nvPr/>
        </p:nvSpPr>
        <p:spPr>
          <a:xfrm flipH="false" flipV="false" rot="0">
            <a:off x="16540474" y="781888"/>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33" id="33"/>
          <p:cNvSpPr/>
          <p:nvPr/>
        </p:nvSpPr>
        <p:spPr>
          <a:xfrm flipH="false" flipV="false" rot="0">
            <a:off x="16529682" y="-971676"/>
            <a:ext cx="1753563" cy="1796730"/>
          </a:xfrm>
          <a:custGeom>
            <a:avLst/>
            <a:gdLst/>
            <a:ahLst/>
            <a:cxnLst/>
            <a:rect r="r" b="b" t="t" l="l"/>
            <a:pathLst>
              <a:path h="1796730" w="1753563">
                <a:moveTo>
                  <a:pt x="0" y="0"/>
                </a:moveTo>
                <a:lnTo>
                  <a:pt x="1753563" y="0"/>
                </a:lnTo>
                <a:lnTo>
                  <a:pt x="1753563" y="1796730"/>
                </a:lnTo>
                <a:lnTo>
                  <a:pt x="0" y="1796730"/>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4" id="34"/>
          <p:cNvSpPr/>
          <p:nvPr/>
        </p:nvSpPr>
        <p:spPr>
          <a:xfrm flipH="false" flipV="false" rot="0">
            <a:off x="15642110" y="-65916"/>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5" id="35"/>
          <p:cNvSpPr/>
          <p:nvPr/>
        </p:nvSpPr>
        <p:spPr>
          <a:xfrm flipH="false" flipV="false" rot="0">
            <a:off x="17395672" y="1684136"/>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36" id="36"/>
          <p:cNvSpPr/>
          <p:nvPr/>
        </p:nvSpPr>
        <p:spPr>
          <a:xfrm flipH="false" flipV="false" rot="0">
            <a:off x="14765328" y="-956886"/>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grpSp>
        <p:nvGrpSpPr>
          <p:cNvPr name="Group 37" id="37"/>
          <p:cNvGrpSpPr/>
          <p:nvPr/>
        </p:nvGrpSpPr>
        <p:grpSpPr>
          <a:xfrm rot="0">
            <a:off x="15657156" y="-953745"/>
            <a:ext cx="1753563" cy="898365"/>
            <a:chOff x="0" y="0"/>
            <a:chExt cx="2338084" cy="1197820"/>
          </a:xfrm>
        </p:grpSpPr>
        <p:sp>
          <p:nvSpPr>
            <p:cNvPr name="Freeform 38" id="38"/>
            <p:cNvSpPr/>
            <p:nvPr/>
          </p:nvSpPr>
          <p:spPr>
            <a:xfrm flipH="false" flipV="false" rot="0">
              <a:off x="0" y="0"/>
              <a:ext cx="2338070" cy="1197864"/>
            </a:xfrm>
            <a:custGeom>
              <a:avLst/>
              <a:gdLst/>
              <a:ahLst/>
              <a:cxnLst/>
              <a:rect r="r" b="b" t="t" l="l"/>
              <a:pathLst>
                <a:path h="1197864" w="2338070">
                  <a:moveTo>
                    <a:pt x="2338070" y="0"/>
                  </a:moveTo>
                  <a:lnTo>
                    <a:pt x="1169035" y="1197864"/>
                  </a:lnTo>
                  <a:lnTo>
                    <a:pt x="0" y="0"/>
                  </a:lnTo>
                  <a:close/>
                </a:path>
              </a:pathLst>
            </a:custGeom>
            <a:solidFill>
              <a:srgbClr val="01135B"/>
            </a:solidFill>
          </p:spPr>
        </p:sp>
      </p:grpSp>
      <p:grpSp>
        <p:nvGrpSpPr>
          <p:cNvPr name="Group 39" id="39"/>
          <p:cNvGrpSpPr/>
          <p:nvPr/>
        </p:nvGrpSpPr>
        <p:grpSpPr>
          <a:xfrm rot="0">
            <a:off x="17407251" y="-954159"/>
            <a:ext cx="1753563" cy="898365"/>
            <a:chOff x="0" y="0"/>
            <a:chExt cx="2338084" cy="1197820"/>
          </a:xfrm>
        </p:grpSpPr>
        <p:sp>
          <p:nvSpPr>
            <p:cNvPr name="Freeform 40" id="40"/>
            <p:cNvSpPr/>
            <p:nvPr/>
          </p:nvSpPr>
          <p:spPr>
            <a:xfrm flipH="false" flipV="false" rot="0">
              <a:off x="0" y="0"/>
              <a:ext cx="2338070" cy="1197864"/>
            </a:xfrm>
            <a:custGeom>
              <a:avLst/>
              <a:gdLst/>
              <a:ahLst/>
              <a:cxnLst/>
              <a:rect r="r" b="b" t="t" l="l"/>
              <a:pathLst>
                <a:path h="1197864" w="2338070">
                  <a:moveTo>
                    <a:pt x="2338070" y="0"/>
                  </a:moveTo>
                  <a:lnTo>
                    <a:pt x="1169035" y="1197864"/>
                  </a:lnTo>
                  <a:lnTo>
                    <a:pt x="0" y="0"/>
                  </a:lnTo>
                  <a:close/>
                </a:path>
              </a:pathLst>
            </a:custGeom>
            <a:solidFill>
              <a:srgbClr val="289DC0"/>
            </a:solidFill>
          </p:spPr>
        </p:sp>
      </p:grpSp>
      <p:grpSp>
        <p:nvGrpSpPr>
          <p:cNvPr name="Group 41" id="41"/>
          <p:cNvGrpSpPr/>
          <p:nvPr/>
        </p:nvGrpSpPr>
        <p:grpSpPr>
          <a:xfrm rot="0">
            <a:off x="13898550" y="-953745"/>
            <a:ext cx="1753563" cy="898365"/>
            <a:chOff x="0" y="0"/>
            <a:chExt cx="2338084" cy="1197820"/>
          </a:xfrm>
        </p:grpSpPr>
        <p:sp>
          <p:nvSpPr>
            <p:cNvPr name="Freeform 42" id="42"/>
            <p:cNvSpPr/>
            <p:nvPr/>
          </p:nvSpPr>
          <p:spPr>
            <a:xfrm flipH="false" flipV="false" rot="0">
              <a:off x="0" y="0"/>
              <a:ext cx="2338070" cy="1197864"/>
            </a:xfrm>
            <a:custGeom>
              <a:avLst/>
              <a:gdLst/>
              <a:ahLst/>
              <a:cxnLst/>
              <a:rect r="r" b="b" t="t" l="l"/>
              <a:pathLst>
                <a:path h="1197864" w="2338070">
                  <a:moveTo>
                    <a:pt x="2338070" y="0"/>
                  </a:moveTo>
                  <a:lnTo>
                    <a:pt x="1169035" y="1197864"/>
                  </a:lnTo>
                  <a:lnTo>
                    <a:pt x="0" y="0"/>
                  </a:lnTo>
                  <a:close/>
                </a:path>
              </a:pathLst>
            </a:custGeom>
            <a:solidFill>
              <a:srgbClr val="0868A0"/>
            </a:solidFill>
          </p:spPr>
        </p:sp>
      </p:grpSp>
      <p:grpSp>
        <p:nvGrpSpPr>
          <p:cNvPr name="Group 43" id="43"/>
          <p:cNvGrpSpPr/>
          <p:nvPr/>
        </p:nvGrpSpPr>
        <p:grpSpPr>
          <a:xfrm rot="0">
            <a:off x="12140772" y="-950604"/>
            <a:ext cx="1753563" cy="898365"/>
            <a:chOff x="0" y="0"/>
            <a:chExt cx="2338084" cy="1197820"/>
          </a:xfrm>
        </p:grpSpPr>
        <p:sp>
          <p:nvSpPr>
            <p:cNvPr name="Freeform 44" id="44"/>
            <p:cNvSpPr/>
            <p:nvPr/>
          </p:nvSpPr>
          <p:spPr>
            <a:xfrm flipH="false" flipV="false" rot="0">
              <a:off x="0" y="0"/>
              <a:ext cx="2338070" cy="1197864"/>
            </a:xfrm>
            <a:custGeom>
              <a:avLst/>
              <a:gdLst/>
              <a:ahLst/>
              <a:cxnLst/>
              <a:rect r="r" b="b" t="t" l="l"/>
              <a:pathLst>
                <a:path h="1197864" w="2338070">
                  <a:moveTo>
                    <a:pt x="2338070" y="0"/>
                  </a:moveTo>
                  <a:lnTo>
                    <a:pt x="1169035" y="1197864"/>
                  </a:lnTo>
                  <a:lnTo>
                    <a:pt x="0" y="0"/>
                  </a:lnTo>
                  <a:close/>
                </a:path>
              </a:pathLst>
            </a:custGeom>
            <a:solidFill>
              <a:srgbClr val="289DC0"/>
            </a:solidFill>
          </p:spPr>
        </p:sp>
      </p:grpSp>
      <p:sp>
        <p:nvSpPr>
          <p:cNvPr name="Freeform 45" id="45"/>
          <p:cNvSpPr/>
          <p:nvPr/>
        </p:nvSpPr>
        <p:spPr>
          <a:xfrm flipH="false" flipV="false" rot="0">
            <a:off x="17407251" y="3430883"/>
            <a:ext cx="1796730" cy="1753563"/>
          </a:xfrm>
          <a:custGeom>
            <a:avLst/>
            <a:gdLst/>
            <a:ahLst/>
            <a:cxnLst/>
            <a:rect r="r" b="b" t="t" l="l"/>
            <a:pathLst>
              <a:path h="1753563" w="1796730">
                <a:moveTo>
                  <a:pt x="0" y="0"/>
                </a:moveTo>
                <a:lnTo>
                  <a:pt x="1796730" y="0"/>
                </a:lnTo>
                <a:lnTo>
                  <a:pt x="1796730" y="1753563"/>
                </a:lnTo>
                <a:lnTo>
                  <a:pt x="0" y="1753563"/>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grpSp>
        <p:nvGrpSpPr>
          <p:cNvPr name="Group 46" id="46"/>
          <p:cNvGrpSpPr/>
          <p:nvPr/>
        </p:nvGrpSpPr>
        <p:grpSpPr>
          <a:xfrm rot="-5400000">
            <a:off x="16081287" y="2988633"/>
            <a:ext cx="1753563" cy="898365"/>
            <a:chOff x="0" y="0"/>
            <a:chExt cx="2338084" cy="1197820"/>
          </a:xfrm>
        </p:grpSpPr>
        <p:sp>
          <p:nvSpPr>
            <p:cNvPr name="Freeform 47" id="47"/>
            <p:cNvSpPr/>
            <p:nvPr/>
          </p:nvSpPr>
          <p:spPr>
            <a:xfrm flipH="false" flipV="false" rot="0">
              <a:off x="0" y="0"/>
              <a:ext cx="2338070" cy="1197864"/>
            </a:xfrm>
            <a:custGeom>
              <a:avLst/>
              <a:gdLst/>
              <a:ahLst/>
              <a:cxnLst/>
              <a:rect r="r" b="b" t="t" l="l"/>
              <a:pathLst>
                <a:path h="1197864" w="2338070">
                  <a:moveTo>
                    <a:pt x="0" y="1197864"/>
                  </a:moveTo>
                  <a:lnTo>
                    <a:pt x="1169035" y="0"/>
                  </a:lnTo>
                  <a:lnTo>
                    <a:pt x="2338070" y="1197864"/>
                  </a:lnTo>
                  <a:close/>
                </a:path>
              </a:pathLst>
            </a:custGeom>
            <a:solidFill>
              <a:srgbClr val="299DC0"/>
            </a:solidFill>
          </p:spPr>
        </p:sp>
      </p:grpSp>
      <p:grpSp>
        <p:nvGrpSpPr>
          <p:cNvPr name="Group 48" id="48"/>
          <p:cNvGrpSpPr/>
          <p:nvPr/>
        </p:nvGrpSpPr>
        <p:grpSpPr>
          <a:xfrm rot="-5400000">
            <a:off x="16979652" y="2988633"/>
            <a:ext cx="1753563" cy="898365"/>
            <a:chOff x="0" y="0"/>
            <a:chExt cx="2338084" cy="1197820"/>
          </a:xfrm>
        </p:grpSpPr>
        <p:sp>
          <p:nvSpPr>
            <p:cNvPr name="Freeform 49" id="49"/>
            <p:cNvSpPr/>
            <p:nvPr/>
          </p:nvSpPr>
          <p:spPr>
            <a:xfrm flipH="false" flipV="false" rot="0">
              <a:off x="0" y="0"/>
              <a:ext cx="2338070" cy="1197864"/>
            </a:xfrm>
            <a:custGeom>
              <a:avLst/>
              <a:gdLst/>
              <a:ahLst/>
              <a:cxnLst/>
              <a:rect r="r" b="b" t="t" l="l"/>
              <a:pathLst>
                <a:path h="1197864" w="2338070">
                  <a:moveTo>
                    <a:pt x="0" y="0"/>
                  </a:moveTo>
                  <a:lnTo>
                    <a:pt x="1169035" y="1197864"/>
                  </a:lnTo>
                  <a:lnTo>
                    <a:pt x="2338070" y="0"/>
                  </a:lnTo>
                  <a:close/>
                </a:path>
              </a:pathLst>
            </a:custGeom>
            <a:solidFill>
              <a:srgbClr val="89C4DD"/>
            </a:solidFill>
          </p:spPr>
        </p:sp>
      </p:grpSp>
      <p:sp>
        <p:nvSpPr>
          <p:cNvPr name="TextBox 50" id="50"/>
          <p:cNvSpPr txBox="true"/>
          <p:nvPr/>
        </p:nvSpPr>
        <p:spPr>
          <a:xfrm rot="0">
            <a:off x="3788605" y="3559914"/>
            <a:ext cx="10710789" cy="2990850"/>
          </a:xfrm>
          <a:prstGeom prst="rect">
            <a:avLst/>
          </a:prstGeom>
        </p:spPr>
        <p:txBody>
          <a:bodyPr anchor="t" rtlCol="false" tIns="0" lIns="0" bIns="0" rIns="0">
            <a:spAutoFit/>
          </a:bodyPr>
          <a:lstStyle/>
          <a:p>
            <a:pPr algn="ctr">
              <a:lnSpc>
                <a:spcPts val="7800"/>
              </a:lnSpc>
            </a:pPr>
            <a:r>
              <a:rPr lang="en-US" sz="6500" b="true">
                <a:solidFill>
                  <a:srgbClr val="081861"/>
                </a:solidFill>
                <a:latin typeface="Roboto Bold"/>
                <a:ea typeface="Roboto Bold"/>
                <a:cs typeface="Roboto Bold"/>
                <a:sym typeface="Roboto Bold"/>
              </a:rPr>
              <a:t>XIN CHÂN THÀNH CẢM ƠN CÁC THẦY VÀ CÁC BẠN ĐÃ LẮNG NGHE</a:t>
            </a:r>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DAG2Ylr98v8</dc:identifier>
  <dcterms:modified xsi:type="dcterms:W3CDTF">2011-08-01T06:04:30Z</dcterms:modified>
  <cp:revision>1</cp:revision>
  <dc:title>Luận văn Thạc sĩ - HK251</dc:title>
</cp:coreProperties>
</file>